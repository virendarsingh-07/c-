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media/image1.png" ContentType="image/png"/>
  <Override PartName="/ppt/media/image33.png" ContentType="image/png"/>
  <Override PartName="/ppt/media/image6.png" ContentType="image/png"/>
  <Override PartName="/ppt/media/image38.png" ContentType="image/png"/>
  <Override PartName="/ppt/media/image36.png" ContentType="image/png"/>
  <Override PartName="/ppt/media/image5.png" ContentType="image/png"/>
  <Override PartName="/ppt/media/image37.png" ContentType="image/png"/>
  <Override PartName="/ppt/media/image39.png" ContentType="image/png"/>
  <Override PartName="/ppt/media/image3.jpeg" ContentType="image/jpeg"/>
  <Override PartName="/ppt/media/image28.png" ContentType="image/png"/>
  <Override PartName="/ppt/media/image16.png" ContentType="image/png"/>
  <Override PartName="/ppt/media/image9.png" ContentType="image/png"/>
  <Override PartName="/ppt/media/image21.png" ContentType="image/png"/>
  <Override PartName="/ppt/media/image17.png" ContentType="image/png"/>
  <Override PartName="/ppt/media/image11.png" ContentType="image/png"/>
  <Override PartName="/ppt/media/image4.png" ContentType="image/png"/>
  <Override PartName="/ppt/media/image12.jpeg" ContentType="image/jpeg"/>
  <Override PartName="/ppt/media/image14.png" ContentType="image/png"/>
  <Override PartName="/ppt/media/image7.png" ContentType="image/png"/>
  <Override PartName="/ppt/media/image34.png" ContentType="image/png"/>
  <Override PartName="/ppt/media/image20.png" ContentType="image/png"/>
  <Override PartName="/ppt/media/image8.png" ContentType="image/png"/>
  <Override PartName="/ppt/media/image15.png" ContentType="image/png"/>
  <Override PartName="/ppt/media/image23.png" ContentType="image/png"/>
  <Override PartName="/ppt/media/image24.png" ContentType="image/png"/>
  <Override PartName="/ppt/media/image13.jpeg" ContentType="image/jpeg"/>
  <Override PartName="/ppt/media/image25.png" ContentType="image/png"/>
  <Override PartName="/ppt/media/image26.png" ContentType="image/png"/>
  <Override PartName="/ppt/media/image29.png" ContentType="image/png"/>
  <Override PartName="/ppt/media/image43.jpeg" ContentType="image/jpeg"/>
  <Override PartName="/ppt/media/image30.png" ContentType="image/png"/>
  <Override PartName="/ppt/media/image22.png" ContentType="image/png"/>
  <Override PartName="/ppt/media/image31.png" ContentType="image/png"/>
  <Override PartName="/ppt/media/image32.png" ContentType="image/png"/>
  <Override PartName="/ppt/media/image44.jpeg" ContentType="image/jpeg"/>
  <Override PartName="/ppt/media/image35.png" ContentType="image/png"/>
  <Override PartName="/ppt/media/image40.jpeg" ContentType="image/jpeg"/>
  <Override PartName="/ppt/media/image59.png" ContentType="image/png"/>
  <Override PartName="/ppt/media/image55.png" ContentType="image/png"/>
  <Override PartName="/ppt/media/image10.png" ContentType="image/png"/>
  <Override PartName="/ppt/media/image41.jpeg" ContentType="image/jpeg"/>
  <Override PartName="/ppt/media/image42.png" ContentType="image/png"/>
  <Override PartName="/ppt/media/image47.png" ContentType="image/png"/>
  <Override PartName="/ppt/media/image48.png" ContentType="image/png"/>
  <Override PartName="/ppt/media/image50.png" ContentType="image/png"/>
  <Override PartName="/ppt/media/image18.png" ContentType="image/png"/>
  <Override PartName="/ppt/media/image2.jpeg" ContentType="image/jpeg"/>
  <Override PartName="/ppt/media/image51.png" ContentType="image/png"/>
  <Override PartName="/ppt/media/image19.png" ContentType="image/png"/>
  <Override PartName="/ppt/media/image52.png" ContentType="image/png"/>
  <Override PartName="/ppt/media/image53.png" ContentType="image/png"/>
  <Override PartName="/ppt/media/image56.png" ContentType="image/png"/>
  <Override PartName="/ppt/media/image58.png" ContentType="image/png"/>
  <Override PartName="/ppt/media/image62.jpeg" ContentType="image/jpeg"/>
  <Override PartName="/ppt/media/image57.png" ContentType="image/png"/>
  <Override PartName="/ppt/media/image46.png" ContentType="image/png"/>
  <Override PartName="/ppt/media/image61.png" ContentType="image/png"/>
  <Override PartName="/ppt/media/image63.jpeg" ContentType="image/jpeg"/>
  <Override PartName="/ppt/media/image54.png" ContentType="image/png"/>
  <Override PartName="/ppt/media/image45.png" ContentType="image/png"/>
  <Override PartName="/ppt/media/image27.png" ContentType="image/png"/>
  <Override PartName="/ppt/media/image60.png" ContentType="image/png"/>
  <Override PartName="/ppt/media/image49.png" ContentType="image/png"/>
  <Override PartName="/ppt/media/image64.jpeg" ContentType="image/jpeg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4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9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118180-005A-471F-9782-0E32E6DC17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F93180-9B7C-465D-8CC3-A20C769022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5B01049-9167-4568-B579-1340BA46F8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52F832-0B86-46A9-9DCF-EDAB33BC932B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Double-tap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/>
        </p:nvSpPr>
        <p:spPr>
          <a:xfrm>
            <a:off x="0" y="0"/>
            <a:ext cx="12176280" cy="6857640"/>
          </a:xfrm>
          <a:custGeom>
            <a:avLst/>
            <a:gdLst>
              <a:gd name="textAreaLeft" fmla="*/ 0 w 12176280"/>
              <a:gd name="textAreaRight" fmla="*/ 12176640 w 1217628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76760" h="6858000">
                <a:moveTo>
                  <a:pt x="0" y="6857999"/>
                </a:moveTo>
                <a:lnTo>
                  <a:pt x="12176759" y="6858000"/>
                </a:lnTo>
                <a:lnTo>
                  <a:pt x="1217676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1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" name="bg object 17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2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bg object 18"/>
          <p:cNvSpPr/>
          <p:nvPr/>
        </p:nvSpPr>
        <p:spPr>
          <a:xfrm>
            <a:off x="0" y="0"/>
            <a:ext cx="12191760" cy="566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66640"/>
              <a:gd name="textAreaBottom" fmla="*/ 567000 h 566640"/>
            </a:gdLst>
            <a:ahLst/>
            <a:rect l="textAreaLeft" t="textAreaTop" r="textAreaRight" b="textAreaBottom"/>
            <a:pathLst>
              <a:path w="12192000" h="567055">
                <a:moveTo>
                  <a:pt x="12192000" y="0"/>
                </a:moveTo>
                <a:lnTo>
                  <a:pt x="0" y="0"/>
                </a:lnTo>
                <a:lnTo>
                  <a:pt x="0" y="566927"/>
                </a:lnTo>
                <a:lnTo>
                  <a:pt x="12192000" y="5669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3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0320" y="118440"/>
            <a:ext cx="816084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Calibri"/>
              </a:rPr>
              <a:t>Double-tap to edit the title text format</a:t>
            </a:r>
            <a:endParaRPr b="0" lang="en-US" sz="15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Double-tap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Double-tap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D321AB-7B0E-4FCA-8206-BF1130342266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" name="bg object 17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2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bg object 18"/>
          <p:cNvSpPr/>
          <p:nvPr/>
        </p:nvSpPr>
        <p:spPr>
          <a:xfrm>
            <a:off x="0" y="0"/>
            <a:ext cx="12191760" cy="566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66640"/>
              <a:gd name="textAreaBottom" fmla="*/ 567000 h 566640"/>
            </a:gdLst>
            <a:ahLst/>
            <a:rect l="textAreaLeft" t="textAreaTop" r="textAreaRight" b="textAreaBottom"/>
            <a:pathLst>
              <a:path w="12192000" h="567055">
                <a:moveTo>
                  <a:pt x="12192000" y="0"/>
                </a:moveTo>
                <a:lnTo>
                  <a:pt x="0" y="0"/>
                </a:lnTo>
                <a:lnTo>
                  <a:pt x="0" y="566927"/>
                </a:lnTo>
                <a:lnTo>
                  <a:pt x="12192000" y="5669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3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90320" y="118440"/>
            <a:ext cx="8160840" cy="25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Calibri"/>
              </a:rPr>
              <a:t>Double-tap to edit the title text format</a:t>
            </a:r>
            <a:endParaRPr b="0" lang="en-US" sz="15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109724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Double-tap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22BAA1-09F8-489D-A9FA-3CD9170FE741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8.png"/><Relationship Id="rId11" Type="http://schemas.openxmlformats.org/officeDocument/2006/relationships/image" Target="../media/image10.png"/><Relationship Id="rId12" Type="http://schemas.openxmlformats.org/officeDocument/2006/relationships/image" Target="../media/image8.png"/><Relationship Id="rId13" Type="http://schemas.openxmlformats.org/officeDocument/2006/relationships/image" Target="../media/image11.png"/><Relationship Id="rId1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2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7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4.png"/><Relationship Id="rId21" Type="http://schemas.openxmlformats.org/officeDocument/2006/relationships/image" Target="../media/image34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11.png"/><Relationship Id="rId28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48.png"/><Relationship Id="rId6" Type="http://schemas.openxmlformats.org/officeDocument/2006/relationships/image" Target="../media/image47.png"/><Relationship Id="rId7" Type="http://schemas.openxmlformats.org/officeDocument/2006/relationships/image" Target="../media/image45.png"/><Relationship Id="rId8" Type="http://schemas.openxmlformats.org/officeDocument/2006/relationships/image" Target="../media/image49.png"/><Relationship Id="rId9" Type="http://schemas.openxmlformats.org/officeDocument/2006/relationships/image" Target="../media/image47.png"/><Relationship Id="rId10" Type="http://schemas.openxmlformats.org/officeDocument/2006/relationships/image" Target="../media/image45.png"/><Relationship Id="rId11" Type="http://schemas.openxmlformats.org/officeDocument/2006/relationships/image" Target="../media/image50.png"/><Relationship Id="rId12" Type="http://schemas.openxmlformats.org/officeDocument/2006/relationships/image" Target="../media/image47.png"/><Relationship Id="rId13" Type="http://schemas.openxmlformats.org/officeDocument/2006/relationships/image" Target="../media/image45.png"/><Relationship Id="rId14" Type="http://schemas.openxmlformats.org/officeDocument/2006/relationships/image" Target="../media/image51.png"/><Relationship Id="rId15" Type="http://schemas.openxmlformats.org/officeDocument/2006/relationships/image" Target="../media/image47.png"/><Relationship Id="rId16" Type="http://schemas.openxmlformats.org/officeDocument/2006/relationships/image" Target="../media/image45.png"/><Relationship Id="rId17" Type="http://schemas.openxmlformats.org/officeDocument/2006/relationships/image" Target="../media/image52.png"/><Relationship Id="rId18" Type="http://schemas.openxmlformats.org/officeDocument/2006/relationships/image" Target="../media/image47.png"/><Relationship Id="rId19" Type="http://schemas.openxmlformats.org/officeDocument/2006/relationships/image" Target="../media/image45.png"/><Relationship Id="rId20" Type="http://schemas.openxmlformats.org/officeDocument/2006/relationships/image" Target="../media/image53.png"/><Relationship Id="rId21" Type="http://schemas.openxmlformats.org/officeDocument/2006/relationships/image" Target="../media/image54.png"/><Relationship Id="rId22" Type="http://schemas.openxmlformats.org/officeDocument/2006/relationships/image" Target="../media/image5.png"/><Relationship Id="rId23" Type="http://schemas.openxmlformats.org/officeDocument/2006/relationships/image" Target="../media/image54.png"/><Relationship Id="rId24" Type="http://schemas.openxmlformats.org/officeDocument/2006/relationships/image" Target="../media/image5.png"/><Relationship Id="rId25" Type="http://schemas.openxmlformats.org/officeDocument/2006/relationships/image" Target="../media/image55.png"/><Relationship Id="rId26" Type="http://schemas.openxmlformats.org/officeDocument/2006/relationships/image" Target="../media/image5.png"/><Relationship Id="rId27" Type="http://schemas.openxmlformats.org/officeDocument/2006/relationships/image" Target="../media/image11.png"/><Relationship Id="rId28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11.png"/><Relationship Id="rId10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2.jpe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3.jpe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2" descr="slide-01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object 2" descr="slide-02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/>
          <p:cNvSpPr/>
          <p:nvPr/>
        </p:nvSpPr>
        <p:spPr>
          <a:xfrm>
            <a:off x="490320" y="118440"/>
            <a:ext cx="85118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SIMATS</a:t>
            </a:r>
            <a:r>
              <a:rPr b="1" lang="en-US" sz="1500" spc="-79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ENGINEERING</a:t>
            </a:r>
            <a:r>
              <a:rPr b="1" lang="en-US" sz="1500" spc="371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•</a:t>
            </a:r>
            <a:r>
              <a:rPr b="1" lang="en-US" sz="1500" spc="3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LOGISTICS</a:t>
            </a:r>
            <a:r>
              <a:rPr b="1" lang="en-US" sz="1500" spc="-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600" spc="-60" strike="noStrike" u="none">
                <a:solidFill>
                  <a:schemeClr val="lt1"/>
                </a:solidFill>
                <a:uFillTx/>
                <a:latin typeface="Trebuchet MS"/>
              </a:rPr>
              <a:t>A</a:t>
            </a:r>
            <a:r>
              <a:rPr b="1" lang="en-IN" sz="1600" strike="noStrike" u="none">
                <a:solidFill>
                  <a:schemeClr val="lt1"/>
                </a:solidFill>
                <a:uFillTx/>
                <a:latin typeface="Trebuchet MS"/>
              </a:rPr>
              <a:t>ND</a:t>
            </a:r>
            <a:r>
              <a:rPr b="1" lang="en-IN" sz="1500" spc="-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rgbClr val="ffffff"/>
                </a:solidFill>
                <a:uFillTx/>
                <a:latin typeface="Trebuchet MS"/>
              </a:rPr>
              <a:t>SUPPLY</a:t>
            </a:r>
            <a:r>
              <a:rPr b="1" lang="en-IN" sz="1500" spc="-51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pc="51" strike="noStrike" u="none">
                <a:solidFill>
                  <a:srgbClr val="ffffff"/>
                </a:solidFill>
                <a:uFillTx/>
                <a:latin typeface="Trebuchet MS"/>
              </a:rPr>
              <a:t>CHAIN</a:t>
            </a:r>
            <a:r>
              <a:rPr b="1" lang="en-IN" sz="1500" spc="-51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rgbClr val="ffffff"/>
                </a:solidFill>
                <a:uFillTx/>
                <a:latin typeface="Trebuchet MS"/>
              </a:rPr>
              <a:t>CARBON</a:t>
            </a:r>
            <a:r>
              <a:rPr b="1" lang="en-IN" sz="1500" spc="-45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pc="-31" strike="noStrike" u="none">
                <a:solidFill>
                  <a:srgbClr val="ffffff"/>
                </a:solidFill>
                <a:uFillTx/>
                <a:latin typeface="Trebuchet MS"/>
              </a:rPr>
              <a:t>FOOTPRINT</a:t>
            </a:r>
            <a:r>
              <a:rPr b="1" lang="en-IN" sz="1500" spc="-34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rgbClr val="ffffff"/>
                </a:solidFill>
                <a:uFillTx/>
                <a:latin typeface="Trebuchet MS"/>
              </a:rPr>
              <a:t>TRACKING</a:t>
            </a:r>
            <a:r>
              <a:rPr b="1" lang="en-IN" sz="1500" spc="-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pc="-11" strike="noStrike" u="none">
                <a:solidFill>
                  <a:srgbClr val="ffffff"/>
                </a:solidFill>
                <a:uFillTx/>
                <a:latin typeface="Trebuchet MS"/>
              </a:rPr>
              <a:t>SYSTEM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36040" y="1168560"/>
            <a:ext cx="7540920" cy="443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700" spc="-130" strike="noStrike" u="none">
                <a:solidFill>
                  <a:srgbClr val="173e6c"/>
                </a:solidFill>
                <a:uFillTx/>
                <a:latin typeface="Trebuchet MS"/>
              </a:rPr>
              <a:t>Problem</a:t>
            </a:r>
            <a:r>
              <a:rPr b="1" lang="en-US" sz="2700" spc="-269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700" spc="-136" strike="noStrike" u="none">
                <a:solidFill>
                  <a:srgbClr val="173e6c"/>
                </a:solidFill>
                <a:uFillTx/>
                <a:latin typeface="Trebuchet MS"/>
              </a:rPr>
              <a:t>Identification</a:t>
            </a:r>
            <a:r>
              <a:rPr b="1" lang="en-US" sz="2700" spc="-230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IN" sz="2800" strike="noStrike" u="none">
                <a:solidFill>
                  <a:schemeClr val="dk2">
                    <a:lumMod val="75000"/>
                  </a:schemeClr>
                </a:solidFill>
                <a:uFillTx/>
                <a:latin typeface="Trebuchet MS"/>
              </a:rPr>
              <a:t>and</a:t>
            </a:r>
            <a:r>
              <a:rPr b="1" lang="en-IN" sz="2700" spc="-249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IN" sz="2700" spc="-176" strike="noStrike" u="none">
                <a:solidFill>
                  <a:srgbClr val="173e6c"/>
                </a:solidFill>
                <a:uFillTx/>
                <a:latin typeface="Trebuchet MS"/>
              </a:rPr>
              <a:t>Project</a:t>
            </a:r>
            <a:r>
              <a:rPr b="1" lang="en-IN" sz="2700" spc="-249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IN" sz="2700" spc="-85" strike="noStrike" u="none">
                <a:solidFill>
                  <a:srgbClr val="173e6c"/>
                </a:solidFill>
                <a:uFillTx/>
                <a:latin typeface="Trebuchet MS"/>
              </a:rPr>
              <a:t>Objectives</a:t>
            </a:r>
            <a:endParaRPr b="0" lang="en-US" sz="27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32" name="object 4"/>
          <p:cNvGrpSpPr/>
          <p:nvPr/>
        </p:nvGrpSpPr>
        <p:grpSpPr>
          <a:xfrm>
            <a:off x="452520" y="1757160"/>
            <a:ext cx="5582160" cy="1922760"/>
            <a:chOff x="452520" y="1757160"/>
            <a:chExt cx="5582160" cy="1922760"/>
          </a:xfrm>
        </p:grpSpPr>
        <p:pic>
          <p:nvPicPr>
            <p:cNvPr id="33" name="object 5" descr=""/>
            <p:cNvPicPr/>
            <p:nvPr/>
          </p:nvPicPr>
          <p:blipFill>
            <a:blip r:embed="rId1"/>
            <a:stretch/>
          </p:blipFill>
          <p:spPr>
            <a:xfrm>
              <a:off x="452520" y="1757160"/>
              <a:ext cx="5582160" cy="19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object 6"/>
            <p:cNvSpPr/>
            <p:nvPr/>
          </p:nvSpPr>
          <p:spPr>
            <a:xfrm>
              <a:off x="502920" y="1783080"/>
              <a:ext cx="5486040" cy="182844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5486400" h="1828800">
                  <a:moveTo>
                    <a:pt x="5181600" y="0"/>
                  </a:moveTo>
                  <a:lnTo>
                    <a:pt x="304800" y="0"/>
                  </a:ln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89" y="1573425"/>
                  </a:lnTo>
                  <a:lnTo>
                    <a:pt x="15538" y="1620316"/>
                  </a:lnTo>
                  <a:lnTo>
                    <a:pt x="34020" y="1664046"/>
                  </a:lnTo>
                  <a:lnTo>
                    <a:pt x="58808" y="1703984"/>
                  </a:lnTo>
                  <a:lnTo>
                    <a:pt x="89273" y="1739503"/>
                  </a:lnTo>
                  <a:lnTo>
                    <a:pt x="124788" y="1769973"/>
                  </a:lnTo>
                  <a:lnTo>
                    <a:pt x="164725" y="1794767"/>
                  </a:lnTo>
                  <a:lnTo>
                    <a:pt x="208458" y="1813255"/>
                  </a:lnTo>
                  <a:lnTo>
                    <a:pt x="255359" y="1824809"/>
                  </a:lnTo>
                  <a:lnTo>
                    <a:pt x="304800" y="1828800"/>
                  </a:lnTo>
                  <a:lnTo>
                    <a:pt x="5181600" y="1828800"/>
                  </a:lnTo>
                  <a:lnTo>
                    <a:pt x="5231025" y="1824809"/>
                  </a:lnTo>
                  <a:lnTo>
                    <a:pt x="5277916" y="1813255"/>
                  </a:lnTo>
                  <a:lnTo>
                    <a:pt x="5321646" y="1794767"/>
                  </a:lnTo>
                  <a:lnTo>
                    <a:pt x="5361584" y="1769973"/>
                  </a:lnTo>
                  <a:lnTo>
                    <a:pt x="5397103" y="1739503"/>
                  </a:lnTo>
                  <a:lnTo>
                    <a:pt x="5427573" y="1703984"/>
                  </a:lnTo>
                  <a:lnTo>
                    <a:pt x="5452367" y="1664046"/>
                  </a:lnTo>
                  <a:lnTo>
                    <a:pt x="5470855" y="1620316"/>
                  </a:lnTo>
                  <a:lnTo>
                    <a:pt x="5482409" y="1573425"/>
                  </a:lnTo>
                  <a:lnTo>
                    <a:pt x="5486400" y="1524000"/>
                  </a:lnTo>
                  <a:lnTo>
                    <a:pt x="5486400" y="304800"/>
                  </a:lnTo>
                  <a:lnTo>
                    <a:pt x="5482409" y="255374"/>
                  </a:lnTo>
                  <a:lnTo>
                    <a:pt x="5470855" y="208483"/>
                  </a:lnTo>
                  <a:lnTo>
                    <a:pt x="5452367" y="164753"/>
                  </a:lnTo>
                  <a:lnTo>
                    <a:pt x="5427573" y="124815"/>
                  </a:lnTo>
                  <a:lnTo>
                    <a:pt x="5397103" y="89296"/>
                  </a:lnTo>
                  <a:lnTo>
                    <a:pt x="5361584" y="58826"/>
                  </a:lnTo>
                  <a:lnTo>
                    <a:pt x="5321646" y="34032"/>
                  </a:lnTo>
                  <a:lnTo>
                    <a:pt x="5277916" y="15544"/>
                  </a:lnTo>
                  <a:lnTo>
                    <a:pt x="5231025" y="3990"/>
                  </a:lnTo>
                  <a:lnTo>
                    <a:pt x="5181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5" name="object 7"/>
            <p:cNvSpPr/>
            <p:nvPr/>
          </p:nvSpPr>
          <p:spPr>
            <a:xfrm>
              <a:off x="502920" y="1783080"/>
              <a:ext cx="5486040" cy="1828440"/>
            </a:xfrm>
            <a:custGeom>
              <a:avLst/>
              <a:gdLst>
                <a:gd name="textAreaLeft" fmla="*/ 0 w 5486040"/>
                <a:gd name="textAreaRight" fmla="*/ 5486400 w 548604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5486400" h="18288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5181600" y="0"/>
                  </a:lnTo>
                  <a:lnTo>
                    <a:pt x="5231025" y="3990"/>
                  </a:lnTo>
                  <a:lnTo>
                    <a:pt x="5277916" y="15544"/>
                  </a:lnTo>
                  <a:lnTo>
                    <a:pt x="5321646" y="34032"/>
                  </a:lnTo>
                  <a:lnTo>
                    <a:pt x="5361584" y="58826"/>
                  </a:lnTo>
                  <a:lnTo>
                    <a:pt x="5397103" y="89296"/>
                  </a:lnTo>
                  <a:lnTo>
                    <a:pt x="5427573" y="124815"/>
                  </a:lnTo>
                  <a:lnTo>
                    <a:pt x="5452367" y="164753"/>
                  </a:lnTo>
                  <a:lnTo>
                    <a:pt x="5470855" y="208483"/>
                  </a:lnTo>
                  <a:lnTo>
                    <a:pt x="5482409" y="255374"/>
                  </a:lnTo>
                  <a:lnTo>
                    <a:pt x="5486400" y="304800"/>
                  </a:lnTo>
                  <a:lnTo>
                    <a:pt x="5486400" y="1524000"/>
                  </a:lnTo>
                  <a:lnTo>
                    <a:pt x="5482409" y="1573425"/>
                  </a:lnTo>
                  <a:lnTo>
                    <a:pt x="5470855" y="1620316"/>
                  </a:lnTo>
                  <a:lnTo>
                    <a:pt x="5452367" y="1664046"/>
                  </a:lnTo>
                  <a:lnTo>
                    <a:pt x="5427573" y="1703984"/>
                  </a:lnTo>
                  <a:lnTo>
                    <a:pt x="5397103" y="1739503"/>
                  </a:lnTo>
                  <a:lnTo>
                    <a:pt x="5361584" y="1769973"/>
                  </a:lnTo>
                  <a:lnTo>
                    <a:pt x="5321646" y="1794767"/>
                  </a:lnTo>
                  <a:lnTo>
                    <a:pt x="5277916" y="1813255"/>
                  </a:lnTo>
                  <a:lnTo>
                    <a:pt x="5231025" y="1824809"/>
                  </a:lnTo>
                  <a:lnTo>
                    <a:pt x="5181600" y="1828800"/>
                  </a:lnTo>
                  <a:lnTo>
                    <a:pt x="304800" y="1828800"/>
                  </a:lnTo>
                  <a:lnTo>
                    <a:pt x="255359" y="1824809"/>
                  </a:lnTo>
                  <a:lnTo>
                    <a:pt x="208458" y="1813255"/>
                  </a:lnTo>
                  <a:lnTo>
                    <a:pt x="164725" y="1794767"/>
                  </a:lnTo>
                  <a:lnTo>
                    <a:pt x="124788" y="1769973"/>
                  </a:lnTo>
                  <a:lnTo>
                    <a:pt x="89273" y="1739503"/>
                  </a:lnTo>
                  <a:lnTo>
                    <a:pt x="58808" y="1703984"/>
                  </a:lnTo>
                  <a:lnTo>
                    <a:pt x="34020" y="1664046"/>
                  </a:lnTo>
                  <a:lnTo>
                    <a:pt x="15538" y="1620316"/>
                  </a:lnTo>
                  <a:lnTo>
                    <a:pt x="3989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6" name="object 8"/>
          <p:cNvSpPr/>
          <p:nvPr/>
        </p:nvSpPr>
        <p:spPr>
          <a:xfrm>
            <a:off x="780840" y="2299680"/>
            <a:ext cx="494136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2480" algn="ctr">
              <a:lnSpc>
                <a:spcPct val="100000"/>
              </a:lnSpc>
              <a:spcBef>
                <a:spcPts val="99"/>
              </a:spcBef>
            </a:pPr>
            <a:r>
              <a:rPr b="1" lang="en-US" sz="1500" spc="-20" strike="noStrike" u="none">
                <a:solidFill>
                  <a:srgbClr val="173e6c"/>
                </a:solidFill>
                <a:uFillTx/>
                <a:latin typeface="Trebuchet MS"/>
              </a:rPr>
              <a:t>Problem</a:t>
            </a:r>
            <a:r>
              <a:rPr b="1" lang="en-US" sz="1500" spc="-10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11" strike="noStrike" u="none">
                <a:solidFill>
                  <a:srgbClr val="173e6c"/>
                </a:solidFill>
                <a:uFillTx/>
                <a:latin typeface="Trebuchet MS"/>
              </a:rPr>
              <a:t>statement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r>
              <a:rPr b="0" lang="en-US" sz="1200" spc="-40" strike="noStrike" u="none">
                <a:solidFill>
                  <a:srgbClr val="1c2837"/>
                </a:solidFill>
                <a:uFillTx/>
                <a:latin typeface="Tahoma"/>
              </a:rPr>
              <a:t>Freight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logistics</a:t>
            </a:r>
            <a:r>
              <a:rPr b="0" lang="en-US" sz="120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across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road,</a:t>
            </a:r>
            <a:r>
              <a:rPr b="0" lang="en-US" sz="12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rail,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sea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air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creates</a:t>
            </a:r>
            <a:r>
              <a:rPr b="0" lang="en-US" sz="12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transportation-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related 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CO₂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emissions.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0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source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presentation</a:t>
            </a:r>
            <a:r>
              <a:rPr b="0" lang="en-US" sz="120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identifies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limited</a:t>
            </a:r>
            <a:r>
              <a:rPr b="0" lang="en-US" sz="12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pre-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dispatch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carbon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visibility</a:t>
            </a:r>
            <a:r>
              <a:rPr b="0" lang="en-US" sz="12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as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central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gap.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7" name="object 9"/>
          <p:cNvGrpSpPr/>
          <p:nvPr/>
        </p:nvGrpSpPr>
        <p:grpSpPr>
          <a:xfrm>
            <a:off x="460080" y="1763280"/>
            <a:ext cx="162720" cy="1909080"/>
            <a:chOff x="460080" y="1763280"/>
            <a:chExt cx="162720" cy="1909080"/>
          </a:xfrm>
        </p:grpSpPr>
        <p:pic>
          <p:nvPicPr>
            <p:cNvPr id="38" name="object 10" descr=""/>
            <p:cNvPicPr/>
            <p:nvPr/>
          </p:nvPicPr>
          <p:blipFill>
            <a:blip r:embed="rId2"/>
            <a:stretch/>
          </p:blipFill>
          <p:spPr>
            <a:xfrm>
              <a:off x="460080" y="1763280"/>
              <a:ext cx="162720" cy="190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9" name="object 11"/>
            <p:cNvSpPr/>
            <p:nvPr/>
          </p:nvSpPr>
          <p:spPr>
            <a:xfrm>
              <a:off x="502920" y="1783080"/>
              <a:ext cx="82080" cy="182844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82550" h="1828800">
                  <a:moveTo>
                    <a:pt x="82295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82295" y="1828800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bd3d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40" name="object 12"/>
          <p:cNvGrpSpPr/>
          <p:nvPr/>
        </p:nvGrpSpPr>
        <p:grpSpPr>
          <a:xfrm>
            <a:off x="6167520" y="1757160"/>
            <a:ext cx="5536440" cy="1922760"/>
            <a:chOff x="6167520" y="1757160"/>
            <a:chExt cx="5536440" cy="1922760"/>
          </a:xfrm>
        </p:grpSpPr>
        <p:pic>
          <p:nvPicPr>
            <p:cNvPr id="41" name="object 13" descr=""/>
            <p:cNvPicPr/>
            <p:nvPr/>
          </p:nvPicPr>
          <p:blipFill>
            <a:blip r:embed="rId3"/>
            <a:stretch/>
          </p:blipFill>
          <p:spPr>
            <a:xfrm>
              <a:off x="6167520" y="1757160"/>
              <a:ext cx="5536440" cy="19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" name="object 14"/>
            <p:cNvSpPr/>
            <p:nvPr/>
          </p:nvSpPr>
          <p:spPr>
            <a:xfrm>
              <a:off x="6217920" y="1783080"/>
              <a:ext cx="5440320" cy="1828440"/>
            </a:xfrm>
            <a:custGeom>
              <a:avLst/>
              <a:gdLst>
                <a:gd name="textAreaLeft" fmla="*/ 0 w 5440320"/>
                <a:gd name="textAreaRight" fmla="*/ 5440680 w 544032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5440680" h="1828800">
                  <a:moveTo>
                    <a:pt x="513588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5135880" y="1828800"/>
                  </a:lnTo>
                  <a:lnTo>
                    <a:pt x="5185305" y="1824809"/>
                  </a:lnTo>
                  <a:lnTo>
                    <a:pt x="5232196" y="1813255"/>
                  </a:lnTo>
                  <a:lnTo>
                    <a:pt x="5275926" y="1794767"/>
                  </a:lnTo>
                  <a:lnTo>
                    <a:pt x="5315864" y="1769973"/>
                  </a:lnTo>
                  <a:lnTo>
                    <a:pt x="5351383" y="1739503"/>
                  </a:lnTo>
                  <a:lnTo>
                    <a:pt x="5381853" y="1703984"/>
                  </a:lnTo>
                  <a:lnTo>
                    <a:pt x="5406647" y="1664046"/>
                  </a:lnTo>
                  <a:lnTo>
                    <a:pt x="5425135" y="1620316"/>
                  </a:lnTo>
                  <a:lnTo>
                    <a:pt x="5436689" y="1573425"/>
                  </a:lnTo>
                  <a:lnTo>
                    <a:pt x="5440680" y="1524000"/>
                  </a:lnTo>
                  <a:lnTo>
                    <a:pt x="5440680" y="304800"/>
                  </a:lnTo>
                  <a:lnTo>
                    <a:pt x="5436689" y="255374"/>
                  </a:lnTo>
                  <a:lnTo>
                    <a:pt x="5425135" y="208483"/>
                  </a:lnTo>
                  <a:lnTo>
                    <a:pt x="5406647" y="164753"/>
                  </a:lnTo>
                  <a:lnTo>
                    <a:pt x="5381853" y="124815"/>
                  </a:lnTo>
                  <a:lnTo>
                    <a:pt x="5351383" y="89296"/>
                  </a:lnTo>
                  <a:lnTo>
                    <a:pt x="5315864" y="58826"/>
                  </a:lnTo>
                  <a:lnTo>
                    <a:pt x="5275926" y="34032"/>
                  </a:lnTo>
                  <a:lnTo>
                    <a:pt x="5232196" y="15544"/>
                  </a:lnTo>
                  <a:lnTo>
                    <a:pt x="5185305" y="3990"/>
                  </a:lnTo>
                  <a:lnTo>
                    <a:pt x="51358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3" name="object 15"/>
            <p:cNvSpPr/>
            <p:nvPr/>
          </p:nvSpPr>
          <p:spPr>
            <a:xfrm>
              <a:off x="6217920" y="1783080"/>
              <a:ext cx="5440320" cy="1828440"/>
            </a:xfrm>
            <a:custGeom>
              <a:avLst/>
              <a:gdLst>
                <a:gd name="textAreaLeft" fmla="*/ 0 w 5440320"/>
                <a:gd name="textAreaRight" fmla="*/ 5440680 w 544032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544068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5135880" y="0"/>
                  </a:lnTo>
                  <a:lnTo>
                    <a:pt x="5185305" y="3990"/>
                  </a:lnTo>
                  <a:lnTo>
                    <a:pt x="5232196" y="15544"/>
                  </a:lnTo>
                  <a:lnTo>
                    <a:pt x="5275926" y="34032"/>
                  </a:lnTo>
                  <a:lnTo>
                    <a:pt x="5315864" y="58826"/>
                  </a:lnTo>
                  <a:lnTo>
                    <a:pt x="5351383" y="89296"/>
                  </a:lnTo>
                  <a:lnTo>
                    <a:pt x="5381853" y="124815"/>
                  </a:lnTo>
                  <a:lnTo>
                    <a:pt x="5406647" y="164753"/>
                  </a:lnTo>
                  <a:lnTo>
                    <a:pt x="5425135" y="208483"/>
                  </a:lnTo>
                  <a:lnTo>
                    <a:pt x="5436689" y="255374"/>
                  </a:lnTo>
                  <a:lnTo>
                    <a:pt x="5440680" y="304800"/>
                  </a:lnTo>
                  <a:lnTo>
                    <a:pt x="5440680" y="1524000"/>
                  </a:lnTo>
                  <a:lnTo>
                    <a:pt x="5436689" y="1573425"/>
                  </a:lnTo>
                  <a:lnTo>
                    <a:pt x="5425135" y="1620316"/>
                  </a:lnTo>
                  <a:lnTo>
                    <a:pt x="5406647" y="1664046"/>
                  </a:lnTo>
                  <a:lnTo>
                    <a:pt x="5381853" y="1703984"/>
                  </a:lnTo>
                  <a:lnTo>
                    <a:pt x="5351383" y="1739503"/>
                  </a:lnTo>
                  <a:lnTo>
                    <a:pt x="5315864" y="1769973"/>
                  </a:lnTo>
                  <a:lnTo>
                    <a:pt x="5275926" y="1794767"/>
                  </a:lnTo>
                  <a:lnTo>
                    <a:pt x="5232196" y="1813255"/>
                  </a:lnTo>
                  <a:lnTo>
                    <a:pt x="5185305" y="1824809"/>
                  </a:lnTo>
                  <a:lnTo>
                    <a:pt x="513588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44" name="object 16"/>
          <p:cNvSpPr/>
          <p:nvPr/>
        </p:nvSpPr>
        <p:spPr>
          <a:xfrm>
            <a:off x="6496560" y="2299680"/>
            <a:ext cx="462384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11760" algn="ctr">
              <a:lnSpc>
                <a:spcPct val="100000"/>
              </a:lnSpc>
              <a:spcBef>
                <a:spcPts val="99"/>
              </a:spcBef>
            </a:pPr>
            <a:r>
              <a:rPr b="1" lang="en-US" sz="1500" spc="-40" strike="noStrike" u="none">
                <a:solidFill>
                  <a:srgbClr val="173e6c"/>
                </a:solidFill>
                <a:uFillTx/>
                <a:latin typeface="Trebuchet MS"/>
              </a:rPr>
              <a:t>Engineering</a:t>
            </a:r>
            <a:r>
              <a:rPr b="1" lang="en-US" sz="1500" spc="-8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11" strike="noStrike" u="none">
                <a:solidFill>
                  <a:srgbClr val="173e6c"/>
                </a:solidFill>
                <a:uFillTx/>
                <a:latin typeface="Trebuchet MS"/>
              </a:rPr>
              <a:t>question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How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can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2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system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estimate</a:t>
            </a:r>
            <a:r>
              <a:rPr b="0" lang="en-US" sz="12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optimize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carbon</a:t>
            </a:r>
            <a:r>
              <a:rPr b="0" lang="en-US" sz="12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emissions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BEFORE shipment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dispatch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while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balancing</a:t>
            </a:r>
            <a:r>
              <a:rPr b="0" lang="en-US" sz="12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delivery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time</a:t>
            </a:r>
            <a:r>
              <a:rPr b="0" lang="en-US" sz="12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environmental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impact</a:t>
            </a:r>
            <a:r>
              <a:rPr b="0" lang="en-US" sz="12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across</a:t>
            </a:r>
            <a:r>
              <a:rPr b="0" lang="en-US" sz="12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multiple</a:t>
            </a:r>
            <a:r>
              <a:rPr b="0" lang="en-US" sz="12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transport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modes?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5" name="object 17"/>
          <p:cNvGrpSpPr/>
          <p:nvPr/>
        </p:nvGrpSpPr>
        <p:grpSpPr>
          <a:xfrm>
            <a:off x="6175080" y="1763280"/>
            <a:ext cx="162720" cy="1909080"/>
            <a:chOff x="6175080" y="1763280"/>
            <a:chExt cx="162720" cy="1909080"/>
          </a:xfrm>
        </p:grpSpPr>
        <p:pic>
          <p:nvPicPr>
            <p:cNvPr id="46" name="object 18" descr=""/>
            <p:cNvPicPr/>
            <p:nvPr/>
          </p:nvPicPr>
          <p:blipFill>
            <a:blip r:embed="rId4"/>
            <a:stretch/>
          </p:blipFill>
          <p:spPr>
            <a:xfrm>
              <a:off x="6175080" y="1763280"/>
              <a:ext cx="162720" cy="190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" name="object 19"/>
            <p:cNvSpPr/>
            <p:nvPr/>
          </p:nvSpPr>
          <p:spPr>
            <a:xfrm>
              <a:off x="6217920" y="1783080"/>
              <a:ext cx="82080" cy="182844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82550" h="1828800">
                  <a:moveTo>
                    <a:pt x="82296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82296" y="182880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aa6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48" name="object 20"/>
          <p:cNvGrpSpPr/>
          <p:nvPr/>
        </p:nvGrpSpPr>
        <p:grpSpPr>
          <a:xfrm>
            <a:off x="452520" y="3814560"/>
            <a:ext cx="2838960" cy="1648440"/>
            <a:chOff x="452520" y="3814560"/>
            <a:chExt cx="2838960" cy="1648440"/>
          </a:xfrm>
        </p:grpSpPr>
        <p:pic>
          <p:nvPicPr>
            <p:cNvPr id="49" name="object 21" descr=""/>
            <p:cNvPicPr/>
            <p:nvPr/>
          </p:nvPicPr>
          <p:blipFill>
            <a:blip r:embed="rId5"/>
            <a:stretch/>
          </p:blipFill>
          <p:spPr>
            <a:xfrm>
              <a:off x="452520" y="3814560"/>
              <a:ext cx="2838960" cy="1648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" name="object 22"/>
            <p:cNvSpPr/>
            <p:nvPr/>
          </p:nvSpPr>
          <p:spPr>
            <a:xfrm>
              <a:off x="502920" y="3840480"/>
              <a:ext cx="2742840" cy="1554120"/>
            </a:xfrm>
            <a:custGeom>
              <a:avLst/>
              <a:gdLst>
                <a:gd name="textAreaLeft" fmla="*/ 0 w 2742840"/>
                <a:gd name="textAreaRight" fmla="*/ 2743200 w 274284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743200" h="1554479">
                  <a:moveTo>
                    <a:pt x="2484120" y="0"/>
                  </a:moveTo>
                  <a:lnTo>
                    <a:pt x="259079" y="0"/>
                  </a:lnTo>
                  <a:lnTo>
                    <a:pt x="212512" y="4172"/>
                  </a:lnTo>
                  <a:lnTo>
                    <a:pt x="168681" y="16203"/>
                  </a:lnTo>
                  <a:lnTo>
                    <a:pt x="128320" y="35362"/>
                  </a:lnTo>
                  <a:lnTo>
                    <a:pt x="92161" y="60918"/>
                  </a:lnTo>
                  <a:lnTo>
                    <a:pt x="60934" y="92140"/>
                  </a:lnTo>
                  <a:lnTo>
                    <a:pt x="35373" y="128298"/>
                  </a:lnTo>
                  <a:lnTo>
                    <a:pt x="16209" y="168661"/>
                  </a:lnTo>
                  <a:lnTo>
                    <a:pt x="4174" y="212498"/>
                  </a:lnTo>
                  <a:lnTo>
                    <a:pt x="0" y="259080"/>
                  </a:lnTo>
                  <a:lnTo>
                    <a:pt x="0" y="1295400"/>
                  </a:lnTo>
                  <a:lnTo>
                    <a:pt x="4174" y="1341981"/>
                  </a:lnTo>
                  <a:lnTo>
                    <a:pt x="16209" y="1385818"/>
                  </a:lnTo>
                  <a:lnTo>
                    <a:pt x="35373" y="1426181"/>
                  </a:lnTo>
                  <a:lnTo>
                    <a:pt x="60934" y="1462339"/>
                  </a:lnTo>
                  <a:lnTo>
                    <a:pt x="92161" y="1493561"/>
                  </a:lnTo>
                  <a:lnTo>
                    <a:pt x="128320" y="1519117"/>
                  </a:lnTo>
                  <a:lnTo>
                    <a:pt x="168681" y="1538276"/>
                  </a:lnTo>
                  <a:lnTo>
                    <a:pt x="212512" y="1550307"/>
                  </a:lnTo>
                  <a:lnTo>
                    <a:pt x="259079" y="1554480"/>
                  </a:lnTo>
                  <a:lnTo>
                    <a:pt x="2484120" y="1554480"/>
                  </a:lnTo>
                  <a:lnTo>
                    <a:pt x="2530701" y="1550307"/>
                  </a:lnTo>
                  <a:lnTo>
                    <a:pt x="2574538" y="1538276"/>
                  </a:lnTo>
                  <a:lnTo>
                    <a:pt x="2614901" y="1519117"/>
                  </a:lnTo>
                  <a:lnTo>
                    <a:pt x="2651059" y="1493561"/>
                  </a:lnTo>
                  <a:lnTo>
                    <a:pt x="2682281" y="1462339"/>
                  </a:lnTo>
                  <a:lnTo>
                    <a:pt x="2707837" y="1426181"/>
                  </a:lnTo>
                  <a:lnTo>
                    <a:pt x="2726996" y="1385818"/>
                  </a:lnTo>
                  <a:lnTo>
                    <a:pt x="2739027" y="1341981"/>
                  </a:lnTo>
                  <a:lnTo>
                    <a:pt x="2743200" y="1295400"/>
                  </a:lnTo>
                  <a:lnTo>
                    <a:pt x="2743200" y="259080"/>
                  </a:lnTo>
                  <a:lnTo>
                    <a:pt x="2739027" y="212498"/>
                  </a:lnTo>
                  <a:lnTo>
                    <a:pt x="2726996" y="168661"/>
                  </a:lnTo>
                  <a:lnTo>
                    <a:pt x="2707837" y="128298"/>
                  </a:lnTo>
                  <a:lnTo>
                    <a:pt x="2682281" y="92140"/>
                  </a:lnTo>
                  <a:lnTo>
                    <a:pt x="2651059" y="60918"/>
                  </a:lnTo>
                  <a:lnTo>
                    <a:pt x="2614901" y="35362"/>
                  </a:lnTo>
                  <a:lnTo>
                    <a:pt x="2574538" y="16203"/>
                  </a:lnTo>
                  <a:lnTo>
                    <a:pt x="2530701" y="4172"/>
                  </a:lnTo>
                  <a:lnTo>
                    <a:pt x="248412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1" name="object 23"/>
            <p:cNvSpPr/>
            <p:nvPr/>
          </p:nvSpPr>
          <p:spPr>
            <a:xfrm>
              <a:off x="502920" y="3840480"/>
              <a:ext cx="2742840" cy="1554120"/>
            </a:xfrm>
            <a:custGeom>
              <a:avLst/>
              <a:gdLst>
                <a:gd name="textAreaLeft" fmla="*/ 0 w 2742840"/>
                <a:gd name="textAreaRight" fmla="*/ 2743200 w 274284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743200" h="1554479">
                  <a:moveTo>
                    <a:pt x="0" y="259080"/>
                  </a:moveTo>
                  <a:lnTo>
                    <a:pt x="4174" y="212498"/>
                  </a:lnTo>
                  <a:lnTo>
                    <a:pt x="16209" y="168661"/>
                  </a:lnTo>
                  <a:lnTo>
                    <a:pt x="35373" y="128298"/>
                  </a:lnTo>
                  <a:lnTo>
                    <a:pt x="60934" y="92140"/>
                  </a:lnTo>
                  <a:lnTo>
                    <a:pt x="92161" y="60918"/>
                  </a:lnTo>
                  <a:lnTo>
                    <a:pt x="128320" y="35362"/>
                  </a:lnTo>
                  <a:lnTo>
                    <a:pt x="168681" y="16203"/>
                  </a:lnTo>
                  <a:lnTo>
                    <a:pt x="212512" y="4172"/>
                  </a:lnTo>
                  <a:lnTo>
                    <a:pt x="259079" y="0"/>
                  </a:lnTo>
                  <a:lnTo>
                    <a:pt x="2484120" y="0"/>
                  </a:lnTo>
                  <a:lnTo>
                    <a:pt x="2530701" y="4172"/>
                  </a:lnTo>
                  <a:lnTo>
                    <a:pt x="2574538" y="16203"/>
                  </a:lnTo>
                  <a:lnTo>
                    <a:pt x="2614901" y="35362"/>
                  </a:lnTo>
                  <a:lnTo>
                    <a:pt x="2651059" y="60918"/>
                  </a:lnTo>
                  <a:lnTo>
                    <a:pt x="2682281" y="92140"/>
                  </a:lnTo>
                  <a:lnTo>
                    <a:pt x="2707837" y="128298"/>
                  </a:lnTo>
                  <a:lnTo>
                    <a:pt x="2726996" y="168661"/>
                  </a:lnTo>
                  <a:lnTo>
                    <a:pt x="2739027" y="212498"/>
                  </a:lnTo>
                  <a:lnTo>
                    <a:pt x="2743200" y="259080"/>
                  </a:lnTo>
                  <a:lnTo>
                    <a:pt x="2743200" y="1295400"/>
                  </a:lnTo>
                  <a:lnTo>
                    <a:pt x="2739027" y="1341981"/>
                  </a:lnTo>
                  <a:lnTo>
                    <a:pt x="2726996" y="1385818"/>
                  </a:lnTo>
                  <a:lnTo>
                    <a:pt x="2707837" y="1426181"/>
                  </a:lnTo>
                  <a:lnTo>
                    <a:pt x="2682281" y="1462339"/>
                  </a:lnTo>
                  <a:lnTo>
                    <a:pt x="2651059" y="1493561"/>
                  </a:lnTo>
                  <a:lnTo>
                    <a:pt x="2614901" y="1519117"/>
                  </a:lnTo>
                  <a:lnTo>
                    <a:pt x="2574538" y="1538276"/>
                  </a:lnTo>
                  <a:lnTo>
                    <a:pt x="2530701" y="1550307"/>
                  </a:lnTo>
                  <a:lnTo>
                    <a:pt x="2484120" y="1554480"/>
                  </a:lnTo>
                  <a:lnTo>
                    <a:pt x="259079" y="1554480"/>
                  </a:lnTo>
                  <a:lnTo>
                    <a:pt x="212512" y="1550307"/>
                  </a:lnTo>
                  <a:lnTo>
                    <a:pt x="168681" y="1538276"/>
                  </a:lnTo>
                  <a:lnTo>
                    <a:pt x="128320" y="1519117"/>
                  </a:lnTo>
                  <a:lnTo>
                    <a:pt x="92161" y="1493561"/>
                  </a:lnTo>
                  <a:lnTo>
                    <a:pt x="60934" y="1462339"/>
                  </a:lnTo>
                  <a:lnTo>
                    <a:pt x="35373" y="1426181"/>
                  </a:lnTo>
                  <a:lnTo>
                    <a:pt x="16209" y="1385818"/>
                  </a:lnTo>
                  <a:lnTo>
                    <a:pt x="4174" y="1341981"/>
                  </a:lnTo>
                  <a:lnTo>
                    <a:pt x="0" y="1295400"/>
                  </a:lnTo>
                  <a:lnTo>
                    <a:pt x="0" y="25908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52" name="object 24"/>
          <p:cNvSpPr/>
          <p:nvPr/>
        </p:nvSpPr>
        <p:spPr>
          <a:xfrm>
            <a:off x="767160" y="4311360"/>
            <a:ext cx="2135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48360">
              <a:lnSpc>
                <a:spcPct val="100000"/>
              </a:lnSpc>
              <a:spcBef>
                <a:spcPts val="99"/>
              </a:spcBef>
            </a:pPr>
            <a:r>
              <a:rPr b="1" lang="en-US" sz="1500" spc="-40" strike="noStrike" u="none">
                <a:solidFill>
                  <a:srgbClr val="173e6c"/>
                </a:solidFill>
                <a:uFillTx/>
                <a:latin typeface="Trebuchet MS"/>
              </a:rPr>
              <a:t>Objective</a:t>
            </a:r>
            <a:r>
              <a:rPr b="1" lang="en-US" sz="1500" spc="-10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51" strike="noStrike" u="none">
                <a:solidFill>
                  <a:srgbClr val="173e6c"/>
                </a:solidFill>
                <a:uFillTx/>
                <a:latin typeface="Trebuchet MS"/>
              </a:rPr>
              <a:t>1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Build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</a:t>
            </a:r>
            <a:r>
              <a:rPr b="0" lang="en-US" sz="12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lightweight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offline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71" strike="noStrike" u="none">
                <a:solidFill>
                  <a:srgbClr val="1c2837"/>
                </a:solidFill>
                <a:uFillTx/>
                <a:latin typeface="Tahoma"/>
              </a:rPr>
              <a:t>C++17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logistics</a:t>
            </a:r>
            <a:r>
              <a:rPr b="0" lang="en-US" sz="120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application.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53" name="object 25"/>
          <p:cNvGrpSpPr/>
          <p:nvPr/>
        </p:nvGrpSpPr>
        <p:grpSpPr>
          <a:xfrm>
            <a:off x="460080" y="3820680"/>
            <a:ext cx="162720" cy="1634760"/>
            <a:chOff x="460080" y="3820680"/>
            <a:chExt cx="162720" cy="1634760"/>
          </a:xfrm>
        </p:grpSpPr>
        <p:pic>
          <p:nvPicPr>
            <p:cNvPr id="54" name="object 26" descr=""/>
            <p:cNvPicPr/>
            <p:nvPr/>
          </p:nvPicPr>
          <p:blipFill>
            <a:blip r:embed="rId6"/>
            <a:stretch/>
          </p:blipFill>
          <p:spPr>
            <a:xfrm>
              <a:off x="460080" y="3820680"/>
              <a:ext cx="162720" cy="163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object 27"/>
            <p:cNvSpPr/>
            <p:nvPr/>
          </p:nvSpPr>
          <p:spPr>
            <a:xfrm>
              <a:off x="502920" y="3840480"/>
              <a:ext cx="82080" cy="1554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82550" h="1554479">
                  <a:moveTo>
                    <a:pt x="82295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82295" y="1554480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56" name="object 28"/>
          <p:cNvGrpSpPr/>
          <p:nvPr/>
        </p:nvGrpSpPr>
        <p:grpSpPr>
          <a:xfrm>
            <a:off x="3378600" y="3814560"/>
            <a:ext cx="2838960" cy="1648440"/>
            <a:chOff x="3378600" y="3814560"/>
            <a:chExt cx="2838960" cy="1648440"/>
          </a:xfrm>
        </p:grpSpPr>
        <p:pic>
          <p:nvPicPr>
            <p:cNvPr id="57" name="object 29" descr=""/>
            <p:cNvPicPr/>
            <p:nvPr/>
          </p:nvPicPr>
          <p:blipFill>
            <a:blip r:embed="rId7"/>
            <a:stretch/>
          </p:blipFill>
          <p:spPr>
            <a:xfrm>
              <a:off x="3378600" y="3814560"/>
              <a:ext cx="2838960" cy="1648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8" name="object 30"/>
            <p:cNvSpPr/>
            <p:nvPr/>
          </p:nvSpPr>
          <p:spPr>
            <a:xfrm>
              <a:off x="3429000" y="3840480"/>
              <a:ext cx="2742840" cy="1554120"/>
            </a:xfrm>
            <a:custGeom>
              <a:avLst/>
              <a:gdLst>
                <a:gd name="textAreaLeft" fmla="*/ 0 w 2742840"/>
                <a:gd name="textAreaRight" fmla="*/ 2743200 w 274284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743200" h="1554479">
                  <a:moveTo>
                    <a:pt x="2484120" y="0"/>
                  </a:moveTo>
                  <a:lnTo>
                    <a:pt x="259079" y="0"/>
                  </a:lnTo>
                  <a:lnTo>
                    <a:pt x="212498" y="4172"/>
                  </a:lnTo>
                  <a:lnTo>
                    <a:pt x="168661" y="16203"/>
                  </a:lnTo>
                  <a:lnTo>
                    <a:pt x="128298" y="35362"/>
                  </a:lnTo>
                  <a:lnTo>
                    <a:pt x="92140" y="60918"/>
                  </a:lnTo>
                  <a:lnTo>
                    <a:pt x="60918" y="92140"/>
                  </a:lnTo>
                  <a:lnTo>
                    <a:pt x="35362" y="128298"/>
                  </a:lnTo>
                  <a:lnTo>
                    <a:pt x="16203" y="168661"/>
                  </a:lnTo>
                  <a:lnTo>
                    <a:pt x="4172" y="212498"/>
                  </a:lnTo>
                  <a:lnTo>
                    <a:pt x="0" y="259080"/>
                  </a:lnTo>
                  <a:lnTo>
                    <a:pt x="0" y="1295400"/>
                  </a:lnTo>
                  <a:lnTo>
                    <a:pt x="4172" y="1341981"/>
                  </a:lnTo>
                  <a:lnTo>
                    <a:pt x="16203" y="1385818"/>
                  </a:lnTo>
                  <a:lnTo>
                    <a:pt x="35362" y="1426181"/>
                  </a:lnTo>
                  <a:lnTo>
                    <a:pt x="60918" y="1462339"/>
                  </a:lnTo>
                  <a:lnTo>
                    <a:pt x="92140" y="1493561"/>
                  </a:lnTo>
                  <a:lnTo>
                    <a:pt x="128298" y="1519117"/>
                  </a:lnTo>
                  <a:lnTo>
                    <a:pt x="168661" y="1538276"/>
                  </a:lnTo>
                  <a:lnTo>
                    <a:pt x="212498" y="1550307"/>
                  </a:lnTo>
                  <a:lnTo>
                    <a:pt x="259079" y="1554480"/>
                  </a:lnTo>
                  <a:lnTo>
                    <a:pt x="2484120" y="1554480"/>
                  </a:lnTo>
                  <a:lnTo>
                    <a:pt x="2530701" y="1550307"/>
                  </a:lnTo>
                  <a:lnTo>
                    <a:pt x="2574538" y="1538276"/>
                  </a:lnTo>
                  <a:lnTo>
                    <a:pt x="2614901" y="1519117"/>
                  </a:lnTo>
                  <a:lnTo>
                    <a:pt x="2651059" y="1493561"/>
                  </a:lnTo>
                  <a:lnTo>
                    <a:pt x="2682281" y="1462339"/>
                  </a:lnTo>
                  <a:lnTo>
                    <a:pt x="2707837" y="1426181"/>
                  </a:lnTo>
                  <a:lnTo>
                    <a:pt x="2726996" y="1385818"/>
                  </a:lnTo>
                  <a:lnTo>
                    <a:pt x="2739027" y="1341981"/>
                  </a:lnTo>
                  <a:lnTo>
                    <a:pt x="2743200" y="1295400"/>
                  </a:lnTo>
                  <a:lnTo>
                    <a:pt x="2743200" y="259080"/>
                  </a:lnTo>
                  <a:lnTo>
                    <a:pt x="2739027" y="212498"/>
                  </a:lnTo>
                  <a:lnTo>
                    <a:pt x="2726996" y="168661"/>
                  </a:lnTo>
                  <a:lnTo>
                    <a:pt x="2707837" y="128298"/>
                  </a:lnTo>
                  <a:lnTo>
                    <a:pt x="2682281" y="92140"/>
                  </a:lnTo>
                  <a:lnTo>
                    <a:pt x="2651059" y="60918"/>
                  </a:lnTo>
                  <a:lnTo>
                    <a:pt x="2614901" y="35362"/>
                  </a:lnTo>
                  <a:lnTo>
                    <a:pt x="2574538" y="16203"/>
                  </a:lnTo>
                  <a:lnTo>
                    <a:pt x="2530701" y="4172"/>
                  </a:lnTo>
                  <a:lnTo>
                    <a:pt x="248412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9" name="object 31"/>
            <p:cNvSpPr/>
            <p:nvPr/>
          </p:nvSpPr>
          <p:spPr>
            <a:xfrm>
              <a:off x="3429000" y="3840480"/>
              <a:ext cx="2742840" cy="1554120"/>
            </a:xfrm>
            <a:custGeom>
              <a:avLst/>
              <a:gdLst>
                <a:gd name="textAreaLeft" fmla="*/ 0 w 2742840"/>
                <a:gd name="textAreaRight" fmla="*/ 2743200 w 274284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743200" h="1554479">
                  <a:moveTo>
                    <a:pt x="0" y="259080"/>
                  </a:moveTo>
                  <a:lnTo>
                    <a:pt x="4172" y="212498"/>
                  </a:lnTo>
                  <a:lnTo>
                    <a:pt x="16203" y="168661"/>
                  </a:lnTo>
                  <a:lnTo>
                    <a:pt x="35362" y="128298"/>
                  </a:lnTo>
                  <a:lnTo>
                    <a:pt x="60918" y="92140"/>
                  </a:lnTo>
                  <a:lnTo>
                    <a:pt x="92140" y="60918"/>
                  </a:lnTo>
                  <a:lnTo>
                    <a:pt x="128298" y="35362"/>
                  </a:lnTo>
                  <a:lnTo>
                    <a:pt x="168661" y="16203"/>
                  </a:lnTo>
                  <a:lnTo>
                    <a:pt x="212498" y="4172"/>
                  </a:lnTo>
                  <a:lnTo>
                    <a:pt x="259079" y="0"/>
                  </a:lnTo>
                  <a:lnTo>
                    <a:pt x="2484120" y="0"/>
                  </a:lnTo>
                  <a:lnTo>
                    <a:pt x="2530701" y="4172"/>
                  </a:lnTo>
                  <a:lnTo>
                    <a:pt x="2574538" y="16203"/>
                  </a:lnTo>
                  <a:lnTo>
                    <a:pt x="2614901" y="35362"/>
                  </a:lnTo>
                  <a:lnTo>
                    <a:pt x="2651059" y="60918"/>
                  </a:lnTo>
                  <a:lnTo>
                    <a:pt x="2682281" y="92140"/>
                  </a:lnTo>
                  <a:lnTo>
                    <a:pt x="2707837" y="128298"/>
                  </a:lnTo>
                  <a:lnTo>
                    <a:pt x="2726996" y="168661"/>
                  </a:lnTo>
                  <a:lnTo>
                    <a:pt x="2739027" y="212498"/>
                  </a:lnTo>
                  <a:lnTo>
                    <a:pt x="2743200" y="259080"/>
                  </a:lnTo>
                  <a:lnTo>
                    <a:pt x="2743200" y="1295400"/>
                  </a:lnTo>
                  <a:lnTo>
                    <a:pt x="2739027" y="1341981"/>
                  </a:lnTo>
                  <a:lnTo>
                    <a:pt x="2726996" y="1385818"/>
                  </a:lnTo>
                  <a:lnTo>
                    <a:pt x="2707837" y="1426181"/>
                  </a:lnTo>
                  <a:lnTo>
                    <a:pt x="2682281" y="1462339"/>
                  </a:lnTo>
                  <a:lnTo>
                    <a:pt x="2651059" y="1493561"/>
                  </a:lnTo>
                  <a:lnTo>
                    <a:pt x="2614901" y="1519117"/>
                  </a:lnTo>
                  <a:lnTo>
                    <a:pt x="2574538" y="1538276"/>
                  </a:lnTo>
                  <a:lnTo>
                    <a:pt x="2530701" y="1550307"/>
                  </a:lnTo>
                  <a:lnTo>
                    <a:pt x="2484120" y="1554480"/>
                  </a:lnTo>
                  <a:lnTo>
                    <a:pt x="259079" y="1554480"/>
                  </a:lnTo>
                  <a:lnTo>
                    <a:pt x="212498" y="1550307"/>
                  </a:lnTo>
                  <a:lnTo>
                    <a:pt x="168661" y="1538276"/>
                  </a:lnTo>
                  <a:lnTo>
                    <a:pt x="128298" y="1519117"/>
                  </a:lnTo>
                  <a:lnTo>
                    <a:pt x="92140" y="1493561"/>
                  </a:lnTo>
                  <a:lnTo>
                    <a:pt x="60918" y="1462339"/>
                  </a:lnTo>
                  <a:lnTo>
                    <a:pt x="35362" y="1426181"/>
                  </a:lnTo>
                  <a:lnTo>
                    <a:pt x="16203" y="1385818"/>
                  </a:lnTo>
                  <a:lnTo>
                    <a:pt x="4172" y="1341981"/>
                  </a:lnTo>
                  <a:lnTo>
                    <a:pt x="0" y="1295400"/>
                  </a:lnTo>
                  <a:lnTo>
                    <a:pt x="0" y="25908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60" name="object 32"/>
          <p:cNvSpPr/>
          <p:nvPr/>
        </p:nvSpPr>
        <p:spPr>
          <a:xfrm>
            <a:off x="3693600" y="4311360"/>
            <a:ext cx="205704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48360">
              <a:lnSpc>
                <a:spcPct val="100000"/>
              </a:lnSpc>
              <a:spcBef>
                <a:spcPts val="99"/>
              </a:spcBef>
            </a:pPr>
            <a:r>
              <a:rPr b="1" lang="en-US" sz="1500" spc="-40" strike="noStrike" u="none">
                <a:solidFill>
                  <a:srgbClr val="173e6c"/>
                </a:solidFill>
                <a:uFillTx/>
                <a:latin typeface="Trebuchet MS"/>
              </a:rPr>
              <a:t>Objective</a:t>
            </a:r>
            <a:r>
              <a:rPr b="1" lang="en-US" sz="1500" spc="-10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51" strike="noStrike" u="none">
                <a:solidFill>
                  <a:srgbClr val="173e6c"/>
                </a:solidFill>
                <a:uFillTx/>
                <a:latin typeface="Trebuchet MS"/>
              </a:rPr>
              <a:t>2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Estimate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carbon</a:t>
            </a:r>
            <a:r>
              <a:rPr b="0" lang="en-US" sz="12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impact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before dispatch.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1" name="object 33"/>
          <p:cNvGrpSpPr/>
          <p:nvPr/>
        </p:nvGrpSpPr>
        <p:grpSpPr>
          <a:xfrm>
            <a:off x="3386160" y="3820680"/>
            <a:ext cx="162720" cy="1634760"/>
            <a:chOff x="3386160" y="3820680"/>
            <a:chExt cx="162720" cy="1634760"/>
          </a:xfrm>
        </p:grpSpPr>
        <p:pic>
          <p:nvPicPr>
            <p:cNvPr id="62" name="object 34" descr=""/>
            <p:cNvPicPr/>
            <p:nvPr/>
          </p:nvPicPr>
          <p:blipFill>
            <a:blip r:embed="rId8"/>
            <a:stretch/>
          </p:blipFill>
          <p:spPr>
            <a:xfrm>
              <a:off x="3386160" y="3820680"/>
              <a:ext cx="162720" cy="163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" name="object 35"/>
            <p:cNvSpPr/>
            <p:nvPr/>
          </p:nvSpPr>
          <p:spPr>
            <a:xfrm>
              <a:off x="3429000" y="3840480"/>
              <a:ext cx="82080" cy="1554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82550" h="1554479">
                  <a:moveTo>
                    <a:pt x="82296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82296" y="155448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64" name="object 36"/>
          <p:cNvGrpSpPr/>
          <p:nvPr/>
        </p:nvGrpSpPr>
        <p:grpSpPr>
          <a:xfrm>
            <a:off x="6304680" y="3814560"/>
            <a:ext cx="2610360" cy="1648440"/>
            <a:chOff x="6304680" y="3814560"/>
            <a:chExt cx="2610360" cy="1648440"/>
          </a:xfrm>
        </p:grpSpPr>
        <p:pic>
          <p:nvPicPr>
            <p:cNvPr id="65" name="object 37" descr=""/>
            <p:cNvPicPr/>
            <p:nvPr/>
          </p:nvPicPr>
          <p:blipFill>
            <a:blip r:embed="rId9"/>
            <a:stretch/>
          </p:blipFill>
          <p:spPr>
            <a:xfrm>
              <a:off x="6304680" y="3814560"/>
              <a:ext cx="2610360" cy="1648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6" name="object 38"/>
            <p:cNvSpPr/>
            <p:nvPr/>
          </p:nvSpPr>
          <p:spPr>
            <a:xfrm>
              <a:off x="6355080" y="3840480"/>
              <a:ext cx="2514240" cy="1554120"/>
            </a:xfrm>
            <a:custGeom>
              <a:avLst/>
              <a:gdLst>
                <a:gd name="textAreaLeft" fmla="*/ 0 w 2514240"/>
                <a:gd name="textAreaRight" fmla="*/ 2514600 w 251424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514600" h="1554479">
                  <a:moveTo>
                    <a:pt x="2255520" y="0"/>
                  </a:moveTo>
                  <a:lnTo>
                    <a:pt x="259079" y="0"/>
                  </a:lnTo>
                  <a:lnTo>
                    <a:pt x="212498" y="4172"/>
                  </a:lnTo>
                  <a:lnTo>
                    <a:pt x="168661" y="16203"/>
                  </a:lnTo>
                  <a:lnTo>
                    <a:pt x="128298" y="35362"/>
                  </a:lnTo>
                  <a:lnTo>
                    <a:pt x="92140" y="60918"/>
                  </a:lnTo>
                  <a:lnTo>
                    <a:pt x="60918" y="92140"/>
                  </a:lnTo>
                  <a:lnTo>
                    <a:pt x="35362" y="128298"/>
                  </a:lnTo>
                  <a:lnTo>
                    <a:pt x="16203" y="168661"/>
                  </a:lnTo>
                  <a:lnTo>
                    <a:pt x="4172" y="212498"/>
                  </a:lnTo>
                  <a:lnTo>
                    <a:pt x="0" y="259080"/>
                  </a:lnTo>
                  <a:lnTo>
                    <a:pt x="0" y="1295400"/>
                  </a:lnTo>
                  <a:lnTo>
                    <a:pt x="4172" y="1341981"/>
                  </a:lnTo>
                  <a:lnTo>
                    <a:pt x="16203" y="1385818"/>
                  </a:lnTo>
                  <a:lnTo>
                    <a:pt x="35362" y="1426181"/>
                  </a:lnTo>
                  <a:lnTo>
                    <a:pt x="60918" y="1462339"/>
                  </a:lnTo>
                  <a:lnTo>
                    <a:pt x="92140" y="1493561"/>
                  </a:lnTo>
                  <a:lnTo>
                    <a:pt x="128298" y="1519117"/>
                  </a:lnTo>
                  <a:lnTo>
                    <a:pt x="168661" y="1538276"/>
                  </a:lnTo>
                  <a:lnTo>
                    <a:pt x="212498" y="1550307"/>
                  </a:lnTo>
                  <a:lnTo>
                    <a:pt x="259079" y="1554480"/>
                  </a:lnTo>
                  <a:lnTo>
                    <a:pt x="2255520" y="1554480"/>
                  </a:lnTo>
                  <a:lnTo>
                    <a:pt x="2302101" y="1550307"/>
                  </a:lnTo>
                  <a:lnTo>
                    <a:pt x="2345938" y="1538276"/>
                  </a:lnTo>
                  <a:lnTo>
                    <a:pt x="2386301" y="1519117"/>
                  </a:lnTo>
                  <a:lnTo>
                    <a:pt x="2422459" y="1493561"/>
                  </a:lnTo>
                  <a:lnTo>
                    <a:pt x="2453681" y="1462339"/>
                  </a:lnTo>
                  <a:lnTo>
                    <a:pt x="2479237" y="1426181"/>
                  </a:lnTo>
                  <a:lnTo>
                    <a:pt x="2498396" y="1385818"/>
                  </a:lnTo>
                  <a:lnTo>
                    <a:pt x="2510427" y="1341981"/>
                  </a:lnTo>
                  <a:lnTo>
                    <a:pt x="2514600" y="1295400"/>
                  </a:lnTo>
                  <a:lnTo>
                    <a:pt x="2514600" y="259080"/>
                  </a:lnTo>
                  <a:lnTo>
                    <a:pt x="2510427" y="212498"/>
                  </a:lnTo>
                  <a:lnTo>
                    <a:pt x="2498396" y="168661"/>
                  </a:lnTo>
                  <a:lnTo>
                    <a:pt x="2479237" y="128298"/>
                  </a:lnTo>
                  <a:lnTo>
                    <a:pt x="2453681" y="92140"/>
                  </a:lnTo>
                  <a:lnTo>
                    <a:pt x="2422459" y="60918"/>
                  </a:lnTo>
                  <a:lnTo>
                    <a:pt x="2386301" y="35362"/>
                  </a:lnTo>
                  <a:lnTo>
                    <a:pt x="2345938" y="16203"/>
                  </a:lnTo>
                  <a:lnTo>
                    <a:pt x="2302101" y="4172"/>
                  </a:lnTo>
                  <a:lnTo>
                    <a:pt x="225552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7" name="object 39"/>
            <p:cNvSpPr/>
            <p:nvPr/>
          </p:nvSpPr>
          <p:spPr>
            <a:xfrm>
              <a:off x="6355080" y="3840480"/>
              <a:ext cx="2514240" cy="1554120"/>
            </a:xfrm>
            <a:custGeom>
              <a:avLst/>
              <a:gdLst>
                <a:gd name="textAreaLeft" fmla="*/ 0 w 2514240"/>
                <a:gd name="textAreaRight" fmla="*/ 2514600 w 251424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514600" h="1554479">
                  <a:moveTo>
                    <a:pt x="0" y="259080"/>
                  </a:moveTo>
                  <a:lnTo>
                    <a:pt x="4172" y="212498"/>
                  </a:lnTo>
                  <a:lnTo>
                    <a:pt x="16203" y="168661"/>
                  </a:lnTo>
                  <a:lnTo>
                    <a:pt x="35362" y="128298"/>
                  </a:lnTo>
                  <a:lnTo>
                    <a:pt x="60918" y="92140"/>
                  </a:lnTo>
                  <a:lnTo>
                    <a:pt x="92140" y="60918"/>
                  </a:lnTo>
                  <a:lnTo>
                    <a:pt x="128298" y="35362"/>
                  </a:lnTo>
                  <a:lnTo>
                    <a:pt x="168661" y="16203"/>
                  </a:lnTo>
                  <a:lnTo>
                    <a:pt x="212498" y="4172"/>
                  </a:lnTo>
                  <a:lnTo>
                    <a:pt x="259079" y="0"/>
                  </a:lnTo>
                  <a:lnTo>
                    <a:pt x="2255520" y="0"/>
                  </a:lnTo>
                  <a:lnTo>
                    <a:pt x="2302101" y="4172"/>
                  </a:lnTo>
                  <a:lnTo>
                    <a:pt x="2345938" y="16203"/>
                  </a:lnTo>
                  <a:lnTo>
                    <a:pt x="2386301" y="35362"/>
                  </a:lnTo>
                  <a:lnTo>
                    <a:pt x="2422459" y="60918"/>
                  </a:lnTo>
                  <a:lnTo>
                    <a:pt x="2453681" y="92140"/>
                  </a:lnTo>
                  <a:lnTo>
                    <a:pt x="2479237" y="128298"/>
                  </a:lnTo>
                  <a:lnTo>
                    <a:pt x="2498396" y="168661"/>
                  </a:lnTo>
                  <a:lnTo>
                    <a:pt x="2510427" y="212498"/>
                  </a:lnTo>
                  <a:lnTo>
                    <a:pt x="2514600" y="259080"/>
                  </a:lnTo>
                  <a:lnTo>
                    <a:pt x="2514600" y="1295400"/>
                  </a:lnTo>
                  <a:lnTo>
                    <a:pt x="2510427" y="1341981"/>
                  </a:lnTo>
                  <a:lnTo>
                    <a:pt x="2498396" y="1385818"/>
                  </a:lnTo>
                  <a:lnTo>
                    <a:pt x="2479237" y="1426181"/>
                  </a:lnTo>
                  <a:lnTo>
                    <a:pt x="2453681" y="1462339"/>
                  </a:lnTo>
                  <a:lnTo>
                    <a:pt x="2422459" y="1493561"/>
                  </a:lnTo>
                  <a:lnTo>
                    <a:pt x="2386301" y="1519117"/>
                  </a:lnTo>
                  <a:lnTo>
                    <a:pt x="2345938" y="1538276"/>
                  </a:lnTo>
                  <a:lnTo>
                    <a:pt x="2302101" y="1550307"/>
                  </a:lnTo>
                  <a:lnTo>
                    <a:pt x="2255520" y="1554480"/>
                  </a:lnTo>
                  <a:lnTo>
                    <a:pt x="259079" y="1554480"/>
                  </a:lnTo>
                  <a:lnTo>
                    <a:pt x="212498" y="1550307"/>
                  </a:lnTo>
                  <a:lnTo>
                    <a:pt x="168661" y="1538276"/>
                  </a:lnTo>
                  <a:lnTo>
                    <a:pt x="128298" y="1519117"/>
                  </a:lnTo>
                  <a:lnTo>
                    <a:pt x="92140" y="1493561"/>
                  </a:lnTo>
                  <a:lnTo>
                    <a:pt x="60918" y="1462339"/>
                  </a:lnTo>
                  <a:lnTo>
                    <a:pt x="35362" y="1426181"/>
                  </a:lnTo>
                  <a:lnTo>
                    <a:pt x="16203" y="1385818"/>
                  </a:lnTo>
                  <a:lnTo>
                    <a:pt x="4172" y="1341981"/>
                  </a:lnTo>
                  <a:lnTo>
                    <a:pt x="0" y="1295400"/>
                  </a:lnTo>
                  <a:lnTo>
                    <a:pt x="0" y="25908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68" name="object 40"/>
          <p:cNvSpPr/>
          <p:nvPr/>
        </p:nvSpPr>
        <p:spPr>
          <a:xfrm>
            <a:off x="6620400" y="4311360"/>
            <a:ext cx="1802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33520">
              <a:lnSpc>
                <a:spcPct val="100000"/>
              </a:lnSpc>
              <a:spcBef>
                <a:spcPts val="99"/>
              </a:spcBef>
            </a:pPr>
            <a:r>
              <a:rPr b="1" lang="en-US" sz="1500" spc="-40" strike="noStrike" u="none">
                <a:solidFill>
                  <a:srgbClr val="173e6c"/>
                </a:solidFill>
                <a:uFillTx/>
                <a:latin typeface="Trebuchet MS"/>
              </a:rPr>
              <a:t>Objective</a:t>
            </a:r>
            <a:r>
              <a:rPr b="1" lang="en-US" sz="1500" spc="-10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51" strike="noStrike" u="none">
                <a:solidFill>
                  <a:srgbClr val="173e6c"/>
                </a:solidFill>
                <a:uFillTx/>
                <a:latin typeface="Trebuchet MS"/>
              </a:rPr>
              <a:t>3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Balance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time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44" strike="noStrike" u="none">
                <a:solidFill>
                  <a:srgbClr val="1c2837"/>
                </a:solidFill>
                <a:uFillTx/>
                <a:latin typeface="Tahoma"/>
              </a:rPr>
              <a:t>+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CO₂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using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51" strike="noStrike" u="none">
                <a:solidFill>
                  <a:srgbClr val="1c2837"/>
                </a:solidFill>
                <a:uFillTx/>
                <a:latin typeface="Tahoma"/>
              </a:rPr>
              <a:t>a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dual-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weighted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route</a:t>
            </a:r>
            <a:r>
              <a:rPr b="0" lang="en-US" sz="12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cost.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9" name="object 41"/>
          <p:cNvGrpSpPr/>
          <p:nvPr/>
        </p:nvGrpSpPr>
        <p:grpSpPr>
          <a:xfrm>
            <a:off x="6312240" y="3820680"/>
            <a:ext cx="162720" cy="1634760"/>
            <a:chOff x="6312240" y="3820680"/>
            <a:chExt cx="162720" cy="1634760"/>
          </a:xfrm>
        </p:grpSpPr>
        <p:pic>
          <p:nvPicPr>
            <p:cNvPr id="70" name="object 42" descr=""/>
            <p:cNvPicPr/>
            <p:nvPr/>
          </p:nvPicPr>
          <p:blipFill>
            <a:blip r:embed="rId10"/>
            <a:stretch/>
          </p:blipFill>
          <p:spPr>
            <a:xfrm>
              <a:off x="6312240" y="3820680"/>
              <a:ext cx="162720" cy="163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1" name="object 43"/>
            <p:cNvSpPr/>
            <p:nvPr/>
          </p:nvSpPr>
          <p:spPr>
            <a:xfrm>
              <a:off x="6355080" y="3840480"/>
              <a:ext cx="82080" cy="1554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82550" h="1554479">
                  <a:moveTo>
                    <a:pt x="82296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82296" y="155448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694e9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72" name="object 44"/>
          <p:cNvGrpSpPr/>
          <p:nvPr/>
        </p:nvGrpSpPr>
        <p:grpSpPr>
          <a:xfrm>
            <a:off x="9002160" y="3814560"/>
            <a:ext cx="2701800" cy="1648440"/>
            <a:chOff x="9002160" y="3814560"/>
            <a:chExt cx="2701800" cy="1648440"/>
          </a:xfrm>
        </p:grpSpPr>
        <p:pic>
          <p:nvPicPr>
            <p:cNvPr id="73" name="object 45" descr=""/>
            <p:cNvPicPr/>
            <p:nvPr/>
          </p:nvPicPr>
          <p:blipFill>
            <a:blip r:embed="rId11"/>
            <a:stretch/>
          </p:blipFill>
          <p:spPr>
            <a:xfrm>
              <a:off x="9002160" y="3814560"/>
              <a:ext cx="2701800" cy="1648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4" name="object 46"/>
            <p:cNvSpPr/>
            <p:nvPr/>
          </p:nvSpPr>
          <p:spPr>
            <a:xfrm>
              <a:off x="9052560" y="3840480"/>
              <a:ext cx="2605680" cy="1554120"/>
            </a:xfrm>
            <a:custGeom>
              <a:avLst/>
              <a:gdLst>
                <a:gd name="textAreaLeft" fmla="*/ 0 w 2605680"/>
                <a:gd name="textAreaRight" fmla="*/ 2606040 w 260568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606040" h="1554479">
                  <a:moveTo>
                    <a:pt x="2346960" y="0"/>
                  </a:moveTo>
                  <a:lnTo>
                    <a:pt x="259080" y="0"/>
                  </a:lnTo>
                  <a:lnTo>
                    <a:pt x="212498" y="4172"/>
                  </a:lnTo>
                  <a:lnTo>
                    <a:pt x="168661" y="16203"/>
                  </a:lnTo>
                  <a:lnTo>
                    <a:pt x="128298" y="35362"/>
                  </a:lnTo>
                  <a:lnTo>
                    <a:pt x="92140" y="60918"/>
                  </a:lnTo>
                  <a:lnTo>
                    <a:pt x="60918" y="92140"/>
                  </a:lnTo>
                  <a:lnTo>
                    <a:pt x="35362" y="128298"/>
                  </a:lnTo>
                  <a:lnTo>
                    <a:pt x="16203" y="168661"/>
                  </a:lnTo>
                  <a:lnTo>
                    <a:pt x="4172" y="212498"/>
                  </a:lnTo>
                  <a:lnTo>
                    <a:pt x="0" y="259080"/>
                  </a:lnTo>
                  <a:lnTo>
                    <a:pt x="0" y="1295400"/>
                  </a:lnTo>
                  <a:lnTo>
                    <a:pt x="4172" y="1341981"/>
                  </a:lnTo>
                  <a:lnTo>
                    <a:pt x="16203" y="1385818"/>
                  </a:lnTo>
                  <a:lnTo>
                    <a:pt x="35362" y="1426181"/>
                  </a:lnTo>
                  <a:lnTo>
                    <a:pt x="60918" y="1462339"/>
                  </a:lnTo>
                  <a:lnTo>
                    <a:pt x="92140" y="1493561"/>
                  </a:lnTo>
                  <a:lnTo>
                    <a:pt x="128298" y="1519117"/>
                  </a:lnTo>
                  <a:lnTo>
                    <a:pt x="168661" y="1538276"/>
                  </a:lnTo>
                  <a:lnTo>
                    <a:pt x="212498" y="1550307"/>
                  </a:lnTo>
                  <a:lnTo>
                    <a:pt x="259080" y="1554480"/>
                  </a:lnTo>
                  <a:lnTo>
                    <a:pt x="2346960" y="1554480"/>
                  </a:lnTo>
                  <a:lnTo>
                    <a:pt x="2393541" y="1550307"/>
                  </a:lnTo>
                  <a:lnTo>
                    <a:pt x="2437378" y="1538276"/>
                  </a:lnTo>
                  <a:lnTo>
                    <a:pt x="2477741" y="1519117"/>
                  </a:lnTo>
                  <a:lnTo>
                    <a:pt x="2513899" y="1493561"/>
                  </a:lnTo>
                  <a:lnTo>
                    <a:pt x="2545121" y="1462339"/>
                  </a:lnTo>
                  <a:lnTo>
                    <a:pt x="2570677" y="1426181"/>
                  </a:lnTo>
                  <a:lnTo>
                    <a:pt x="2589836" y="1385818"/>
                  </a:lnTo>
                  <a:lnTo>
                    <a:pt x="2601867" y="1341981"/>
                  </a:lnTo>
                  <a:lnTo>
                    <a:pt x="2606040" y="1295400"/>
                  </a:lnTo>
                  <a:lnTo>
                    <a:pt x="2606040" y="259080"/>
                  </a:lnTo>
                  <a:lnTo>
                    <a:pt x="2601867" y="212498"/>
                  </a:lnTo>
                  <a:lnTo>
                    <a:pt x="2589836" y="168661"/>
                  </a:lnTo>
                  <a:lnTo>
                    <a:pt x="2570677" y="128298"/>
                  </a:lnTo>
                  <a:lnTo>
                    <a:pt x="2545121" y="92140"/>
                  </a:lnTo>
                  <a:lnTo>
                    <a:pt x="2513899" y="60918"/>
                  </a:lnTo>
                  <a:lnTo>
                    <a:pt x="2477741" y="35362"/>
                  </a:lnTo>
                  <a:lnTo>
                    <a:pt x="2437378" y="16203"/>
                  </a:lnTo>
                  <a:lnTo>
                    <a:pt x="2393541" y="4172"/>
                  </a:lnTo>
                  <a:lnTo>
                    <a:pt x="234696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5" name="object 47"/>
            <p:cNvSpPr/>
            <p:nvPr/>
          </p:nvSpPr>
          <p:spPr>
            <a:xfrm>
              <a:off x="9052560" y="3840480"/>
              <a:ext cx="2605680" cy="1554120"/>
            </a:xfrm>
            <a:custGeom>
              <a:avLst/>
              <a:gdLst>
                <a:gd name="textAreaLeft" fmla="*/ 0 w 2605680"/>
                <a:gd name="textAreaRight" fmla="*/ 2606040 w 260568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606040" h="1554479">
                  <a:moveTo>
                    <a:pt x="0" y="259080"/>
                  </a:moveTo>
                  <a:lnTo>
                    <a:pt x="4172" y="212498"/>
                  </a:lnTo>
                  <a:lnTo>
                    <a:pt x="16203" y="168661"/>
                  </a:lnTo>
                  <a:lnTo>
                    <a:pt x="35362" y="128298"/>
                  </a:lnTo>
                  <a:lnTo>
                    <a:pt x="60918" y="92140"/>
                  </a:lnTo>
                  <a:lnTo>
                    <a:pt x="92140" y="60918"/>
                  </a:lnTo>
                  <a:lnTo>
                    <a:pt x="128298" y="35362"/>
                  </a:lnTo>
                  <a:lnTo>
                    <a:pt x="168661" y="16203"/>
                  </a:lnTo>
                  <a:lnTo>
                    <a:pt x="212498" y="4172"/>
                  </a:lnTo>
                  <a:lnTo>
                    <a:pt x="259080" y="0"/>
                  </a:lnTo>
                  <a:lnTo>
                    <a:pt x="2346960" y="0"/>
                  </a:lnTo>
                  <a:lnTo>
                    <a:pt x="2393541" y="4172"/>
                  </a:lnTo>
                  <a:lnTo>
                    <a:pt x="2437378" y="16203"/>
                  </a:lnTo>
                  <a:lnTo>
                    <a:pt x="2477741" y="35362"/>
                  </a:lnTo>
                  <a:lnTo>
                    <a:pt x="2513899" y="60918"/>
                  </a:lnTo>
                  <a:lnTo>
                    <a:pt x="2545121" y="92140"/>
                  </a:lnTo>
                  <a:lnTo>
                    <a:pt x="2570677" y="128298"/>
                  </a:lnTo>
                  <a:lnTo>
                    <a:pt x="2589836" y="168661"/>
                  </a:lnTo>
                  <a:lnTo>
                    <a:pt x="2601867" y="212498"/>
                  </a:lnTo>
                  <a:lnTo>
                    <a:pt x="2606040" y="259080"/>
                  </a:lnTo>
                  <a:lnTo>
                    <a:pt x="2606040" y="1295400"/>
                  </a:lnTo>
                  <a:lnTo>
                    <a:pt x="2601867" y="1341981"/>
                  </a:lnTo>
                  <a:lnTo>
                    <a:pt x="2589836" y="1385818"/>
                  </a:lnTo>
                  <a:lnTo>
                    <a:pt x="2570677" y="1426181"/>
                  </a:lnTo>
                  <a:lnTo>
                    <a:pt x="2545121" y="1462339"/>
                  </a:lnTo>
                  <a:lnTo>
                    <a:pt x="2513899" y="1493561"/>
                  </a:lnTo>
                  <a:lnTo>
                    <a:pt x="2477741" y="1519117"/>
                  </a:lnTo>
                  <a:lnTo>
                    <a:pt x="2437378" y="1538276"/>
                  </a:lnTo>
                  <a:lnTo>
                    <a:pt x="2393541" y="1550307"/>
                  </a:lnTo>
                  <a:lnTo>
                    <a:pt x="2346960" y="1554480"/>
                  </a:lnTo>
                  <a:lnTo>
                    <a:pt x="259080" y="1554480"/>
                  </a:lnTo>
                  <a:lnTo>
                    <a:pt x="212498" y="1550307"/>
                  </a:lnTo>
                  <a:lnTo>
                    <a:pt x="168661" y="1538276"/>
                  </a:lnTo>
                  <a:lnTo>
                    <a:pt x="128298" y="1519117"/>
                  </a:lnTo>
                  <a:lnTo>
                    <a:pt x="92140" y="1493561"/>
                  </a:lnTo>
                  <a:lnTo>
                    <a:pt x="60918" y="1462339"/>
                  </a:lnTo>
                  <a:lnTo>
                    <a:pt x="35362" y="1426181"/>
                  </a:lnTo>
                  <a:lnTo>
                    <a:pt x="16203" y="1385818"/>
                  </a:lnTo>
                  <a:lnTo>
                    <a:pt x="4172" y="1341981"/>
                  </a:lnTo>
                  <a:lnTo>
                    <a:pt x="0" y="1295400"/>
                  </a:lnTo>
                  <a:lnTo>
                    <a:pt x="0" y="25908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76" name="object 48"/>
          <p:cNvSpPr/>
          <p:nvPr/>
        </p:nvSpPr>
        <p:spPr>
          <a:xfrm>
            <a:off x="9318240" y="4311360"/>
            <a:ext cx="19540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79240">
              <a:lnSpc>
                <a:spcPct val="100000"/>
              </a:lnSpc>
              <a:spcBef>
                <a:spcPts val="99"/>
              </a:spcBef>
            </a:pPr>
            <a:r>
              <a:rPr b="1" lang="en-US" sz="1500" spc="-40" strike="noStrike" u="none">
                <a:solidFill>
                  <a:srgbClr val="173e6c"/>
                </a:solidFill>
                <a:uFillTx/>
                <a:latin typeface="Trebuchet MS"/>
              </a:rPr>
              <a:t>Objective</a:t>
            </a:r>
            <a:r>
              <a:rPr b="1" lang="en-US" sz="1500" spc="-10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51" strike="noStrike" u="none">
                <a:solidFill>
                  <a:srgbClr val="173e6c"/>
                </a:solidFill>
                <a:uFillTx/>
                <a:latin typeface="Trebuchet MS"/>
              </a:rPr>
              <a:t>4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"/>
              </a:spcBef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Support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road,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rail,</a:t>
            </a:r>
            <a:r>
              <a:rPr b="0" lang="en-US" sz="12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sea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air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alternatives.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7" name="object 49"/>
          <p:cNvGrpSpPr/>
          <p:nvPr/>
        </p:nvGrpSpPr>
        <p:grpSpPr>
          <a:xfrm>
            <a:off x="9009720" y="3820680"/>
            <a:ext cx="162720" cy="1634760"/>
            <a:chOff x="9009720" y="3820680"/>
            <a:chExt cx="162720" cy="1634760"/>
          </a:xfrm>
        </p:grpSpPr>
        <p:pic>
          <p:nvPicPr>
            <p:cNvPr id="78" name="object 50" descr=""/>
            <p:cNvPicPr/>
            <p:nvPr/>
          </p:nvPicPr>
          <p:blipFill>
            <a:blip r:embed="rId12"/>
            <a:stretch/>
          </p:blipFill>
          <p:spPr>
            <a:xfrm>
              <a:off x="9009720" y="3820680"/>
              <a:ext cx="162720" cy="163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" name="object 51"/>
            <p:cNvSpPr/>
            <p:nvPr/>
          </p:nvSpPr>
          <p:spPr>
            <a:xfrm>
              <a:off x="9052560" y="3840480"/>
              <a:ext cx="82080" cy="1554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82550" h="1554479">
                  <a:moveTo>
                    <a:pt x="82296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82296" y="155448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80" name="object 52"/>
          <p:cNvGrpSpPr/>
          <p:nvPr/>
        </p:nvGrpSpPr>
        <p:grpSpPr>
          <a:xfrm>
            <a:off x="368640" y="6454080"/>
            <a:ext cx="11418840" cy="98640"/>
            <a:chOff x="368640" y="6454080"/>
            <a:chExt cx="11418840" cy="98640"/>
          </a:xfrm>
        </p:grpSpPr>
        <p:pic>
          <p:nvPicPr>
            <p:cNvPr id="81" name="object 53" descr=""/>
            <p:cNvPicPr/>
            <p:nvPr/>
          </p:nvPicPr>
          <p:blipFill>
            <a:blip r:embed="rId13"/>
            <a:stretch/>
          </p:blipFill>
          <p:spPr>
            <a:xfrm>
              <a:off x="368640" y="6454080"/>
              <a:ext cx="11418840" cy="98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object 54"/>
            <p:cNvSpPr/>
            <p:nvPr/>
          </p:nvSpPr>
          <p:spPr>
            <a:xfrm>
              <a:off x="411480" y="6473880"/>
              <a:ext cx="11338200" cy="18000"/>
            </a:xfrm>
            <a:custGeom>
              <a:avLst/>
              <a:gdLst>
                <a:gd name="textAreaLeft" fmla="*/ 0 w 11338200"/>
                <a:gd name="textAreaRight" fmla="*/ 11338560 w 11338200"/>
                <a:gd name="textAreaTop" fmla="*/ 0 h 18000"/>
                <a:gd name="textAreaBottom" fmla="*/ 18360 h 18000"/>
              </a:gdLst>
              <a:ahLst/>
              <a:rect l="textAreaLeft" t="textAreaTop" r="textAreaRight" b="textAreaBottom"/>
              <a:pathLst>
                <a:path w="11338560" h="18414">
                  <a:moveTo>
                    <a:pt x="1133856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1338560" y="18288"/>
                  </a:lnTo>
                  <a:lnTo>
                    <a:pt x="11338560" y="0"/>
                  </a:lnTo>
                  <a:close/>
                </a:path>
              </a:pathLst>
            </a:custGeom>
            <a:solidFill>
              <a:srgbClr val="c3d2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object 2" descr=""/>
          <p:cNvPicPr/>
          <p:nvPr/>
        </p:nvPicPr>
        <p:blipFill>
          <a:blip r:embed="rId1"/>
          <a:stretch/>
        </p:blipFill>
        <p:spPr>
          <a:xfrm>
            <a:off x="369000" y="304920"/>
            <a:ext cx="11822400" cy="647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object 2" descr=""/>
          <p:cNvPicPr/>
          <p:nvPr/>
        </p:nvPicPr>
        <p:blipFill>
          <a:blip r:embed="rId1"/>
          <a:stretch/>
        </p:blipFill>
        <p:spPr>
          <a:xfrm>
            <a:off x="0" y="255600"/>
            <a:ext cx="11977200" cy="65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2" descr=""/>
          <p:cNvPicPr/>
          <p:nvPr/>
        </p:nvPicPr>
        <p:blipFill>
          <a:blip r:embed="rId1"/>
          <a:stretch/>
        </p:blipFill>
        <p:spPr>
          <a:xfrm>
            <a:off x="3240" y="0"/>
            <a:ext cx="121852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2"/>
          <p:cNvSpPr/>
          <p:nvPr/>
        </p:nvSpPr>
        <p:spPr>
          <a:xfrm>
            <a:off x="490320" y="118440"/>
            <a:ext cx="857736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SIMATS</a:t>
            </a:r>
            <a:r>
              <a:rPr b="1" lang="en-US" sz="1500" spc="-79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ENGINEERING</a:t>
            </a:r>
            <a:r>
              <a:rPr b="1" lang="en-US" sz="1500" spc="371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•</a:t>
            </a:r>
            <a:r>
              <a:rPr b="1" lang="en-US" sz="1500" spc="3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rgbClr val="ffffff"/>
                </a:solidFill>
                <a:uFillTx/>
                <a:latin typeface="Trebuchet MS"/>
              </a:rPr>
              <a:t>LOGISTICS</a:t>
            </a:r>
            <a:r>
              <a:rPr b="1" lang="en-US" sz="1500" spc="-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400" spc="-60" strike="noStrike" u="none">
                <a:solidFill>
                  <a:schemeClr val="lt1"/>
                </a:solidFill>
                <a:uFillTx/>
                <a:latin typeface="Trebuchet MS"/>
              </a:rPr>
              <a:t>A</a:t>
            </a:r>
            <a:r>
              <a:rPr b="1" lang="en-IN" sz="1400" strike="noStrike" u="none">
                <a:solidFill>
                  <a:schemeClr val="lt1"/>
                </a:solidFill>
                <a:uFillTx/>
                <a:latin typeface="Trebuchet MS"/>
              </a:rPr>
              <a:t>ND</a:t>
            </a:r>
            <a:r>
              <a:rPr b="1" lang="en-IN" sz="1500" spc="-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rgbClr val="ffffff"/>
                </a:solidFill>
                <a:uFillTx/>
                <a:latin typeface="Trebuchet MS"/>
              </a:rPr>
              <a:t>SUPPLY</a:t>
            </a:r>
            <a:r>
              <a:rPr b="1" lang="en-IN" sz="1500" spc="-51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pc="51" strike="noStrike" u="none">
                <a:solidFill>
                  <a:srgbClr val="ffffff"/>
                </a:solidFill>
                <a:uFillTx/>
                <a:latin typeface="Trebuchet MS"/>
              </a:rPr>
              <a:t>CHAIN</a:t>
            </a:r>
            <a:r>
              <a:rPr b="1" lang="en-IN" sz="1500" spc="-51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rgbClr val="ffffff"/>
                </a:solidFill>
                <a:uFillTx/>
                <a:latin typeface="Trebuchet MS"/>
              </a:rPr>
              <a:t>CARBON</a:t>
            </a:r>
            <a:r>
              <a:rPr b="1" lang="en-IN" sz="1500" spc="-45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pc="-31" strike="noStrike" u="none">
                <a:solidFill>
                  <a:srgbClr val="ffffff"/>
                </a:solidFill>
                <a:uFillTx/>
                <a:latin typeface="Trebuchet MS"/>
              </a:rPr>
              <a:t>FOOTPRINT</a:t>
            </a:r>
            <a:r>
              <a:rPr b="1" lang="en-IN" sz="1500" spc="-34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rgbClr val="ffffff"/>
                </a:solidFill>
                <a:uFillTx/>
                <a:latin typeface="Trebuchet MS"/>
              </a:rPr>
              <a:t>TRACKING</a:t>
            </a:r>
            <a:r>
              <a:rPr b="1" lang="en-IN" sz="1500" spc="-60" strike="noStrike" u="none">
                <a:solidFill>
                  <a:srgbClr val="ffffff"/>
                </a:solidFill>
                <a:uFillTx/>
                <a:latin typeface="Trebuchet MS"/>
              </a:rPr>
              <a:t> </a:t>
            </a:r>
            <a:r>
              <a:rPr b="1" lang="en-IN" sz="1500" spc="-11" strike="noStrike" u="none">
                <a:solidFill>
                  <a:srgbClr val="ffffff"/>
                </a:solidFill>
                <a:uFillTx/>
                <a:latin typeface="Trebuchet MS"/>
              </a:rPr>
              <a:t>SYSTEM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36040" y="1104480"/>
            <a:ext cx="6702840" cy="443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700" spc="-176" strike="noStrike" u="none">
                <a:solidFill>
                  <a:srgbClr val="173e6c"/>
                </a:solidFill>
                <a:uFillTx/>
                <a:latin typeface="Trebuchet MS"/>
              </a:rPr>
              <a:t>Project</a:t>
            </a:r>
            <a:r>
              <a:rPr b="1" lang="en-US" sz="2700" spc="-264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700" spc="-54" strike="noStrike" u="none">
                <a:solidFill>
                  <a:srgbClr val="173e6c"/>
                </a:solidFill>
                <a:uFillTx/>
                <a:latin typeface="Trebuchet MS"/>
              </a:rPr>
              <a:t>Scope</a:t>
            </a:r>
            <a:r>
              <a:rPr b="1" lang="en-US" sz="2700" spc="-244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IN" sz="2800" strike="noStrike" u="none">
                <a:solidFill>
                  <a:schemeClr val="dk2">
                    <a:lumMod val="75000"/>
                  </a:schemeClr>
                </a:solidFill>
                <a:uFillTx/>
                <a:latin typeface="Trebuchet MS"/>
              </a:rPr>
              <a:t>and</a:t>
            </a:r>
            <a:r>
              <a:rPr b="1" lang="en-IN" sz="280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2700" spc="-139" strike="noStrike" u="none">
                <a:solidFill>
                  <a:srgbClr val="173e6c"/>
                </a:solidFill>
                <a:uFillTx/>
                <a:latin typeface="Trebuchet MS"/>
              </a:rPr>
              <a:t>Functional</a:t>
            </a:r>
            <a:r>
              <a:rPr b="1" lang="en-IN" sz="2700" spc="-25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IN" sz="2700" spc="-99" strike="noStrike" u="none">
                <a:solidFill>
                  <a:srgbClr val="173e6c"/>
                </a:solidFill>
                <a:uFillTx/>
                <a:latin typeface="Trebuchet MS"/>
              </a:rPr>
              <a:t>Requirements</a:t>
            </a:r>
            <a:endParaRPr b="0" lang="en-US" sz="27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88" name="object 4"/>
          <p:cNvGrpSpPr/>
          <p:nvPr/>
        </p:nvGrpSpPr>
        <p:grpSpPr>
          <a:xfrm>
            <a:off x="452520" y="1711440"/>
            <a:ext cx="3753360" cy="4254480"/>
            <a:chOff x="452520" y="1711440"/>
            <a:chExt cx="3753360" cy="4254480"/>
          </a:xfrm>
        </p:grpSpPr>
        <p:pic>
          <p:nvPicPr>
            <p:cNvPr id="89" name="object 5" descr=""/>
            <p:cNvPicPr/>
            <p:nvPr/>
          </p:nvPicPr>
          <p:blipFill>
            <a:blip r:embed="rId1"/>
            <a:stretch/>
          </p:blipFill>
          <p:spPr>
            <a:xfrm>
              <a:off x="452520" y="1711440"/>
              <a:ext cx="3753360" cy="4254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" name="object 6"/>
            <p:cNvSpPr/>
            <p:nvPr/>
          </p:nvSpPr>
          <p:spPr>
            <a:xfrm>
              <a:off x="502920" y="1737360"/>
              <a:ext cx="3657240" cy="4160160"/>
            </a:xfrm>
            <a:custGeom>
              <a:avLst/>
              <a:gdLst>
                <a:gd name="textAreaLeft" fmla="*/ 0 w 3657240"/>
                <a:gd name="textAreaRight" fmla="*/ 3657600 w 365724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3657600" h="4160520">
                  <a:moveTo>
                    <a:pt x="3048000" y="0"/>
                  </a:moveTo>
                  <a:lnTo>
                    <a:pt x="609612" y="0"/>
                  </a:lnTo>
                  <a:lnTo>
                    <a:pt x="561972" y="1834"/>
                  </a:lnTo>
                  <a:lnTo>
                    <a:pt x="515334" y="7245"/>
                  </a:lnTo>
                  <a:lnTo>
                    <a:pt x="469834" y="16099"/>
                  </a:lnTo>
                  <a:lnTo>
                    <a:pt x="425609" y="28260"/>
                  </a:lnTo>
                  <a:lnTo>
                    <a:pt x="382793" y="43592"/>
                  </a:lnTo>
                  <a:lnTo>
                    <a:pt x="341521" y="61959"/>
                  </a:lnTo>
                  <a:lnTo>
                    <a:pt x="301930" y="83227"/>
                  </a:lnTo>
                  <a:lnTo>
                    <a:pt x="264155" y="107259"/>
                  </a:lnTo>
                  <a:lnTo>
                    <a:pt x="228332" y="133920"/>
                  </a:lnTo>
                  <a:lnTo>
                    <a:pt x="194595" y="163075"/>
                  </a:lnTo>
                  <a:lnTo>
                    <a:pt x="163081" y="194588"/>
                  </a:lnTo>
                  <a:lnTo>
                    <a:pt x="133925" y="228324"/>
                  </a:lnTo>
                  <a:lnTo>
                    <a:pt x="107263" y="264147"/>
                  </a:lnTo>
                  <a:lnTo>
                    <a:pt x="83230" y="301921"/>
                  </a:lnTo>
                  <a:lnTo>
                    <a:pt x="61962" y="341511"/>
                  </a:lnTo>
                  <a:lnTo>
                    <a:pt x="43594" y="382782"/>
                  </a:lnTo>
                  <a:lnTo>
                    <a:pt x="28261" y="425597"/>
                  </a:lnTo>
                  <a:lnTo>
                    <a:pt x="16100" y="469822"/>
                  </a:lnTo>
                  <a:lnTo>
                    <a:pt x="7246" y="515322"/>
                  </a:lnTo>
                  <a:lnTo>
                    <a:pt x="1834" y="561959"/>
                  </a:lnTo>
                  <a:lnTo>
                    <a:pt x="0" y="609600"/>
                  </a:lnTo>
                  <a:lnTo>
                    <a:pt x="0" y="3550920"/>
                  </a:lnTo>
                  <a:lnTo>
                    <a:pt x="1834" y="3598558"/>
                  </a:lnTo>
                  <a:lnTo>
                    <a:pt x="7246" y="3645194"/>
                  </a:lnTo>
                  <a:lnTo>
                    <a:pt x="16100" y="3690693"/>
                  </a:lnTo>
                  <a:lnTo>
                    <a:pt x="28261" y="3734917"/>
                  </a:lnTo>
                  <a:lnTo>
                    <a:pt x="43594" y="3777732"/>
                  </a:lnTo>
                  <a:lnTo>
                    <a:pt x="61962" y="3819002"/>
                  </a:lnTo>
                  <a:lnTo>
                    <a:pt x="83230" y="3858593"/>
                  </a:lnTo>
                  <a:lnTo>
                    <a:pt x="107263" y="3896367"/>
                  </a:lnTo>
                  <a:lnTo>
                    <a:pt x="133925" y="3932190"/>
                  </a:lnTo>
                  <a:lnTo>
                    <a:pt x="163081" y="3965926"/>
                  </a:lnTo>
                  <a:lnTo>
                    <a:pt x="194595" y="3997439"/>
                  </a:lnTo>
                  <a:lnTo>
                    <a:pt x="228332" y="4026595"/>
                  </a:lnTo>
                  <a:lnTo>
                    <a:pt x="264155" y="4053256"/>
                  </a:lnTo>
                  <a:lnTo>
                    <a:pt x="301930" y="4077289"/>
                  </a:lnTo>
                  <a:lnTo>
                    <a:pt x="341521" y="4098558"/>
                  </a:lnTo>
                  <a:lnTo>
                    <a:pt x="382793" y="4116926"/>
                  </a:lnTo>
                  <a:lnTo>
                    <a:pt x="425609" y="4132258"/>
                  </a:lnTo>
                  <a:lnTo>
                    <a:pt x="469834" y="4144419"/>
                  </a:lnTo>
                  <a:lnTo>
                    <a:pt x="515334" y="4153273"/>
                  </a:lnTo>
                  <a:lnTo>
                    <a:pt x="561972" y="4158685"/>
                  </a:lnTo>
                  <a:lnTo>
                    <a:pt x="609612" y="4160520"/>
                  </a:lnTo>
                  <a:lnTo>
                    <a:pt x="3048000" y="4160520"/>
                  </a:lnTo>
                  <a:lnTo>
                    <a:pt x="3095640" y="4158685"/>
                  </a:lnTo>
                  <a:lnTo>
                    <a:pt x="3142277" y="4153273"/>
                  </a:lnTo>
                  <a:lnTo>
                    <a:pt x="3187777" y="4144419"/>
                  </a:lnTo>
                  <a:lnTo>
                    <a:pt x="3232002" y="4132258"/>
                  </a:lnTo>
                  <a:lnTo>
                    <a:pt x="3274817" y="4116926"/>
                  </a:lnTo>
                  <a:lnTo>
                    <a:pt x="3316088" y="4098558"/>
                  </a:lnTo>
                  <a:lnTo>
                    <a:pt x="3355678" y="4077289"/>
                  </a:lnTo>
                  <a:lnTo>
                    <a:pt x="3393452" y="4053256"/>
                  </a:lnTo>
                  <a:lnTo>
                    <a:pt x="3429275" y="4026595"/>
                  </a:lnTo>
                  <a:lnTo>
                    <a:pt x="3463011" y="3997439"/>
                  </a:lnTo>
                  <a:lnTo>
                    <a:pt x="3494524" y="3965926"/>
                  </a:lnTo>
                  <a:lnTo>
                    <a:pt x="3523679" y="3932190"/>
                  </a:lnTo>
                  <a:lnTo>
                    <a:pt x="3550340" y="3896367"/>
                  </a:lnTo>
                  <a:lnTo>
                    <a:pt x="3574372" y="3858593"/>
                  </a:lnTo>
                  <a:lnTo>
                    <a:pt x="3595640" y="3819002"/>
                  </a:lnTo>
                  <a:lnTo>
                    <a:pt x="3614007" y="3777732"/>
                  </a:lnTo>
                  <a:lnTo>
                    <a:pt x="3629339" y="3734917"/>
                  </a:lnTo>
                  <a:lnTo>
                    <a:pt x="3641500" y="3690693"/>
                  </a:lnTo>
                  <a:lnTo>
                    <a:pt x="3650354" y="3645194"/>
                  </a:lnTo>
                  <a:lnTo>
                    <a:pt x="3655765" y="3598558"/>
                  </a:lnTo>
                  <a:lnTo>
                    <a:pt x="3657600" y="3550920"/>
                  </a:lnTo>
                  <a:lnTo>
                    <a:pt x="3657600" y="609600"/>
                  </a:lnTo>
                  <a:lnTo>
                    <a:pt x="3655765" y="561959"/>
                  </a:lnTo>
                  <a:lnTo>
                    <a:pt x="3650354" y="515322"/>
                  </a:lnTo>
                  <a:lnTo>
                    <a:pt x="3641500" y="469822"/>
                  </a:lnTo>
                  <a:lnTo>
                    <a:pt x="3629339" y="425597"/>
                  </a:lnTo>
                  <a:lnTo>
                    <a:pt x="3614007" y="382782"/>
                  </a:lnTo>
                  <a:lnTo>
                    <a:pt x="3595640" y="341511"/>
                  </a:lnTo>
                  <a:lnTo>
                    <a:pt x="3574372" y="301921"/>
                  </a:lnTo>
                  <a:lnTo>
                    <a:pt x="3550340" y="264147"/>
                  </a:lnTo>
                  <a:lnTo>
                    <a:pt x="3523679" y="228324"/>
                  </a:lnTo>
                  <a:lnTo>
                    <a:pt x="3494524" y="194588"/>
                  </a:lnTo>
                  <a:lnTo>
                    <a:pt x="3463011" y="163075"/>
                  </a:lnTo>
                  <a:lnTo>
                    <a:pt x="3429275" y="133920"/>
                  </a:lnTo>
                  <a:lnTo>
                    <a:pt x="3393452" y="107259"/>
                  </a:lnTo>
                  <a:lnTo>
                    <a:pt x="3355678" y="83227"/>
                  </a:lnTo>
                  <a:lnTo>
                    <a:pt x="3316088" y="61959"/>
                  </a:lnTo>
                  <a:lnTo>
                    <a:pt x="3274817" y="43592"/>
                  </a:lnTo>
                  <a:lnTo>
                    <a:pt x="3232002" y="28260"/>
                  </a:lnTo>
                  <a:lnTo>
                    <a:pt x="3187777" y="16099"/>
                  </a:lnTo>
                  <a:lnTo>
                    <a:pt x="3142277" y="7245"/>
                  </a:lnTo>
                  <a:lnTo>
                    <a:pt x="3095640" y="1834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1" name="object 7"/>
            <p:cNvSpPr/>
            <p:nvPr/>
          </p:nvSpPr>
          <p:spPr>
            <a:xfrm>
              <a:off x="502920" y="1737360"/>
              <a:ext cx="3657240" cy="4160160"/>
            </a:xfrm>
            <a:custGeom>
              <a:avLst/>
              <a:gdLst>
                <a:gd name="textAreaLeft" fmla="*/ 0 w 3657240"/>
                <a:gd name="textAreaRight" fmla="*/ 3657600 w 365724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3657600" h="4160520">
                  <a:moveTo>
                    <a:pt x="0" y="609600"/>
                  </a:moveTo>
                  <a:lnTo>
                    <a:pt x="1834" y="561959"/>
                  </a:lnTo>
                  <a:lnTo>
                    <a:pt x="7246" y="515322"/>
                  </a:lnTo>
                  <a:lnTo>
                    <a:pt x="16100" y="469822"/>
                  </a:lnTo>
                  <a:lnTo>
                    <a:pt x="28261" y="425597"/>
                  </a:lnTo>
                  <a:lnTo>
                    <a:pt x="43594" y="382782"/>
                  </a:lnTo>
                  <a:lnTo>
                    <a:pt x="61962" y="341511"/>
                  </a:lnTo>
                  <a:lnTo>
                    <a:pt x="83230" y="301921"/>
                  </a:lnTo>
                  <a:lnTo>
                    <a:pt x="107263" y="264147"/>
                  </a:lnTo>
                  <a:lnTo>
                    <a:pt x="133925" y="228324"/>
                  </a:lnTo>
                  <a:lnTo>
                    <a:pt x="163081" y="194588"/>
                  </a:lnTo>
                  <a:lnTo>
                    <a:pt x="194595" y="163075"/>
                  </a:lnTo>
                  <a:lnTo>
                    <a:pt x="228332" y="133920"/>
                  </a:lnTo>
                  <a:lnTo>
                    <a:pt x="264155" y="107259"/>
                  </a:lnTo>
                  <a:lnTo>
                    <a:pt x="301930" y="83227"/>
                  </a:lnTo>
                  <a:lnTo>
                    <a:pt x="341521" y="61959"/>
                  </a:lnTo>
                  <a:lnTo>
                    <a:pt x="382793" y="43592"/>
                  </a:lnTo>
                  <a:lnTo>
                    <a:pt x="425609" y="28260"/>
                  </a:lnTo>
                  <a:lnTo>
                    <a:pt x="469834" y="16099"/>
                  </a:lnTo>
                  <a:lnTo>
                    <a:pt x="515334" y="7245"/>
                  </a:lnTo>
                  <a:lnTo>
                    <a:pt x="561972" y="1834"/>
                  </a:lnTo>
                  <a:lnTo>
                    <a:pt x="609612" y="0"/>
                  </a:lnTo>
                  <a:lnTo>
                    <a:pt x="3048000" y="0"/>
                  </a:lnTo>
                  <a:lnTo>
                    <a:pt x="3095640" y="1834"/>
                  </a:lnTo>
                  <a:lnTo>
                    <a:pt x="3142277" y="7245"/>
                  </a:lnTo>
                  <a:lnTo>
                    <a:pt x="3187777" y="16099"/>
                  </a:lnTo>
                  <a:lnTo>
                    <a:pt x="3232002" y="28260"/>
                  </a:lnTo>
                  <a:lnTo>
                    <a:pt x="3274817" y="43592"/>
                  </a:lnTo>
                  <a:lnTo>
                    <a:pt x="3316088" y="61959"/>
                  </a:lnTo>
                  <a:lnTo>
                    <a:pt x="3355678" y="83227"/>
                  </a:lnTo>
                  <a:lnTo>
                    <a:pt x="3393452" y="107259"/>
                  </a:lnTo>
                  <a:lnTo>
                    <a:pt x="3429275" y="133920"/>
                  </a:lnTo>
                  <a:lnTo>
                    <a:pt x="3463011" y="163075"/>
                  </a:lnTo>
                  <a:lnTo>
                    <a:pt x="3494524" y="194588"/>
                  </a:lnTo>
                  <a:lnTo>
                    <a:pt x="3523679" y="228324"/>
                  </a:lnTo>
                  <a:lnTo>
                    <a:pt x="3550340" y="264147"/>
                  </a:lnTo>
                  <a:lnTo>
                    <a:pt x="3574372" y="301921"/>
                  </a:lnTo>
                  <a:lnTo>
                    <a:pt x="3595640" y="341511"/>
                  </a:lnTo>
                  <a:lnTo>
                    <a:pt x="3614007" y="382782"/>
                  </a:lnTo>
                  <a:lnTo>
                    <a:pt x="3629339" y="425597"/>
                  </a:lnTo>
                  <a:lnTo>
                    <a:pt x="3641500" y="469822"/>
                  </a:lnTo>
                  <a:lnTo>
                    <a:pt x="3650354" y="515322"/>
                  </a:lnTo>
                  <a:lnTo>
                    <a:pt x="3655765" y="561959"/>
                  </a:lnTo>
                  <a:lnTo>
                    <a:pt x="3657600" y="609600"/>
                  </a:lnTo>
                  <a:lnTo>
                    <a:pt x="3657600" y="3550920"/>
                  </a:lnTo>
                  <a:lnTo>
                    <a:pt x="3655765" y="3598558"/>
                  </a:lnTo>
                  <a:lnTo>
                    <a:pt x="3650354" y="3645194"/>
                  </a:lnTo>
                  <a:lnTo>
                    <a:pt x="3641500" y="3690693"/>
                  </a:lnTo>
                  <a:lnTo>
                    <a:pt x="3629339" y="3734917"/>
                  </a:lnTo>
                  <a:lnTo>
                    <a:pt x="3614007" y="3777732"/>
                  </a:lnTo>
                  <a:lnTo>
                    <a:pt x="3595640" y="3819002"/>
                  </a:lnTo>
                  <a:lnTo>
                    <a:pt x="3574372" y="3858593"/>
                  </a:lnTo>
                  <a:lnTo>
                    <a:pt x="3550340" y="3896367"/>
                  </a:lnTo>
                  <a:lnTo>
                    <a:pt x="3523679" y="3932190"/>
                  </a:lnTo>
                  <a:lnTo>
                    <a:pt x="3494524" y="3965926"/>
                  </a:lnTo>
                  <a:lnTo>
                    <a:pt x="3463011" y="3997439"/>
                  </a:lnTo>
                  <a:lnTo>
                    <a:pt x="3429275" y="4026595"/>
                  </a:lnTo>
                  <a:lnTo>
                    <a:pt x="3393452" y="4053256"/>
                  </a:lnTo>
                  <a:lnTo>
                    <a:pt x="3355678" y="4077289"/>
                  </a:lnTo>
                  <a:lnTo>
                    <a:pt x="3316088" y="4098558"/>
                  </a:lnTo>
                  <a:lnTo>
                    <a:pt x="3274817" y="4116926"/>
                  </a:lnTo>
                  <a:lnTo>
                    <a:pt x="3232002" y="4132258"/>
                  </a:lnTo>
                  <a:lnTo>
                    <a:pt x="3187777" y="4144419"/>
                  </a:lnTo>
                  <a:lnTo>
                    <a:pt x="3142277" y="4153273"/>
                  </a:lnTo>
                  <a:lnTo>
                    <a:pt x="3095640" y="4158685"/>
                  </a:lnTo>
                  <a:lnTo>
                    <a:pt x="3048000" y="4160520"/>
                  </a:lnTo>
                  <a:lnTo>
                    <a:pt x="609612" y="4160520"/>
                  </a:lnTo>
                  <a:lnTo>
                    <a:pt x="561972" y="4158685"/>
                  </a:lnTo>
                  <a:lnTo>
                    <a:pt x="515334" y="4153273"/>
                  </a:lnTo>
                  <a:lnTo>
                    <a:pt x="469834" y="4144419"/>
                  </a:lnTo>
                  <a:lnTo>
                    <a:pt x="425609" y="4132258"/>
                  </a:lnTo>
                  <a:lnTo>
                    <a:pt x="382793" y="4116926"/>
                  </a:lnTo>
                  <a:lnTo>
                    <a:pt x="341521" y="4098558"/>
                  </a:lnTo>
                  <a:lnTo>
                    <a:pt x="301930" y="4077289"/>
                  </a:lnTo>
                  <a:lnTo>
                    <a:pt x="264155" y="4053256"/>
                  </a:lnTo>
                  <a:lnTo>
                    <a:pt x="228332" y="4026595"/>
                  </a:lnTo>
                  <a:lnTo>
                    <a:pt x="194595" y="3997439"/>
                  </a:lnTo>
                  <a:lnTo>
                    <a:pt x="163081" y="3965926"/>
                  </a:lnTo>
                  <a:lnTo>
                    <a:pt x="133925" y="3932190"/>
                  </a:lnTo>
                  <a:lnTo>
                    <a:pt x="107263" y="3896367"/>
                  </a:lnTo>
                  <a:lnTo>
                    <a:pt x="83230" y="3858593"/>
                  </a:lnTo>
                  <a:lnTo>
                    <a:pt x="61962" y="3819002"/>
                  </a:lnTo>
                  <a:lnTo>
                    <a:pt x="43594" y="3777732"/>
                  </a:lnTo>
                  <a:lnTo>
                    <a:pt x="28261" y="3734917"/>
                  </a:lnTo>
                  <a:lnTo>
                    <a:pt x="16100" y="3690693"/>
                  </a:lnTo>
                  <a:lnTo>
                    <a:pt x="7246" y="3645194"/>
                  </a:lnTo>
                  <a:lnTo>
                    <a:pt x="1834" y="3598558"/>
                  </a:lnTo>
                  <a:lnTo>
                    <a:pt x="0" y="3550920"/>
                  </a:lnTo>
                  <a:lnTo>
                    <a:pt x="0" y="60960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92" name="object 8"/>
          <p:cNvSpPr/>
          <p:nvPr/>
        </p:nvSpPr>
        <p:spPr>
          <a:xfrm>
            <a:off x="870120" y="2459880"/>
            <a:ext cx="2703960" cy="28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67400">
              <a:lnSpc>
                <a:spcPct val="100000"/>
              </a:lnSpc>
              <a:spcBef>
                <a:spcPts val="99"/>
              </a:spcBef>
            </a:pPr>
            <a:r>
              <a:rPr b="1" lang="en-US" sz="1500" strike="noStrike" u="none">
                <a:solidFill>
                  <a:srgbClr val="173e6c"/>
                </a:solidFill>
                <a:uFillTx/>
                <a:latin typeface="Trebuchet MS"/>
              </a:rPr>
              <a:t>IN</a:t>
            </a:r>
            <a:r>
              <a:rPr b="1" lang="en-US" sz="1500" spc="-60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51" strike="noStrike" u="none">
                <a:solidFill>
                  <a:srgbClr val="173e6c"/>
                </a:solidFill>
                <a:uFillTx/>
                <a:latin typeface="Trebuchet MS"/>
              </a:rPr>
              <a:t>SCOPE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20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Shipment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record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management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8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Road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/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rail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/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sea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/</a:t>
            </a:r>
            <a:r>
              <a:rPr b="0" lang="en-US" sz="12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air</a:t>
            </a:r>
            <a:r>
              <a:rPr b="0" lang="en-US" sz="1200" spc="-1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transport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modes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0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Pre-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dispatch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carbon</a:t>
            </a:r>
            <a:r>
              <a:rPr b="0" lang="en-US" sz="1200" spc="-6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estimation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indent="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Route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optimization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intermodal evaluation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5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Emission-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factor</a:t>
            </a:r>
            <a:r>
              <a:rPr b="0" lang="en-US" sz="120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processing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0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CRUD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operations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Binary</a:t>
            </a:r>
            <a:r>
              <a:rPr b="0" lang="en-US" sz="12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/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CSV</a:t>
            </a:r>
            <a:r>
              <a:rPr b="0" lang="en-US" sz="12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persistence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8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Offline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execution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Role-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based</a:t>
            </a:r>
            <a:r>
              <a:rPr b="0" lang="en-US" sz="120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access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45" strike="noStrike" u="none">
                <a:solidFill>
                  <a:srgbClr val="1c2837"/>
                </a:solidFill>
                <a:uFillTx/>
                <a:latin typeface="Tahoma"/>
              </a:rPr>
              <a:t>Input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validation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2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exception</a:t>
            </a:r>
            <a:r>
              <a:rPr b="0" lang="en-US" sz="1200" spc="-1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handling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93" name="object 9"/>
          <p:cNvGrpSpPr/>
          <p:nvPr/>
        </p:nvGrpSpPr>
        <p:grpSpPr>
          <a:xfrm>
            <a:off x="460080" y="1717560"/>
            <a:ext cx="162720" cy="4240800"/>
            <a:chOff x="460080" y="1717560"/>
            <a:chExt cx="162720" cy="4240800"/>
          </a:xfrm>
        </p:grpSpPr>
        <p:pic>
          <p:nvPicPr>
            <p:cNvPr id="94" name="object 10" descr=""/>
            <p:cNvPicPr/>
            <p:nvPr/>
          </p:nvPicPr>
          <p:blipFill>
            <a:blip r:embed="rId2"/>
            <a:stretch/>
          </p:blipFill>
          <p:spPr>
            <a:xfrm>
              <a:off x="460080" y="1717560"/>
              <a:ext cx="162720" cy="424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object 11"/>
            <p:cNvSpPr/>
            <p:nvPr/>
          </p:nvSpPr>
          <p:spPr>
            <a:xfrm>
              <a:off x="502920" y="1737360"/>
              <a:ext cx="82080" cy="416016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82550" h="4160520">
                  <a:moveTo>
                    <a:pt x="82295" y="0"/>
                  </a:moveTo>
                  <a:lnTo>
                    <a:pt x="0" y="0"/>
                  </a:lnTo>
                  <a:lnTo>
                    <a:pt x="0" y="4160520"/>
                  </a:lnTo>
                  <a:lnTo>
                    <a:pt x="82295" y="4160520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96" name="object 12"/>
          <p:cNvGrpSpPr/>
          <p:nvPr/>
        </p:nvGrpSpPr>
        <p:grpSpPr>
          <a:xfrm>
            <a:off x="4320720" y="1711440"/>
            <a:ext cx="3661920" cy="4254480"/>
            <a:chOff x="4320720" y="1711440"/>
            <a:chExt cx="3661920" cy="4254480"/>
          </a:xfrm>
        </p:grpSpPr>
        <p:pic>
          <p:nvPicPr>
            <p:cNvPr id="97" name="object 13" descr=""/>
            <p:cNvPicPr/>
            <p:nvPr/>
          </p:nvPicPr>
          <p:blipFill>
            <a:blip r:embed="rId3"/>
            <a:stretch/>
          </p:blipFill>
          <p:spPr>
            <a:xfrm>
              <a:off x="4320720" y="1711440"/>
              <a:ext cx="3661920" cy="4254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8" name="object 14"/>
            <p:cNvSpPr/>
            <p:nvPr/>
          </p:nvSpPr>
          <p:spPr>
            <a:xfrm>
              <a:off x="4370760" y="1737360"/>
              <a:ext cx="3565800" cy="4160160"/>
            </a:xfrm>
            <a:custGeom>
              <a:avLst/>
              <a:gdLst>
                <a:gd name="textAreaLeft" fmla="*/ 0 w 3565800"/>
                <a:gd name="textAreaRight" fmla="*/ 3566160 w 356580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3566159" h="4160520">
                  <a:moveTo>
                    <a:pt x="2971799" y="0"/>
                  </a:moveTo>
                  <a:lnTo>
                    <a:pt x="594359" y="0"/>
                  </a:lnTo>
                  <a:lnTo>
                    <a:pt x="545607" y="1970"/>
                  </a:lnTo>
                  <a:lnTo>
                    <a:pt x="497942" y="7778"/>
                  </a:lnTo>
                  <a:lnTo>
                    <a:pt x="451515" y="17271"/>
                  </a:lnTo>
                  <a:lnTo>
                    <a:pt x="406481" y="30297"/>
                  </a:lnTo>
                  <a:lnTo>
                    <a:pt x="362991" y="46702"/>
                  </a:lnTo>
                  <a:lnTo>
                    <a:pt x="321200" y="66334"/>
                  </a:lnTo>
                  <a:lnTo>
                    <a:pt x="281259" y="89039"/>
                  </a:lnTo>
                  <a:lnTo>
                    <a:pt x="243321" y="114665"/>
                  </a:lnTo>
                  <a:lnTo>
                    <a:pt x="207540" y="143060"/>
                  </a:lnTo>
                  <a:lnTo>
                    <a:pt x="174069" y="174069"/>
                  </a:lnTo>
                  <a:lnTo>
                    <a:pt x="143060" y="207540"/>
                  </a:lnTo>
                  <a:lnTo>
                    <a:pt x="114665" y="243321"/>
                  </a:lnTo>
                  <a:lnTo>
                    <a:pt x="89039" y="281259"/>
                  </a:lnTo>
                  <a:lnTo>
                    <a:pt x="66334" y="321200"/>
                  </a:lnTo>
                  <a:lnTo>
                    <a:pt x="46702" y="362991"/>
                  </a:lnTo>
                  <a:lnTo>
                    <a:pt x="30297" y="406481"/>
                  </a:lnTo>
                  <a:lnTo>
                    <a:pt x="17271" y="451515"/>
                  </a:lnTo>
                  <a:lnTo>
                    <a:pt x="7778" y="497942"/>
                  </a:lnTo>
                  <a:lnTo>
                    <a:pt x="1970" y="545607"/>
                  </a:lnTo>
                  <a:lnTo>
                    <a:pt x="0" y="594360"/>
                  </a:lnTo>
                  <a:lnTo>
                    <a:pt x="0" y="3566159"/>
                  </a:lnTo>
                  <a:lnTo>
                    <a:pt x="1970" y="3614906"/>
                  </a:lnTo>
                  <a:lnTo>
                    <a:pt x="7778" y="3662568"/>
                  </a:lnTo>
                  <a:lnTo>
                    <a:pt x="17271" y="3708991"/>
                  </a:lnTo>
                  <a:lnTo>
                    <a:pt x="30297" y="3754024"/>
                  </a:lnTo>
                  <a:lnTo>
                    <a:pt x="46702" y="3797512"/>
                  </a:lnTo>
                  <a:lnTo>
                    <a:pt x="66334" y="3839303"/>
                  </a:lnTo>
                  <a:lnTo>
                    <a:pt x="89039" y="3879243"/>
                  </a:lnTo>
                  <a:lnTo>
                    <a:pt x="114665" y="3917181"/>
                  </a:lnTo>
                  <a:lnTo>
                    <a:pt x="143060" y="3952963"/>
                  </a:lnTo>
                  <a:lnTo>
                    <a:pt x="174069" y="3986436"/>
                  </a:lnTo>
                  <a:lnTo>
                    <a:pt x="207540" y="4017447"/>
                  </a:lnTo>
                  <a:lnTo>
                    <a:pt x="243321" y="4045843"/>
                  </a:lnTo>
                  <a:lnTo>
                    <a:pt x="281259" y="4071471"/>
                  </a:lnTo>
                  <a:lnTo>
                    <a:pt x="321200" y="4094178"/>
                  </a:lnTo>
                  <a:lnTo>
                    <a:pt x="362991" y="4113812"/>
                  </a:lnTo>
                  <a:lnTo>
                    <a:pt x="406481" y="4130219"/>
                  </a:lnTo>
                  <a:lnTo>
                    <a:pt x="451515" y="4143246"/>
                  </a:lnTo>
                  <a:lnTo>
                    <a:pt x="497942" y="4152740"/>
                  </a:lnTo>
                  <a:lnTo>
                    <a:pt x="545607" y="4158549"/>
                  </a:lnTo>
                  <a:lnTo>
                    <a:pt x="594359" y="4160520"/>
                  </a:lnTo>
                  <a:lnTo>
                    <a:pt x="2971799" y="4160520"/>
                  </a:lnTo>
                  <a:lnTo>
                    <a:pt x="3020552" y="4158549"/>
                  </a:lnTo>
                  <a:lnTo>
                    <a:pt x="3068217" y="4152740"/>
                  </a:lnTo>
                  <a:lnTo>
                    <a:pt x="3114644" y="4143246"/>
                  </a:lnTo>
                  <a:lnTo>
                    <a:pt x="3159678" y="4130219"/>
                  </a:lnTo>
                  <a:lnTo>
                    <a:pt x="3203168" y="4113812"/>
                  </a:lnTo>
                  <a:lnTo>
                    <a:pt x="3244959" y="4094178"/>
                  </a:lnTo>
                  <a:lnTo>
                    <a:pt x="3284900" y="4071471"/>
                  </a:lnTo>
                  <a:lnTo>
                    <a:pt x="3322838" y="4045843"/>
                  </a:lnTo>
                  <a:lnTo>
                    <a:pt x="3358619" y="4017447"/>
                  </a:lnTo>
                  <a:lnTo>
                    <a:pt x="3392090" y="3986436"/>
                  </a:lnTo>
                  <a:lnTo>
                    <a:pt x="3423099" y="3952963"/>
                  </a:lnTo>
                  <a:lnTo>
                    <a:pt x="3451494" y="3917181"/>
                  </a:lnTo>
                  <a:lnTo>
                    <a:pt x="3477120" y="3879243"/>
                  </a:lnTo>
                  <a:lnTo>
                    <a:pt x="3499825" y="3839303"/>
                  </a:lnTo>
                  <a:lnTo>
                    <a:pt x="3519457" y="3797512"/>
                  </a:lnTo>
                  <a:lnTo>
                    <a:pt x="3535862" y="3754024"/>
                  </a:lnTo>
                  <a:lnTo>
                    <a:pt x="3548888" y="3708991"/>
                  </a:lnTo>
                  <a:lnTo>
                    <a:pt x="3558381" y="3662568"/>
                  </a:lnTo>
                  <a:lnTo>
                    <a:pt x="3564189" y="3614906"/>
                  </a:lnTo>
                  <a:lnTo>
                    <a:pt x="3566160" y="3566159"/>
                  </a:lnTo>
                  <a:lnTo>
                    <a:pt x="3566160" y="594360"/>
                  </a:lnTo>
                  <a:lnTo>
                    <a:pt x="3564189" y="545607"/>
                  </a:lnTo>
                  <a:lnTo>
                    <a:pt x="3558381" y="497942"/>
                  </a:lnTo>
                  <a:lnTo>
                    <a:pt x="3548888" y="451515"/>
                  </a:lnTo>
                  <a:lnTo>
                    <a:pt x="3535862" y="406481"/>
                  </a:lnTo>
                  <a:lnTo>
                    <a:pt x="3519457" y="362991"/>
                  </a:lnTo>
                  <a:lnTo>
                    <a:pt x="3499825" y="321200"/>
                  </a:lnTo>
                  <a:lnTo>
                    <a:pt x="3477120" y="281259"/>
                  </a:lnTo>
                  <a:lnTo>
                    <a:pt x="3451494" y="243321"/>
                  </a:lnTo>
                  <a:lnTo>
                    <a:pt x="3423099" y="207540"/>
                  </a:lnTo>
                  <a:lnTo>
                    <a:pt x="3392090" y="174069"/>
                  </a:lnTo>
                  <a:lnTo>
                    <a:pt x="3358619" y="143060"/>
                  </a:lnTo>
                  <a:lnTo>
                    <a:pt x="3322838" y="114665"/>
                  </a:lnTo>
                  <a:lnTo>
                    <a:pt x="3284900" y="89039"/>
                  </a:lnTo>
                  <a:lnTo>
                    <a:pt x="3244959" y="66334"/>
                  </a:lnTo>
                  <a:lnTo>
                    <a:pt x="3203168" y="46702"/>
                  </a:lnTo>
                  <a:lnTo>
                    <a:pt x="3159678" y="30297"/>
                  </a:lnTo>
                  <a:lnTo>
                    <a:pt x="3114644" y="17271"/>
                  </a:lnTo>
                  <a:lnTo>
                    <a:pt x="3068217" y="7778"/>
                  </a:lnTo>
                  <a:lnTo>
                    <a:pt x="3020552" y="1970"/>
                  </a:lnTo>
                  <a:lnTo>
                    <a:pt x="297179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99" name="object 15"/>
            <p:cNvSpPr/>
            <p:nvPr/>
          </p:nvSpPr>
          <p:spPr>
            <a:xfrm>
              <a:off x="4370760" y="1737360"/>
              <a:ext cx="3565800" cy="4160160"/>
            </a:xfrm>
            <a:custGeom>
              <a:avLst/>
              <a:gdLst>
                <a:gd name="textAreaLeft" fmla="*/ 0 w 3565800"/>
                <a:gd name="textAreaRight" fmla="*/ 3566160 w 356580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3566159" h="4160520">
                  <a:moveTo>
                    <a:pt x="0" y="594360"/>
                  </a:moveTo>
                  <a:lnTo>
                    <a:pt x="1970" y="545607"/>
                  </a:lnTo>
                  <a:lnTo>
                    <a:pt x="7778" y="497942"/>
                  </a:lnTo>
                  <a:lnTo>
                    <a:pt x="17271" y="451515"/>
                  </a:lnTo>
                  <a:lnTo>
                    <a:pt x="30297" y="406481"/>
                  </a:lnTo>
                  <a:lnTo>
                    <a:pt x="46702" y="362991"/>
                  </a:lnTo>
                  <a:lnTo>
                    <a:pt x="66334" y="321200"/>
                  </a:lnTo>
                  <a:lnTo>
                    <a:pt x="89039" y="281259"/>
                  </a:lnTo>
                  <a:lnTo>
                    <a:pt x="114665" y="243321"/>
                  </a:lnTo>
                  <a:lnTo>
                    <a:pt x="143060" y="207540"/>
                  </a:lnTo>
                  <a:lnTo>
                    <a:pt x="174069" y="174069"/>
                  </a:lnTo>
                  <a:lnTo>
                    <a:pt x="207540" y="143060"/>
                  </a:lnTo>
                  <a:lnTo>
                    <a:pt x="243321" y="114665"/>
                  </a:lnTo>
                  <a:lnTo>
                    <a:pt x="281259" y="89039"/>
                  </a:lnTo>
                  <a:lnTo>
                    <a:pt x="321200" y="66334"/>
                  </a:lnTo>
                  <a:lnTo>
                    <a:pt x="362991" y="46702"/>
                  </a:lnTo>
                  <a:lnTo>
                    <a:pt x="406481" y="30297"/>
                  </a:lnTo>
                  <a:lnTo>
                    <a:pt x="451515" y="17271"/>
                  </a:lnTo>
                  <a:lnTo>
                    <a:pt x="497942" y="7778"/>
                  </a:lnTo>
                  <a:lnTo>
                    <a:pt x="545607" y="1970"/>
                  </a:lnTo>
                  <a:lnTo>
                    <a:pt x="594359" y="0"/>
                  </a:lnTo>
                  <a:lnTo>
                    <a:pt x="2971799" y="0"/>
                  </a:lnTo>
                  <a:lnTo>
                    <a:pt x="3020552" y="1970"/>
                  </a:lnTo>
                  <a:lnTo>
                    <a:pt x="3068217" y="7778"/>
                  </a:lnTo>
                  <a:lnTo>
                    <a:pt x="3114644" y="17271"/>
                  </a:lnTo>
                  <a:lnTo>
                    <a:pt x="3159678" y="30297"/>
                  </a:lnTo>
                  <a:lnTo>
                    <a:pt x="3203168" y="46702"/>
                  </a:lnTo>
                  <a:lnTo>
                    <a:pt x="3244959" y="66334"/>
                  </a:lnTo>
                  <a:lnTo>
                    <a:pt x="3284900" y="89039"/>
                  </a:lnTo>
                  <a:lnTo>
                    <a:pt x="3322838" y="114665"/>
                  </a:lnTo>
                  <a:lnTo>
                    <a:pt x="3358619" y="143060"/>
                  </a:lnTo>
                  <a:lnTo>
                    <a:pt x="3392090" y="174069"/>
                  </a:lnTo>
                  <a:lnTo>
                    <a:pt x="3423099" y="207540"/>
                  </a:lnTo>
                  <a:lnTo>
                    <a:pt x="3451494" y="243321"/>
                  </a:lnTo>
                  <a:lnTo>
                    <a:pt x="3477120" y="281259"/>
                  </a:lnTo>
                  <a:lnTo>
                    <a:pt x="3499825" y="321200"/>
                  </a:lnTo>
                  <a:lnTo>
                    <a:pt x="3519457" y="362991"/>
                  </a:lnTo>
                  <a:lnTo>
                    <a:pt x="3535862" y="406481"/>
                  </a:lnTo>
                  <a:lnTo>
                    <a:pt x="3548888" y="451515"/>
                  </a:lnTo>
                  <a:lnTo>
                    <a:pt x="3558381" y="497942"/>
                  </a:lnTo>
                  <a:lnTo>
                    <a:pt x="3564189" y="545607"/>
                  </a:lnTo>
                  <a:lnTo>
                    <a:pt x="3566160" y="594360"/>
                  </a:lnTo>
                  <a:lnTo>
                    <a:pt x="3566160" y="3566159"/>
                  </a:lnTo>
                  <a:lnTo>
                    <a:pt x="3564189" y="3614906"/>
                  </a:lnTo>
                  <a:lnTo>
                    <a:pt x="3558381" y="3662568"/>
                  </a:lnTo>
                  <a:lnTo>
                    <a:pt x="3548888" y="3708991"/>
                  </a:lnTo>
                  <a:lnTo>
                    <a:pt x="3535862" y="3754024"/>
                  </a:lnTo>
                  <a:lnTo>
                    <a:pt x="3519457" y="3797512"/>
                  </a:lnTo>
                  <a:lnTo>
                    <a:pt x="3499825" y="3839303"/>
                  </a:lnTo>
                  <a:lnTo>
                    <a:pt x="3477120" y="3879243"/>
                  </a:lnTo>
                  <a:lnTo>
                    <a:pt x="3451494" y="3917181"/>
                  </a:lnTo>
                  <a:lnTo>
                    <a:pt x="3423099" y="3952963"/>
                  </a:lnTo>
                  <a:lnTo>
                    <a:pt x="3392090" y="3986436"/>
                  </a:lnTo>
                  <a:lnTo>
                    <a:pt x="3358619" y="4017447"/>
                  </a:lnTo>
                  <a:lnTo>
                    <a:pt x="3322838" y="4045843"/>
                  </a:lnTo>
                  <a:lnTo>
                    <a:pt x="3284900" y="4071471"/>
                  </a:lnTo>
                  <a:lnTo>
                    <a:pt x="3244959" y="4094178"/>
                  </a:lnTo>
                  <a:lnTo>
                    <a:pt x="3203168" y="4113812"/>
                  </a:lnTo>
                  <a:lnTo>
                    <a:pt x="3159678" y="4130219"/>
                  </a:lnTo>
                  <a:lnTo>
                    <a:pt x="3114644" y="4143246"/>
                  </a:lnTo>
                  <a:lnTo>
                    <a:pt x="3068217" y="4152740"/>
                  </a:lnTo>
                  <a:lnTo>
                    <a:pt x="3020552" y="4158549"/>
                  </a:lnTo>
                  <a:lnTo>
                    <a:pt x="2971799" y="4160520"/>
                  </a:lnTo>
                  <a:lnTo>
                    <a:pt x="594359" y="4160520"/>
                  </a:lnTo>
                  <a:lnTo>
                    <a:pt x="545607" y="4158549"/>
                  </a:lnTo>
                  <a:lnTo>
                    <a:pt x="497942" y="4152740"/>
                  </a:lnTo>
                  <a:lnTo>
                    <a:pt x="451515" y="4143246"/>
                  </a:lnTo>
                  <a:lnTo>
                    <a:pt x="406481" y="4130219"/>
                  </a:lnTo>
                  <a:lnTo>
                    <a:pt x="362991" y="4113812"/>
                  </a:lnTo>
                  <a:lnTo>
                    <a:pt x="321200" y="4094178"/>
                  </a:lnTo>
                  <a:lnTo>
                    <a:pt x="281259" y="4071471"/>
                  </a:lnTo>
                  <a:lnTo>
                    <a:pt x="243321" y="4045843"/>
                  </a:lnTo>
                  <a:lnTo>
                    <a:pt x="207540" y="4017447"/>
                  </a:lnTo>
                  <a:lnTo>
                    <a:pt x="174069" y="3986436"/>
                  </a:lnTo>
                  <a:lnTo>
                    <a:pt x="143060" y="3952963"/>
                  </a:lnTo>
                  <a:lnTo>
                    <a:pt x="114665" y="3917181"/>
                  </a:lnTo>
                  <a:lnTo>
                    <a:pt x="89039" y="3879243"/>
                  </a:lnTo>
                  <a:lnTo>
                    <a:pt x="66334" y="3839303"/>
                  </a:lnTo>
                  <a:lnTo>
                    <a:pt x="46702" y="3797512"/>
                  </a:lnTo>
                  <a:lnTo>
                    <a:pt x="30297" y="3754024"/>
                  </a:lnTo>
                  <a:lnTo>
                    <a:pt x="17271" y="3708991"/>
                  </a:lnTo>
                  <a:lnTo>
                    <a:pt x="7778" y="3662568"/>
                  </a:lnTo>
                  <a:lnTo>
                    <a:pt x="1970" y="3614906"/>
                  </a:lnTo>
                  <a:lnTo>
                    <a:pt x="0" y="3566159"/>
                  </a:lnTo>
                  <a:lnTo>
                    <a:pt x="0" y="594360"/>
                  </a:lnTo>
                  <a:close/>
                </a:path>
              </a:pathLst>
            </a:custGeom>
            <a:noFill/>
            <a:ln w="13969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00" name="object 16"/>
          <p:cNvSpPr/>
          <p:nvPr/>
        </p:nvSpPr>
        <p:spPr>
          <a:xfrm>
            <a:off x="4645800" y="2050560"/>
            <a:ext cx="2863440" cy="35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52280">
              <a:lnSpc>
                <a:spcPct val="100000"/>
              </a:lnSpc>
              <a:spcBef>
                <a:spcPts val="99"/>
              </a:spcBef>
            </a:pPr>
            <a:r>
              <a:rPr b="1" lang="en-US" sz="1500" strike="noStrike" u="none">
                <a:solidFill>
                  <a:srgbClr val="173e6c"/>
                </a:solidFill>
                <a:uFillTx/>
                <a:latin typeface="Trebuchet MS"/>
              </a:rPr>
              <a:t>FUNCTIONAL</a:t>
            </a:r>
            <a:r>
              <a:rPr b="1" lang="en-US" sz="1500" spc="-111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11" strike="noStrike" u="none">
                <a:solidFill>
                  <a:srgbClr val="173e6c"/>
                </a:solidFill>
                <a:uFillTx/>
                <a:latin typeface="Trebuchet MS"/>
              </a:rPr>
              <a:t>REQUIREMENTS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5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01: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Create</a:t>
            </a:r>
            <a:r>
              <a:rPr b="0" lang="en-US" sz="1100" spc="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shipment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records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ts val="1760"/>
              </a:lnSpc>
              <a:spcBef>
                <a:spcPts val="125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02: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View/search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shipment</a:t>
            </a:r>
            <a:r>
              <a:rPr b="0" lang="en-US" sz="1100" spc="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records 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03:</a:t>
            </a:r>
            <a:r>
              <a:rPr b="0" lang="en-US" sz="1100" spc="-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Update</a:t>
            </a:r>
            <a:r>
              <a:rPr b="0" lang="en-US" sz="1100" spc="-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shipment</a:t>
            </a:r>
            <a:r>
              <a:rPr b="0" lang="en-US" sz="110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records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6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04:</a:t>
            </a:r>
            <a:r>
              <a:rPr b="0" lang="en-US" sz="1100" spc="-3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Delete</a:t>
            </a:r>
            <a:r>
              <a:rPr b="0" lang="en-US" sz="1100" spc="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shipment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records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94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05:</a:t>
            </a:r>
            <a:r>
              <a:rPr b="0" lang="en-US" sz="11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Load</a:t>
            </a:r>
            <a:r>
              <a:rPr b="0" lang="en-US" sz="11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route</a:t>
            </a:r>
            <a:r>
              <a:rPr b="0" lang="en-US" sz="11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topology</a:t>
            </a:r>
            <a:r>
              <a:rPr b="0" lang="en-US" sz="11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1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emission factors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408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06: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Calculate</a:t>
            </a:r>
            <a:r>
              <a:rPr b="0" lang="en-US" sz="1100" spc="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combined</a:t>
            </a:r>
            <a:r>
              <a:rPr b="0" lang="en-US" sz="1100" spc="-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time </a:t>
            </a:r>
            <a:r>
              <a:rPr b="0" lang="en-US" sz="1100" spc="-201" strike="noStrike" u="none">
                <a:solidFill>
                  <a:srgbClr val="1c2837"/>
                </a:solidFill>
                <a:uFillTx/>
                <a:latin typeface="Tahoma"/>
              </a:rPr>
              <a:t>+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CO₂ 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route cost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400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07:</a:t>
            </a:r>
            <a:r>
              <a:rPr b="0" lang="en-US" sz="11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Optimize</a:t>
            </a:r>
            <a:r>
              <a:rPr b="0" lang="en-US" sz="110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routes</a:t>
            </a:r>
            <a:r>
              <a:rPr b="0" lang="en-US" sz="11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using</a:t>
            </a:r>
            <a:r>
              <a:rPr b="0" lang="en-US" sz="11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1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documented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path</a:t>
            </a:r>
            <a:r>
              <a:rPr b="0" lang="en-US" sz="11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algorithm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ts val="1760"/>
              </a:lnSpc>
              <a:spcBef>
                <a:spcPts val="119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08:</a:t>
            </a:r>
            <a:r>
              <a:rPr b="0" lang="en-US" sz="110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Evaluate</a:t>
            </a:r>
            <a:r>
              <a:rPr b="0" lang="en-US" sz="11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intermodal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alternatives 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09: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Authenticate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users</a:t>
            </a:r>
            <a:r>
              <a:rPr b="0" lang="en-US" sz="11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apply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roles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6"/>
              </a:spcBef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FR-</a:t>
            </a:r>
            <a:r>
              <a:rPr b="0" lang="en-US" sz="1100" spc="-34" strike="noStrike" u="none">
                <a:solidFill>
                  <a:srgbClr val="1c2837"/>
                </a:solidFill>
                <a:uFillTx/>
                <a:latin typeface="Tahoma"/>
              </a:rPr>
              <a:t>10:</a:t>
            </a:r>
            <a:r>
              <a:rPr b="0" lang="en-US" sz="11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Persist</a:t>
            </a:r>
            <a:r>
              <a:rPr b="0" lang="en-US" sz="1100" spc="-4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records</a:t>
            </a:r>
            <a:r>
              <a:rPr b="0" lang="en-US" sz="1100" spc="-3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in</a:t>
            </a:r>
            <a:r>
              <a:rPr b="0" lang="en-US" sz="11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binary/CSV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 form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01" name="object 17"/>
          <p:cNvGrpSpPr/>
          <p:nvPr/>
        </p:nvGrpSpPr>
        <p:grpSpPr>
          <a:xfrm>
            <a:off x="4328280" y="1717560"/>
            <a:ext cx="162720" cy="4240800"/>
            <a:chOff x="4328280" y="1717560"/>
            <a:chExt cx="162720" cy="4240800"/>
          </a:xfrm>
        </p:grpSpPr>
        <p:pic>
          <p:nvPicPr>
            <p:cNvPr id="102" name="object 18" descr=""/>
            <p:cNvPicPr/>
            <p:nvPr/>
          </p:nvPicPr>
          <p:blipFill>
            <a:blip r:embed="rId4"/>
            <a:stretch/>
          </p:blipFill>
          <p:spPr>
            <a:xfrm>
              <a:off x="4328280" y="1717560"/>
              <a:ext cx="162720" cy="424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3" name="object 19"/>
            <p:cNvSpPr/>
            <p:nvPr/>
          </p:nvSpPr>
          <p:spPr>
            <a:xfrm>
              <a:off x="4370760" y="1737360"/>
              <a:ext cx="82080" cy="416016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82550" h="4160520">
                  <a:moveTo>
                    <a:pt x="82296" y="0"/>
                  </a:moveTo>
                  <a:lnTo>
                    <a:pt x="0" y="0"/>
                  </a:lnTo>
                  <a:lnTo>
                    <a:pt x="0" y="4160520"/>
                  </a:lnTo>
                  <a:lnTo>
                    <a:pt x="82296" y="416052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04" name="object 20"/>
          <p:cNvGrpSpPr/>
          <p:nvPr/>
        </p:nvGrpSpPr>
        <p:grpSpPr>
          <a:xfrm>
            <a:off x="8106120" y="1711440"/>
            <a:ext cx="3616200" cy="4254480"/>
            <a:chOff x="8106120" y="1711440"/>
            <a:chExt cx="3616200" cy="4254480"/>
          </a:xfrm>
        </p:grpSpPr>
        <p:pic>
          <p:nvPicPr>
            <p:cNvPr id="105" name="object 21" descr=""/>
            <p:cNvPicPr/>
            <p:nvPr/>
          </p:nvPicPr>
          <p:blipFill>
            <a:blip r:embed="rId5"/>
            <a:stretch/>
          </p:blipFill>
          <p:spPr>
            <a:xfrm>
              <a:off x="8106120" y="1711440"/>
              <a:ext cx="3616200" cy="4254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6" name="object 22"/>
            <p:cNvSpPr/>
            <p:nvPr/>
          </p:nvSpPr>
          <p:spPr>
            <a:xfrm>
              <a:off x="8156520" y="1737360"/>
              <a:ext cx="3520080" cy="4160160"/>
            </a:xfrm>
            <a:custGeom>
              <a:avLst/>
              <a:gdLst>
                <a:gd name="textAreaLeft" fmla="*/ 0 w 3520080"/>
                <a:gd name="textAreaRight" fmla="*/ 3520440 w 352008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3520440" h="4160520">
                  <a:moveTo>
                    <a:pt x="2933700" y="0"/>
                  </a:moveTo>
                  <a:lnTo>
                    <a:pt x="586740" y="0"/>
                  </a:lnTo>
                  <a:lnTo>
                    <a:pt x="538610" y="1944"/>
                  </a:lnTo>
                  <a:lnTo>
                    <a:pt x="491554" y="7677"/>
                  </a:lnTo>
                  <a:lnTo>
                    <a:pt x="445721" y="17048"/>
                  </a:lnTo>
                  <a:lnTo>
                    <a:pt x="401263" y="29906"/>
                  </a:lnTo>
                  <a:lnTo>
                    <a:pt x="358330" y="46101"/>
                  </a:lnTo>
                  <a:lnTo>
                    <a:pt x="317074" y="65480"/>
                  </a:lnTo>
                  <a:lnTo>
                    <a:pt x="277645" y="87893"/>
                  </a:lnTo>
                  <a:lnTo>
                    <a:pt x="240194" y="113190"/>
                  </a:lnTo>
                  <a:lnTo>
                    <a:pt x="204872" y="141219"/>
                  </a:lnTo>
                  <a:lnTo>
                    <a:pt x="171831" y="171831"/>
                  </a:lnTo>
                  <a:lnTo>
                    <a:pt x="141219" y="204872"/>
                  </a:lnTo>
                  <a:lnTo>
                    <a:pt x="113190" y="240194"/>
                  </a:lnTo>
                  <a:lnTo>
                    <a:pt x="87893" y="277645"/>
                  </a:lnTo>
                  <a:lnTo>
                    <a:pt x="65480" y="317074"/>
                  </a:lnTo>
                  <a:lnTo>
                    <a:pt x="46100" y="358330"/>
                  </a:lnTo>
                  <a:lnTo>
                    <a:pt x="29906" y="401263"/>
                  </a:lnTo>
                  <a:lnTo>
                    <a:pt x="17048" y="445721"/>
                  </a:lnTo>
                  <a:lnTo>
                    <a:pt x="7677" y="491554"/>
                  </a:lnTo>
                  <a:lnTo>
                    <a:pt x="1944" y="538610"/>
                  </a:lnTo>
                  <a:lnTo>
                    <a:pt x="0" y="586739"/>
                  </a:lnTo>
                  <a:lnTo>
                    <a:pt x="0" y="3573779"/>
                  </a:lnTo>
                  <a:lnTo>
                    <a:pt x="1944" y="3621900"/>
                  </a:lnTo>
                  <a:lnTo>
                    <a:pt x="7677" y="3668950"/>
                  </a:lnTo>
                  <a:lnTo>
                    <a:pt x="17048" y="3714778"/>
                  </a:lnTo>
                  <a:lnTo>
                    <a:pt x="29906" y="3759232"/>
                  </a:lnTo>
                  <a:lnTo>
                    <a:pt x="46100" y="3802162"/>
                  </a:lnTo>
                  <a:lnTo>
                    <a:pt x="65480" y="3843417"/>
                  </a:lnTo>
                  <a:lnTo>
                    <a:pt x="87893" y="3882846"/>
                  </a:lnTo>
                  <a:lnTo>
                    <a:pt x="113190" y="3920297"/>
                  </a:lnTo>
                  <a:lnTo>
                    <a:pt x="141219" y="3955621"/>
                  </a:lnTo>
                  <a:lnTo>
                    <a:pt x="171830" y="3988665"/>
                  </a:lnTo>
                  <a:lnTo>
                    <a:pt x="204872" y="4019278"/>
                  </a:lnTo>
                  <a:lnTo>
                    <a:pt x="240194" y="4047311"/>
                  </a:lnTo>
                  <a:lnTo>
                    <a:pt x="277645" y="4072611"/>
                  </a:lnTo>
                  <a:lnTo>
                    <a:pt x="317074" y="4095027"/>
                  </a:lnTo>
                  <a:lnTo>
                    <a:pt x="358330" y="4114410"/>
                  </a:lnTo>
                  <a:lnTo>
                    <a:pt x="401263" y="4130606"/>
                  </a:lnTo>
                  <a:lnTo>
                    <a:pt x="445721" y="4143467"/>
                  </a:lnTo>
                  <a:lnTo>
                    <a:pt x="491554" y="4152840"/>
                  </a:lnTo>
                  <a:lnTo>
                    <a:pt x="538610" y="4158574"/>
                  </a:lnTo>
                  <a:lnTo>
                    <a:pt x="586740" y="4160520"/>
                  </a:lnTo>
                  <a:lnTo>
                    <a:pt x="2933700" y="4160520"/>
                  </a:lnTo>
                  <a:lnTo>
                    <a:pt x="2981829" y="4158574"/>
                  </a:lnTo>
                  <a:lnTo>
                    <a:pt x="3028885" y="4152840"/>
                  </a:lnTo>
                  <a:lnTo>
                    <a:pt x="3074718" y="4143467"/>
                  </a:lnTo>
                  <a:lnTo>
                    <a:pt x="3119176" y="4130606"/>
                  </a:lnTo>
                  <a:lnTo>
                    <a:pt x="3162109" y="4114410"/>
                  </a:lnTo>
                  <a:lnTo>
                    <a:pt x="3203365" y="4095027"/>
                  </a:lnTo>
                  <a:lnTo>
                    <a:pt x="3242794" y="4072611"/>
                  </a:lnTo>
                  <a:lnTo>
                    <a:pt x="3280245" y="4047311"/>
                  </a:lnTo>
                  <a:lnTo>
                    <a:pt x="3315567" y="4019278"/>
                  </a:lnTo>
                  <a:lnTo>
                    <a:pt x="3348608" y="3988665"/>
                  </a:lnTo>
                  <a:lnTo>
                    <a:pt x="3379220" y="3955621"/>
                  </a:lnTo>
                  <a:lnTo>
                    <a:pt x="3407249" y="3920297"/>
                  </a:lnTo>
                  <a:lnTo>
                    <a:pt x="3432546" y="3882846"/>
                  </a:lnTo>
                  <a:lnTo>
                    <a:pt x="3454959" y="3843417"/>
                  </a:lnTo>
                  <a:lnTo>
                    <a:pt x="3474339" y="3802162"/>
                  </a:lnTo>
                  <a:lnTo>
                    <a:pt x="3490533" y="3759232"/>
                  </a:lnTo>
                  <a:lnTo>
                    <a:pt x="3503391" y="3714778"/>
                  </a:lnTo>
                  <a:lnTo>
                    <a:pt x="3512762" y="3668950"/>
                  </a:lnTo>
                  <a:lnTo>
                    <a:pt x="3518495" y="3621900"/>
                  </a:lnTo>
                  <a:lnTo>
                    <a:pt x="3520440" y="3573779"/>
                  </a:lnTo>
                  <a:lnTo>
                    <a:pt x="3520440" y="586739"/>
                  </a:lnTo>
                  <a:lnTo>
                    <a:pt x="3518495" y="538610"/>
                  </a:lnTo>
                  <a:lnTo>
                    <a:pt x="3512762" y="491554"/>
                  </a:lnTo>
                  <a:lnTo>
                    <a:pt x="3503391" y="445721"/>
                  </a:lnTo>
                  <a:lnTo>
                    <a:pt x="3490533" y="401263"/>
                  </a:lnTo>
                  <a:lnTo>
                    <a:pt x="3474339" y="358330"/>
                  </a:lnTo>
                  <a:lnTo>
                    <a:pt x="3454959" y="317074"/>
                  </a:lnTo>
                  <a:lnTo>
                    <a:pt x="3432546" y="277645"/>
                  </a:lnTo>
                  <a:lnTo>
                    <a:pt x="3407249" y="240194"/>
                  </a:lnTo>
                  <a:lnTo>
                    <a:pt x="3379220" y="204872"/>
                  </a:lnTo>
                  <a:lnTo>
                    <a:pt x="3348609" y="171831"/>
                  </a:lnTo>
                  <a:lnTo>
                    <a:pt x="3315567" y="141219"/>
                  </a:lnTo>
                  <a:lnTo>
                    <a:pt x="3280245" y="113190"/>
                  </a:lnTo>
                  <a:lnTo>
                    <a:pt x="3242794" y="87893"/>
                  </a:lnTo>
                  <a:lnTo>
                    <a:pt x="3203365" y="65480"/>
                  </a:lnTo>
                  <a:lnTo>
                    <a:pt x="3162109" y="46101"/>
                  </a:lnTo>
                  <a:lnTo>
                    <a:pt x="3119176" y="29906"/>
                  </a:lnTo>
                  <a:lnTo>
                    <a:pt x="3074718" y="17048"/>
                  </a:lnTo>
                  <a:lnTo>
                    <a:pt x="3028885" y="7677"/>
                  </a:lnTo>
                  <a:lnTo>
                    <a:pt x="2981829" y="1944"/>
                  </a:lnTo>
                  <a:lnTo>
                    <a:pt x="29337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07" name="object 23"/>
            <p:cNvSpPr/>
            <p:nvPr/>
          </p:nvSpPr>
          <p:spPr>
            <a:xfrm>
              <a:off x="8156520" y="1737360"/>
              <a:ext cx="3520080" cy="4160160"/>
            </a:xfrm>
            <a:custGeom>
              <a:avLst/>
              <a:gdLst>
                <a:gd name="textAreaLeft" fmla="*/ 0 w 3520080"/>
                <a:gd name="textAreaRight" fmla="*/ 3520440 w 352008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3520440" h="4160520">
                  <a:moveTo>
                    <a:pt x="0" y="586739"/>
                  </a:moveTo>
                  <a:lnTo>
                    <a:pt x="1944" y="538610"/>
                  </a:lnTo>
                  <a:lnTo>
                    <a:pt x="7677" y="491554"/>
                  </a:lnTo>
                  <a:lnTo>
                    <a:pt x="17048" y="445721"/>
                  </a:lnTo>
                  <a:lnTo>
                    <a:pt x="29906" y="401263"/>
                  </a:lnTo>
                  <a:lnTo>
                    <a:pt x="46100" y="358330"/>
                  </a:lnTo>
                  <a:lnTo>
                    <a:pt x="65480" y="317074"/>
                  </a:lnTo>
                  <a:lnTo>
                    <a:pt x="87893" y="277645"/>
                  </a:lnTo>
                  <a:lnTo>
                    <a:pt x="113190" y="240194"/>
                  </a:lnTo>
                  <a:lnTo>
                    <a:pt x="141219" y="204872"/>
                  </a:lnTo>
                  <a:lnTo>
                    <a:pt x="171831" y="171831"/>
                  </a:lnTo>
                  <a:lnTo>
                    <a:pt x="204872" y="141219"/>
                  </a:lnTo>
                  <a:lnTo>
                    <a:pt x="240194" y="113190"/>
                  </a:lnTo>
                  <a:lnTo>
                    <a:pt x="277645" y="87893"/>
                  </a:lnTo>
                  <a:lnTo>
                    <a:pt x="317074" y="65480"/>
                  </a:lnTo>
                  <a:lnTo>
                    <a:pt x="358330" y="46101"/>
                  </a:lnTo>
                  <a:lnTo>
                    <a:pt x="401263" y="29906"/>
                  </a:lnTo>
                  <a:lnTo>
                    <a:pt x="445721" y="17048"/>
                  </a:lnTo>
                  <a:lnTo>
                    <a:pt x="491554" y="7677"/>
                  </a:lnTo>
                  <a:lnTo>
                    <a:pt x="538610" y="1944"/>
                  </a:lnTo>
                  <a:lnTo>
                    <a:pt x="586740" y="0"/>
                  </a:lnTo>
                  <a:lnTo>
                    <a:pt x="2933700" y="0"/>
                  </a:lnTo>
                  <a:lnTo>
                    <a:pt x="2981829" y="1944"/>
                  </a:lnTo>
                  <a:lnTo>
                    <a:pt x="3028885" y="7677"/>
                  </a:lnTo>
                  <a:lnTo>
                    <a:pt x="3074718" y="17048"/>
                  </a:lnTo>
                  <a:lnTo>
                    <a:pt x="3119176" y="29906"/>
                  </a:lnTo>
                  <a:lnTo>
                    <a:pt x="3162109" y="46101"/>
                  </a:lnTo>
                  <a:lnTo>
                    <a:pt x="3203365" y="65480"/>
                  </a:lnTo>
                  <a:lnTo>
                    <a:pt x="3242794" y="87893"/>
                  </a:lnTo>
                  <a:lnTo>
                    <a:pt x="3280245" y="113190"/>
                  </a:lnTo>
                  <a:lnTo>
                    <a:pt x="3315567" y="141219"/>
                  </a:lnTo>
                  <a:lnTo>
                    <a:pt x="3348609" y="171831"/>
                  </a:lnTo>
                  <a:lnTo>
                    <a:pt x="3379220" y="204872"/>
                  </a:lnTo>
                  <a:lnTo>
                    <a:pt x="3407249" y="240194"/>
                  </a:lnTo>
                  <a:lnTo>
                    <a:pt x="3432546" y="277645"/>
                  </a:lnTo>
                  <a:lnTo>
                    <a:pt x="3454959" y="317074"/>
                  </a:lnTo>
                  <a:lnTo>
                    <a:pt x="3474339" y="358330"/>
                  </a:lnTo>
                  <a:lnTo>
                    <a:pt x="3490533" y="401263"/>
                  </a:lnTo>
                  <a:lnTo>
                    <a:pt x="3503391" y="445721"/>
                  </a:lnTo>
                  <a:lnTo>
                    <a:pt x="3512762" y="491554"/>
                  </a:lnTo>
                  <a:lnTo>
                    <a:pt x="3518495" y="538610"/>
                  </a:lnTo>
                  <a:lnTo>
                    <a:pt x="3520440" y="586739"/>
                  </a:lnTo>
                  <a:lnTo>
                    <a:pt x="3520440" y="3573779"/>
                  </a:lnTo>
                  <a:lnTo>
                    <a:pt x="3518495" y="3621900"/>
                  </a:lnTo>
                  <a:lnTo>
                    <a:pt x="3512762" y="3668950"/>
                  </a:lnTo>
                  <a:lnTo>
                    <a:pt x="3503391" y="3714778"/>
                  </a:lnTo>
                  <a:lnTo>
                    <a:pt x="3490533" y="3759232"/>
                  </a:lnTo>
                  <a:lnTo>
                    <a:pt x="3474339" y="3802162"/>
                  </a:lnTo>
                  <a:lnTo>
                    <a:pt x="3454959" y="3843417"/>
                  </a:lnTo>
                  <a:lnTo>
                    <a:pt x="3432546" y="3882846"/>
                  </a:lnTo>
                  <a:lnTo>
                    <a:pt x="3407249" y="3920297"/>
                  </a:lnTo>
                  <a:lnTo>
                    <a:pt x="3379220" y="3955621"/>
                  </a:lnTo>
                  <a:lnTo>
                    <a:pt x="3348608" y="3988665"/>
                  </a:lnTo>
                  <a:lnTo>
                    <a:pt x="3315567" y="4019278"/>
                  </a:lnTo>
                  <a:lnTo>
                    <a:pt x="3280245" y="4047311"/>
                  </a:lnTo>
                  <a:lnTo>
                    <a:pt x="3242794" y="4072611"/>
                  </a:lnTo>
                  <a:lnTo>
                    <a:pt x="3203365" y="4095027"/>
                  </a:lnTo>
                  <a:lnTo>
                    <a:pt x="3162109" y="4114410"/>
                  </a:lnTo>
                  <a:lnTo>
                    <a:pt x="3119176" y="4130606"/>
                  </a:lnTo>
                  <a:lnTo>
                    <a:pt x="3074718" y="4143467"/>
                  </a:lnTo>
                  <a:lnTo>
                    <a:pt x="3028885" y="4152840"/>
                  </a:lnTo>
                  <a:lnTo>
                    <a:pt x="2981829" y="4158574"/>
                  </a:lnTo>
                  <a:lnTo>
                    <a:pt x="2933700" y="4160520"/>
                  </a:lnTo>
                  <a:lnTo>
                    <a:pt x="586740" y="4160520"/>
                  </a:lnTo>
                  <a:lnTo>
                    <a:pt x="538610" y="4158574"/>
                  </a:lnTo>
                  <a:lnTo>
                    <a:pt x="491554" y="4152840"/>
                  </a:lnTo>
                  <a:lnTo>
                    <a:pt x="445721" y="4143467"/>
                  </a:lnTo>
                  <a:lnTo>
                    <a:pt x="401263" y="4130606"/>
                  </a:lnTo>
                  <a:lnTo>
                    <a:pt x="358330" y="4114410"/>
                  </a:lnTo>
                  <a:lnTo>
                    <a:pt x="317074" y="4095027"/>
                  </a:lnTo>
                  <a:lnTo>
                    <a:pt x="277645" y="4072611"/>
                  </a:lnTo>
                  <a:lnTo>
                    <a:pt x="240194" y="4047311"/>
                  </a:lnTo>
                  <a:lnTo>
                    <a:pt x="204872" y="4019278"/>
                  </a:lnTo>
                  <a:lnTo>
                    <a:pt x="171830" y="3988665"/>
                  </a:lnTo>
                  <a:lnTo>
                    <a:pt x="141219" y="3955621"/>
                  </a:lnTo>
                  <a:lnTo>
                    <a:pt x="113190" y="3920297"/>
                  </a:lnTo>
                  <a:lnTo>
                    <a:pt x="87893" y="3882846"/>
                  </a:lnTo>
                  <a:lnTo>
                    <a:pt x="65480" y="3843417"/>
                  </a:lnTo>
                  <a:lnTo>
                    <a:pt x="46100" y="3802162"/>
                  </a:lnTo>
                  <a:lnTo>
                    <a:pt x="29906" y="3759232"/>
                  </a:lnTo>
                  <a:lnTo>
                    <a:pt x="17048" y="3714778"/>
                  </a:lnTo>
                  <a:lnTo>
                    <a:pt x="7677" y="3668950"/>
                  </a:lnTo>
                  <a:lnTo>
                    <a:pt x="1944" y="3621900"/>
                  </a:lnTo>
                  <a:lnTo>
                    <a:pt x="0" y="3573779"/>
                  </a:lnTo>
                  <a:lnTo>
                    <a:pt x="0" y="586739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08" name="object 24"/>
          <p:cNvSpPr/>
          <p:nvPr/>
        </p:nvSpPr>
        <p:spPr>
          <a:xfrm>
            <a:off x="8517600" y="2459880"/>
            <a:ext cx="25102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>
              <a:lnSpc>
                <a:spcPct val="100000"/>
              </a:lnSpc>
              <a:spcBef>
                <a:spcPts val="99"/>
              </a:spcBef>
            </a:pPr>
            <a:r>
              <a:rPr b="1" lang="en-US" sz="1500" spc="-40" strike="noStrike" u="none">
                <a:solidFill>
                  <a:srgbClr val="173e6c"/>
                </a:solidFill>
                <a:uFillTx/>
                <a:latin typeface="Trebuchet MS"/>
              </a:rPr>
              <a:t>OUT</a:t>
            </a:r>
            <a:r>
              <a:rPr b="1" lang="en-US" sz="1500" spc="-14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11" strike="noStrike" u="none">
                <a:solidFill>
                  <a:srgbClr val="173e6c"/>
                </a:solidFill>
                <a:uFillTx/>
                <a:latin typeface="Trebuchet MS"/>
              </a:rPr>
              <a:t>OF</a:t>
            </a:r>
            <a:r>
              <a:rPr b="1" lang="en-US" sz="1500" spc="-15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65" strike="noStrike" u="none">
                <a:solidFill>
                  <a:srgbClr val="173e6c"/>
                </a:solidFill>
                <a:uFillTx/>
                <a:latin typeface="Trebuchet MS"/>
              </a:rPr>
              <a:t>SCOPE</a:t>
            </a:r>
            <a:r>
              <a:rPr b="1" lang="en-US" sz="1500" spc="-13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20" strike="noStrike" u="none">
                <a:solidFill>
                  <a:srgbClr val="173e6c"/>
                </a:solidFill>
                <a:uFillTx/>
                <a:latin typeface="Trebuchet MS"/>
              </a:rPr>
              <a:t>/</a:t>
            </a:r>
            <a:r>
              <a:rPr b="1" lang="en-US" sz="1500" spc="-159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500" spc="-11" strike="noStrike" u="none">
                <a:solidFill>
                  <a:srgbClr val="173e6c"/>
                </a:solidFill>
                <a:uFillTx/>
                <a:latin typeface="Trebuchet MS"/>
              </a:rPr>
              <a:t>FUTURE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r>
              <a:rPr b="0" lang="en-US" sz="1200" spc="-60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source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presentation</a:t>
            </a:r>
            <a:r>
              <a:rPr b="0" lang="en-US" sz="1200" spc="-6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lists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these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as </a:t>
            </a: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future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enhancements: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object 25"/>
          <p:cNvSpPr/>
          <p:nvPr/>
        </p:nvSpPr>
        <p:spPr>
          <a:xfrm>
            <a:off x="8517600" y="3292200"/>
            <a:ext cx="2537640" cy="20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000" bIns="0" anchor="t">
            <a:spAutoFit/>
          </a:bodyPr>
          <a:p>
            <a:pPr marL="115560" indent="-102960">
              <a:lnSpc>
                <a:spcPct val="100000"/>
              </a:lnSpc>
              <a:spcBef>
                <a:spcPts val="496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25" strike="noStrike" u="none">
                <a:solidFill>
                  <a:srgbClr val="1c2837"/>
                </a:solidFill>
                <a:uFillTx/>
                <a:latin typeface="Tahoma"/>
              </a:rPr>
              <a:t>IoT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/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real-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time</a:t>
            </a:r>
            <a:r>
              <a:rPr b="0" lang="en-US" sz="1200" spc="-7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sensor</a:t>
            </a:r>
            <a:r>
              <a:rPr b="0" lang="en-US" sz="12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integration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Live</a:t>
            </a:r>
            <a:r>
              <a:rPr b="0" lang="en-US" sz="1200" spc="-113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vehicle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telemetry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8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31" strike="noStrike" u="none">
                <a:solidFill>
                  <a:srgbClr val="1c2837"/>
                </a:solidFill>
                <a:uFillTx/>
                <a:latin typeface="Tahoma"/>
              </a:rPr>
              <a:t>Live</a:t>
            </a:r>
            <a:r>
              <a:rPr b="0" lang="en-US" sz="12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traffic</a:t>
            </a:r>
            <a:r>
              <a:rPr b="0" lang="en-US" sz="12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information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40" strike="noStrike" u="none">
                <a:solidFill>
                  <a:srgbClr val="1c2837"/>
                </a:solidFill>
                <a:uFillTx/>
                <a:latin typeface="Tahoma"/>
              </a:rPr>
              <a:t>Weather-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aware</a:t>
            </a:r>
            <a:r>
              <a:rPr b="0" lang="en-US" sz="1200" spc="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routing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Machine-</a:t>
            </a:r>
            <a:r>
              <a:rPr b="0" lang="en-US" sz="1200" spc="-26" strike="noStrike" u="none">
                <a:solidFill>
                  <a:srgbClr val="1c2837"/>
                </a:solidFill>
                <a:uFillTx/>
                <a:latin typeface="Tahoma"/>
              </a:rPr>
              <a:t>learning</a:t>
            </a:r>
            <a:r>
              <a:rPr b="0" lang="en-US" sz="12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prediction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8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Cloud</a:t>
            </a:r>
            <a:r>
              <a:rPr b="0" lang="en-US" sz="1200" spc="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synchronization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394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Real-time</a:t>
            </a:r>
            <a:r>
              <a:rPr b="0" lang="en-US" sz="1200" spc="-6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emission</a:t>
            </a:r>
            <a:r>
              <a:rPr b="0" lang="en-US" sz="120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updates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5560" indent="-102960">
              <a:lnSpc>
                <a:spcPct val="100000"/>
              </a:lnSpc>
              <a:spcBef>
                <a:spcPts val="400"/>
              </a:spcBef>
              <a:buFont typeface="Symbol" charset="2"/>
              <a:buChar char=""/>
              <a:tabLst>
                <a:tab algn="l" pos="115560"/>
              </a:tabLst>
            </a:pP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Advanced</a:t>
            </a:r>
            <a:r>
              <a:rPr b="0" lang="en-US" sz="12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trike="noStrike" u="none">
                <a:solidFill>
                  <a:srgbClr val="1c2837"/>
                </a:solidFill>
                <a:uFillTx/>
                <a:latin typeface="Tahoma"/>
              </a:rPr>
              <a:t>dashboards</a:t>
            </a:r>
            <a:r>
              <a:rPr b="0" lang="en-US" sz="12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65" strike="noStrike" u="none">
                <a:solidFill>
                  <a:srgbClr val="1c2837"/>
                </a:solidFill>
                <a:uFillTx/>
                <a:latin typeface="Tahoma"/>
              </a:rPr>
              <a:t>/</a:t>
            </a:r>
            <a:r>
              <a:rPr b="0" lang="en-US" sz="12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200" spc="-11" strike="noStrike" u="none">
                <a:solidFill>
                  <a:srgbClr val="1c2837"/>
                </a:solidFill>
                <a:uFillTx/>
                <a:latin typeface="Tahoma"/>
              </a:rPr>
              <a:t>visualization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0" name="object 26"/>
          <p:cNvGrpSpPr/>
          <p:nvPr/>
        </p:nvGrpSpPr>
        <p:grpSpPr>
          <a:xfrm>
            <a:off x="8113680" y="1717560"/>
            <a:ext cx="162720" cy="4240800"/>
            <a:chOff x="8113680" y="1717560"/>
            <a:chExt cx="162720" cy="4240800"/>
          </a:xfrm>
        </p:grpSpPr>
        <p:pic>
          <p:nvPicPr>
            <p:cNvPr id="111" name="object 27" descr=""/>
            <p:cNvPicPr/>
            <p:nvPr/>
          </p:nvPicPr>
          <p:blipFill>
            <a:blip r:embed="rId6"/>
            <a:stretch/>
          </p:blipFill>
          <p:spPr>
            <a:xfrm>
              <a:off x="8113680" y="1717560"/>
              <a:ext cx="162720" cy="4240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2" name="object 28"/>
            <p:cNvSpPr/>
            <p:nvPr/>
          </p:nvSpPr>
          <p:spPr>
            <a:xfrm>
              <a:off x="8156520" y="1737360"/>
              <a:ext cx="82080" cy="416016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4160160"/>
                <a:gd name="textAreaBottom" fmla="*/ 4160520 h 4160160"/>
              </a:gdLst>
              <a:ahLst/>
              <a:rect l="textAreaLeft" t="textAreaTop" r="textAreaRight" b="textAreaBottom"/>
              <a:pathLst>
                <a:path w="82550" h="4160520">
                  <a:moveTo>
                    <a:pt x="82296" y="0"/>
                  </a:moveTo>
                  <a:lnTo>
                    <a:pt x="0" y="0"/>
                  </a:lnTo>
                  <a:lnTo>
                    <a:pt x="0" y="4160520"/>
                  </a:lnTo>
                  <a:lnTo>
                    <a:pt x="82296" y="416052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aa6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13" name="object 29"/>
          <p:cNvGrpSpPr/>
          <p:nvPr/>
        </p:nvGrpSpPr>
        <p:grpSpPr>
          <a:xfrm>
            <a:off x="368640" y="6454080"/>
            <a:ext cx="11418840" cy="98640"/>
            <a:chOff x="368640" y="6454080"/>
            <a:chExt cx="11418840" cy="98640"/>
          </a:xfrm>
        </p:grpSpPr>
        <p:pic>
          <p:nvPicPr>
            <p:cNvPr id="114" name="object 30" descr=""/>
            <p:cNvPicPr/>
            <p:nvPr/>
          </p:nvPicPr>
          <p:blipFill>
            <a:blip r:embed="rId7"/>
            <a:stretch/>
          </p:blipFill>
          <p:spPr>
            <a:xfrm>
              <a:off x="368640" y="6454080"/>
              <a:ext cx="11418840" cy="98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5" name="object 31"/>
            <p:cNvSpPr/>
            <p:nvPr/>
          </p:nvSpPr>
          <p:spPr>
            <a:xfrm>
              <a:off x="411480" y="6473880"/>
              <a:ext cx="11338200" cy="18000"/>
            </a:xfrm>
            <a:custGeom>
              <a:avLst/>
              <a:gdLst>
                <a:gd name="textAreaLeft" fmla="*/ 0 w 11338200"/>
                <a:gd name="textAreaRight" fmla="*/ 11338560 w 11338200"/>
                <a:gd name="textAreaTop" fmla="*/ 0 h 18000"/>
                <a:gd name="textAreaBottom" fmla="*/ 18360 h 18000"/>
              </a:gdLst>
              <a:ahLst/>
              <a:rect l="textAreaLeft" t="textAreaTop" r="textAreaRight" b="textAreaBottom"/>
              <a:pathLst>
                <a:path w="11338560" h="18414">
                  <a:moveTo>
                    <a:pt x="1133856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1338560" y="18288"/>
                  </a:lnTo>
                  <a:lnTo>
                    <a:pt x="11338560" y="0"/>
                  </a:lnTo>
                  <a:close/>
                </a:path>
              </a:pathLst>
            </a:custGeom>
            <a:solidFill>
              <a:srgbClr val="c3d2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0" y="0"/>
            <a:ext cx="12191760" cy="658080"/>
          </a:xfrm>
          <a:prstGeom prst="rect">
            <a:avLst/>
          </a:prstGeom>
          <a:solidFill>
            <a:srgbClr val="14376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WHOLE SYSTEM ARCHITECTURE — LOGISTICS &amp; SUPPLY CHAIN CARBON FOOTPRINT TRACKING SYSTEM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Rounded Rectangle 3"/>
          <p:cNvSpPr/>
          <p:nvPr/>
        </p:nvSpPr>
        <p:spPr>
          <a:xfrm>
            <a:off x="411480" y="914400"/>
            <a:ext cx="1919880" cy="914040"/>
          </a:xfrm>
          <a:prstGeom prst="roundRect">
            <a:avLst>
              <a:gd name="adj" fmla="val 16667"/>
            </a:avLst>
          </a:prstGeom>
          <a:solidFill>
            <a:srgbClr val="e8f3fd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USER / ROLE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Admin • Operator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Rounded Rectangle 4"/>
          <p:cNvSpPr/>
          <p:nvPr/>
        </p:nvSpPr>
        <p:spPr>
          <a:xfrm>
            <a:off x="2743200" y="9144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AUTHENTICATION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AuthManager + authorization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Rounded Rectangle 5"/>
          <p:cNvSpPr/>
          <p:nvPr/>
        </p:nvSpPr>
        <p:spPr>
          <a:xfrm>
            <a:off x="5212080" y="914400"/>
            <a:ext cx="20570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APPLICATION UI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Menu • workflow • reports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Rounded Rectangle 6"/>
          <p:cNvSpPr/>
          <p:nvPr/>
        </p:nvSpPr>
        <p:spPr>
          <a:xfrm>
            <a:off x="7680960" y="914400"/>
            <a:ext cx="27428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VALIDATION &amp; EXCEPTIONS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Input validation • safe error flow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22" name="Connector 7"/>
          <p:cNvCxnSpPr/>
          <p:nvPr/>
        </p:nvCxnSpPr>
        <p:spPr>
          <a:xfrm>
            <a:off x="2331720" y="1371600"/>
            <a:ext cx="41184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23" name="Connector 8"/>
          <p:cNvCxnSpPr/>
          <p:nvPr/>
        </p:nvCxnSpPr>
        <p:spPr>
          <a:xfrm>
            <a:off x="4800600" y="1371600"/>
            <a:ext cx="41184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24" name="Connector 9"/>
          <p:cNvCxnSpPr/>
          <p:nvPr/>
        </p:nvCxnSpPr>
        <p:spPr>
          <a:xfrm>
            <a:off x="7269480" y="1371600"/>
            <a:ext cx="41184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sp>
        <p:nvSpPr>
          <p:cNvPr id="125" name="Rounded Rectangle 10"/>
          <p:cNvSpPr/>
          <p:nvPr/>
        </p:nvSpPr>
        <p:spPr>
          <a:xfrm>
            <a:off x="502920" y="2331720"/>
            <a:ext cx="2239920" cy="1051200"/>
          </a:xfrm>
          <a:prstGeom prst="roundRect">
            <a:avLst>
              <a:gd name="adj" fmla="val 16667"/>
            </a:avLst>
          </a:prstGeom>
          <a:solidFill>
            <a:srgbClr val="f2f9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MODULE 2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Shipment CRUD</a:t>
            </a:r>
            <a:br>
              <a:rPr sz="920"/>
            </a:b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Binary / CSV persistence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Rounded Rectangle 11"/>
          <p:cNvSpPr/>
          <p:nvPr/>
        </p:nvSpPr>
        <p:spPr>
          <a:xfrm>
            <a:off x="3337560" y="2331720"/>
            <a:ext cx="2331360" cy="1051200"/>
          </a:xfrm>
          <a:prstGeom prst="roundRect">
            <a:avLst>
              <a:gd name="adj" fmla="val 16667"/>
            </a:avLst>
          </a:prstGeom>
          <a:solidFill>
            <a:srgbClr val="f2f9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MODULE 1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Carbon engine</a:t>
            </a:r>
            <a:br>
              <a:rPr sz="920"/>
            </a:b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Route optimization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Rounded Rectangle 12"/>
          <p:cNvSpPr/>
          <p:nvPr/>
        </p:nvSpPr>
        <p:spPr>
          <a:xfrm>
            <a:off x="6309360" y="2331720"/>
            <a:ext cx="2331360" cy="1051200"/>
          </a:xfrm>
          <a:prstGeom prst="roundRect">
            <a:avLst>
              <a:gd name="adj" fmla="val 16667"/>
            </a:avLst>
          </a:prstGeom>
          <a:solidFill>
            <a:srgbClr val="f2f9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MODULE 3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UI flow</a:t>
            </a:r>
            <a:br>
              <a:rPr sz="920"/>
            </a:b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Auth + exception handling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Rounded Rectangle 13"/>
          <p:cNvSpPr/>
          <p:nvPr/>
        </p:nvSpPr>
        <p:spPr>
          <a:xfrm>
            <a:off x="9144000" y="2331720"/>
            <a:ext cx="2331360" cy="1051200"/>
          </a:xfrm>
          <a:prstGeom prst="roundRect">
            <a:avLst>
              <a:gd name="adj" fmla="val 16667"/>
            </a:avLst>
          </a:prstGeom>
          <a:solidFill>
            <a:srgbClr val="f2f9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DATA SOURCES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Route topology</a:t>
            </a:r>
            <a:br>
              <a:rPr sz="920"/>
            </a:b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Emission factors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29" name="Connector 14"/>
          <p:cNvCxnSpPr/>
          <p:nvPr/>
        </p:nvCxnSpPr>
        <p:spPr>
          <a:xfrm flipH="1">
            <a:off x="1645920" y="1828800"/>
            <a:ext cx="2926440" cy="50328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30" name="Connector 15"/>
          <p:cNvCxnSpPr/>
          <p:nvPr/>
        </p:nvCxnSpPr>
        <p:spPr>
          <a:xfrm flipH="1">
            <a:off x="4480560" y="1828800"/>
            <a:ext cx="1737720" cy="50328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31" name="Connector 16"/>
          <p:cNvCxnSpPr/>
          <p:nvPr/>
        </p:nvCxnSpPr>
        <p:spPr>
          <a:xfrm>
            <a:off x="7315200" y="1828800"/>
            <a:ext cx="137520" cy="50328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32" name="Connector 17"/>
          <p:cNvCxnSpPr/>
          <p:nvPr/>
        </p:nvCxnSpPr>
        <p:spPr>
          <a:xfrm>
            <a:off x="9052560" y="1828800"/>
            <a:ext cx="1189080" cy="50328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sp>
        <p:nvSpPr>
          <p:cNvPr id="133" name="Rounded Rectangle 18"/>
          <p:cNvSpPr/>
          <p:nvPr/>
        </p:nvSpPr>
        <p:spPr>
          <a:xfrm>
            <a:off x="594360" y="3794760"/>
            <a:ext cx="214848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SHIPMENT DATA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Create • View • Update • Delete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Rounded Rectangle 19"/>
          <p:cNvSpPr/>
          <p:nvPr/>
        </p:nvSpPr>
        <p:spPr>
          <a:xfrm>
            <a:off x="3063240" y="3794760"/>
            <a:ext cx="23313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GRAPH MODEL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Nodes • edges • adjacency list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Rounded Rectangle 20"/>
          <p:cNvSpPr/>
          <p:nvPr/>
        </p:nvSpPr>
        <p:spPr>
          <a:xfrm>
            <a:off x="5715000" y="3794760"/>
            <a:ext cx="23313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PATH OPTIMIZER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C = α·Time + β·CO₂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Rounded Rectangle 21"/>
          <p:cNvSpPr/>
          <p:nvPr/>
        </p:nvSpPr>
        <p:spPr>
          <a:xfrm>
            <a:off x="8412480" y="3794760"/>
            <a:ext cx="25142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TRANSPORT MODES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Road • Rail • Sea • Air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37" name="Connector 22"/>
          <p:cNvCxnSpPr/>
          <p:nvPr/>
        </p:nvCxnSpPr>
        <p:spPr>
          <a:xfrm>
            <a:off x="1691640" y="3383280"/>
            <a:ext cx="360" cy="41184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38" name="Connector 23"/>
          <p:cNvCxnSpPr/>
          <p:nvPr/>
        </p:nvCxnSpPr>
        <p:spPr>
          <a:xfrm flipH="1">
            <a:off x="4224240" y="3383280"/>
            <a:ext cx="274680" cy="41184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39" name="Connector 24"/>
          <p:cNvCxnSpPr/>
          <p:nvPr/>
        </p:nvCxnSpPr>
        <p:spPr>
          <a:xfrm>
            <a:off x="5212080" y="3383280"/>
            <a:ext cx="1646280" cy="41184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40" name="Connector 25"/>
          <p:cNvCxnSpPr/>
          <p:nvPr/>
        </p:nvCxnSpPr>
        <p:spPr>
          <a:xfrm>
            <a:off x="7470360" y="3383280"/>
            <a:ext cx="2176920" cy="41184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41" name="Connector 26"/>
          <p:cNvCxnSpPr/>
          <p:nvPr/>
        </p:nvCxnSpPr>
        <p:spPr>
          <a:xfrm>
            <a:off x="2743200" y="4251960"/>
            <a:ext cx="32040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42" name="Connector 27"/>
          <p:cNvCxnSpPr/>
          <p:nvPr/>
        </p:nvCxnSpPr>
        <p:spPr>
          <a:xfrm>
            <a:off x="5394960" y="4251960"/>
            <a:ext cx="32040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43" name="Connector 28"/>
          <p:cNvCxnSpPr/>
          <p:nvPr/>
        </p:nvCxnSpPr>
        <p:spPr>
          <a:xfrm>
            <a:off x="8046720" y="4251960"/>
            <a:ext cx="36612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sp>
        <p:nvSpPr>
          <p:cNvPr id="144" name="Rounded Rectangle 29"/>
          <p:cNvSpPr/>
          <p:nvPr/>
        </p:nvSpPr>
        <p:spPr>
          <a:xfrm>
            <a:off x="960120" y="5166360"/>
            <a:ext cx="274284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GREEN ROUTE / INTERMODAL RESULT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Optimized time + CO₂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Rounded Rectangle 30"/>
          <p:cNvSpPr/>
          <p:nvPr/>
        </p:nvSpPr>
        <p:spPr>
          <a:xfrm>
            <a:off x="4343400" y="5166360"/>
            <a:ext cx="274284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PERSISTENCE &amp; REPORTING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Binary storage • CSV export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Rounded Rectangle 31"/>
          <p:cNvSpPr/>
          <p:nvPr/>
        </p:nvSpPr>
        <p:spPr>
          <a:xfrm>
            <a:off x="7726680" y="5166360"/>
            <a:ext cx="274284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878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193a66"/>
                </a:solidFill>
                <a:uFillTx/>
                <a:latin typeface="Calibri"/>
              </a:rPr>
              <a:t>SYSTEM OUTPUT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20" strike="noStrike" u="none">
                <a:solidFill>
                  <a:srgbClr val="414b58"/>
                </a:solidFill>
                <a:uFillTx/>
                <a:latin typeface="Calibri"/>
              </a:rPr>
              <a:t>Decision-ready logistics report</a:t>
            </a:r>
            <a:endParaRPr b="0" lang="en-US" sz="92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47" name="Connector 32"/>
          <p:cNvCxnSpPr/>
          <p:nvPr/>
        </p:nvCxnSpPr>
        <p:spPr>
          <a:xfrm flipH="1">
            <a:off x="9144000" y="4709160"/>
            <a:ext cx="1234800" cy="4575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48" name="Connector 33"/>
          <p:cNvCxnSpPr/>
          <p:nvPr/>
        </p:nvCxnSpPr>
        <p:spPr>
          <a:xfrm flipH="1">
            <a:off x="5715000" y="4709160"/>
            <a:ext cx="1143360" cy="4575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49" name="Connector 34"/>
          <p:cNvCxnSpPr/>
          <p:nvPr/>
        </p:nvCxnSpPr>
        <p:spPr>
          <a:xfrm flipH="1">
            <a:off x="4343400" y="5468040"/>
            <a:ext cx="137196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  <p:cxnSp>
        <p:nvCxnSpPr>
          <p:cNvPr id="150" name="Connector 35"/>
          <p:cNvCxnSpPr/>
          <p:nvPr/>
        </p:nvCxnSpPr>
        <p:spPr>
          <a:xfrm>
            <a:off x="7086600" y="5468040"/>
            <a:ext cx="640080" cy="360"/>
          </a:xfrm>
          <a:prstGeom prst="straightConnector1">
            <a:avLst/>
          </a:prstGeom>
          <a:ln>
            <a:solidFill>
              <a:srgbClr val="2878be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90320" y="118440"/>
            <a:ext cx="8160840" cy="4399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1400" strike="noStrike" u="none">
                <a:solidFill>
                  <a:schemeClr val="lt1"/>
                </a:solidFill>
                <a:uFillTx/>
                <a:latin typeface="Trebuchet MS"/>
              </a:rPr>
              <a:t>SIMATS</a:t>
            </a:r>
            <a:r>
              <a:rPr b="1" lang="en-US" sz="1400" spc="-79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400" strike="noStrike" u="none">
                <a:solidFill>
                  <a:schemeClr val="lt1"/>
                </a:solidFill>
                <a:uFillTx/>
                <a:latin typeface="Trebuchet MS"/>
              </a:rPr>
              <a:t>ENGINEERING</a:t>
            </a:r>
            <a:r>
              <a:rPr b="1" lang="en-US" sz="1400" spc="37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400" strike="noStrike" u="none">
                <a:solidFill>
                  <a:schemeClr val="lt1"/>
                </a:solidFill>
                <a:uFillTx/>
                <a:latin typeface="Trebuchet MS"/>
              </a:rPr>
              <a:t>•</a:t>
            </a:r>
            <a:r>
              <a:rPr b="1" lang="en-US" sz="1400" spc="3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400" strike="noStrike" u="none">
                <a:solidFill>
                  <a:schemeClr val="lt1"/>
                </a:solidFill>
                <a:uFillTx/>
                <a:latin typeface="Trebuchet MS"/>
              </a:rPr>
              <a:t>LOGISTICS</a:t>
            </a:r>
            <a:r>
              <a:rPr b="1" lang="en-US" sz="14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pc="-60" strike="noStrike" u="none">
                <a:solidFill>
                  <a:schemeClr val="lt1"/>
                </a:solidFill>
                <a:uFillTx/>
                <a:latin typeface="Trebuchet MS"/>
              </a:rPr>
              <a:t>A</a:t>
            </a:r>
            <a:r>
              <a:rPr b="1" lang="en-IN" sz="1400" strike="noStrike" u="none">
                <a:solidFill>
                  <a:schemeClr val="lt1"/>
                </a:solidFill>
                <a:uFillTx/>
                <a:latin typeface="Trebuchet MS"/>
              </a:rPr>
              <a:t>ND</a:t>
            </a:r>
            <a:r>
              <a:rPr b="1" lang="en-IN" sz="14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trike="noStrike" u="none">
                <a:solidFill>
                  <a:schemeClr val="lt1"/>
                </a:solidFill>
                <a:uFillTx/>
                <a:latin typeface="Trebuchet MS"/>
              </a:rPr>
              <a:t>SUPPLY</a:t>
            </a:r>
            <a:r>
              <a:rPr b="1" lang="en-IN" sz="1400" spc="-5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pc="51" strike="noStrike" u="none">
                <a:solidFill>
                  <a:schemeClr val="lt1"/>
                </a:solidFill>
                <a:uFillTx/>
                <a:latin typeface="Trebuchet MS"/>
              </a:rPr>
              <a:t>CHAIN</a:t>
            </a:r>
            <a:r>
              <a:rPr b="1" lang="en-IN" sz="1400" spc="-5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trike="noStrike" u="none">
                <a:solidFill>
                  <a:schemeClr val="lt1"/>
                </a:solidFill>
                <a:uFillTx/>
                <a:latin typeface="Trebuchet MS"/>
              </a:rPr>
              <a:t>CARBON</a:t>
            </a:r>
            <a:r>
              <a:rPr b="1" lang="en-IN" sz="1400" spc="-45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pc="-31" strike="noStrike" u="none">
                <a:solidFill>
                  <a:schemeClr val="lt1"/>
                </a:solidFill>
                <a:uFillTx/>
                <a:latin typeface="Trebuchet MS"/>
              </a:rPr>
              <a:t>FOOTPRINT</a:t>
            </a:r>
            <a:r>
              <a:rPr b="1" lang="en-IN" sz="1400" spc="-34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trike="noStrike" u="none">
                <a:solidFill>
                  <a:schemeClr val="lt1"/>
                </a:solidFill>
                <a:uFillTx/>
                <a:latin typeface="Trebuchet MS"/>
              </a:rPr>
              <a:t>TRACKING</a:t>
            </a:r>
            <a:r>
              <a:rPr b="1" lang="en-IN" sz="14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400" spc="-11" strike="noStrike" u="none">
                <a:solidFill>
                  <a:schemeClr val="lt1"/>
                </a:solidFill>
                <a:uFillTx/>
                <a:latin typeface="Trebuchet MS"/>
              </a:rPr>
              <a:t>SYSTEM</a:t>
            </a:r>
            <a:endParaRPr b="0" lang="en-US" sz="14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3" name="object 8"/>
          <p:cNvSpPr/>
          <p:nvPr/>
        </p:nvSpPr>
        <p:spPr>
          <a:xfrm>
            <a:off x="536040" y="1104480"/>
            <a:ext cx="28839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US" sz="2400" spc="-26" strike="noStrike" u="none">
                <a:solidFill>
                  <a:srgbClr val="173e6c"/>
                </a:solidFill>
                <a:uFillTx/>
                <a:latin typeface="Trebuchet MS"/>
              </a:rPr>
              <a:t>UML</a:t>
            </a:r>
            <a:r>
              <a:rPr b="1" lang="en-US" sz="2400" spc="-28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400" spc="60" strike="noStrike" u="none">
                <a:solidFill>
                  <a:srgbClr val="173e6c"/>
                </a:solidFill>
                <a:uFillTx/>
                <a:latin typeface="Trebuchet MS"/>
              </a:rPr>
              <a:t>Class</a:t>
            </a:r>
            <a:r>
              <a:rPr b="1" lang="en-US" sz="2400" spc="-261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400" spc="-79" strike="noStrike" u="none">
                <a:solidFill>
                  <a:srgbClr val="173e6c"/>
                </a:solidFill>
                <a:uFillTx/>
                <a:latin typeface="Trebuchet MS"/>
              </a:rPr>
              <a:t>Diagram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4" name="object 9"/>
          <p:cNvGrpSpPr/>
          <p:nvPr/>
        </p:nvGrpSpPr>
        <p:grpSpPr>
          <a:xfrm>
            <a:off x="411480" y="1769760"/>
            <a:ext cx="3107880" cy="2016000"/>
            <a:chOff x="411480" y="1769760"/>
            <a:chExt cx="3107880" cy="2016000"/>
          </a:xfrm>
        </p:grpSpPr>
        <p:pic>
          <p:nvPicPr>
            <p:cNvPr id="155" name="object 10" descr=""/>
            <p:cNvPicPr/>
            <p:nvPr/>
          </p:nvPicPr>
          <p:blipFill>
            <a:blip r:embed="rId1"/>
            <a:stretch/>
          </p:blipFill>
          <p:spPr>
            <a:xfrm>
              <a:off x="411480" y="1769760"/>
              <a:ext cx="3107880" cy="2016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6" name="object 11" descr=""/>
            <p:cNvPicPr/>
            <p:nvPr/>
          </p:nvPicPr>
          <p:blipFill>
            <a:blip r:embed="rId2"/>
            <a:stretch/>
          </p:blipFill>
          <p:spPr>
            <a:xfrm>
              <a:off x="429840" y="2239200"/>
              <a:ext cx="2775960" cy="1093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57" name="object 13"/>
          <p:cNvGrpSpPr/>
          <p:nvPr/>
        </p:nvGrpSpPr>
        <p:grpSpPr>
          <a:xfrm>
            <a:off x="86760" y="4270320"/>
            <a:ext cx="1924560" cy="1513080"/>
            <a:chOff x="86760" y="4270320"/>
            <a:chExt cx="1924560" cy="1513080"/>
          </a:xfrm>
        </p:grpSpPr>
        <p:pic>
          <p:nvPicPr>
            <p:cNvPr id="158" name="object 14" descr=""/>
            <p:cNvPicPr/>
            <p:nvPr/>
          </p:nvPicPr>
          <p:blipFill>
            <a:blip r:embed="rId3"/>
            <a:stretch/>
          </p:blipFill>
          <p:spPr>
            <a:xfrm>
              <a:off x="86760" y="4270320"/>
              <a:ext cx="1924560" cy="1513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object 15" descr=""/>
            <p:cNvPicPr/>
            <p:nvPr/>
          </p:nvPicPr>
          <p:blipFill>
            <a:blip r:embed="rId4"/>
            <a:stretch/>
          </p:blipFill>
          <p:spPr>
            <a:xfrm>
              <a:off x="105120" y="4680360"/>
              <a:ext cx="1773720" cy="70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0" name="object 16"/>
            <p:cNvSpPr/>
            <p:nvPr/>
          </p:nvSpPr>
          <p:spPr>
            <a:xfrm>
              <a:off x="13716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1828800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1828800" y="141732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1" name="object 17"/>
            <p:cNvSpPr/>
            <p:nvPr/>
          </p:nvSpPr>
          <p:spPr>
            <a:xfrm>
              <a:off x="13716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0" y="1417320"/>
                  </a:moveTo>
                  <a:lnTo>
                    <a:pt x="1828800" y="141732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62" name="object 18"/>
          <p:cNvSpPr/>
          <p:nvPr/>
        </p:nvSpPr>
        <p:spPr>
          <a:xfrm>
            <a:off x="197640" y="4708800"/>
            <a:ext cx="16023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352440">
              <a:lnSpc>
                <a:spcPct val="100000"/>
              </a:lnSpc>
              <a:spcBef>
                <a:spcPts val="201"/>
              </a:spcBef>
            </a:pPr>
            <a:r>
              <a:rPr b="1" lang="en-US" sz="1200" spc="-11" strike="noStrike" u="none">
                <a:solidFill>
                  <a:srgbClr val="173e6c"/>
                </a:solidFill>
                <a:uFillTx/>
                <a:latin typeface="Trebuchet MS"/>
              </a:rPr>
              <a:t>RoadTransport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  <a:spcBef>
                <a:spcPts val="60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calculateEmission()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3" name="object 19"/>
          <p:cNvGrpSpPr/>
          <p:nvPr/>
        </p:nvGrpSpPr>
        <p:grpSpPr>
          <a:xfrm>
            <a:off x="2098440" y="4270320"/>
            <a:ext cx="1924560" cy="1513080"/>
            <a:chOff x="2098440" y="4270320"/>
            <a:chExt cx="1924560" cy="1513080"/>
          </a:xfrm>
        </p:grpSpPr>
        <p:pic>
          <p:nvPicPr>
            <p:cNvPr id="164" name="object 20" descr=""/>
            <p:cNvPicPr/>
            <p:nvPr/>
          </p:nvPicPr>
          <p:blipFill>
            <a:blip r:embed="rId5"/>
            <a:stretch/>
          </p:blipFill>
          <p:spPr>
            <a:xfrm>
              <a:off x="2098440" y="4270320"/>
              <a:ext cx="1924560" cy="1513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5" name="object 21" descr=""/>
            <p:cNvPicPr/>
            <p:nvPr/>
          </p:nvPicPr>
          <p:blipFill>
            <a:blip r:embed="rId6"/>
            <a:stretch/>
          </p:blipFill>
          <p:spPr>
            <a:xfrm>
              <a:off x="2116800" y="4680360"/>
              <a:ext cx="1773720" cy="70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6" name="object 22"/>
            <p:cNvSpPr/>
            <p:nvPr/>
          </p:nvSpPr>
          <p:spPr>
            <a:xfrm>
              <a:off x="214884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1828800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1828800" y="141732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7" name="object 23"/>
            <p:cNvSpPr/>
            <p:nvPr/>
          </p:nvSpPr>
          <p:spPr>
            <a:xfrm>
              <a:off x="214884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0" y="1417320"/>
                  </a:moveTo>
                  <a:lnTo>
                    <a:pt x="1828800" y="141732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68" name="object 24"/>
          <p:cNvSpPr/>
          <p:nvPr/>
        </p:nvSpPr>
        <p:spPr>
          <a:xfrm>
            <a:off x="2209680" y="4708800"/>
            <a:ext cx="16023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396360">
              <a:lnSpc>
                <a:spcPct val="100000"/>
              </a:lnSpc>
              <a:spcBef>
                <a:spcPts val="201"/>
              </a:spcBef>
            </a:pPr>
            <a:r>
              <a:rPr b="1" lang="en-US" sz="1200" spc="-11" strike="noStrike" u="none">
                <a:solidFill>
                  <a:srgbClr val="173e6c"/>
                </a:solidFill>
                <a:uFillTx/>
                <a:latin typeface="Trebuchet MS"/>
              </a:rPr>
              <a:t>RailTransport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  <a:spcBef>
                <a:spcPts val="60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calculateEmission()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9" name="object 25"/>
          <p:cNvGrpSpPr/>
          <p:nvPr/>
        </p:nvGrpSpPr>
        <p:grpSpPr>
          <a:xfrm>
            <a:off x="4110120" y="4270320"/>
            <a:ext cx="1924560" cy="1513080"/>
            <a:chOff x="4110120" y="4270320"/>
            <a:chExt cx="1924560" cy="1513080"/>
          </a:xfrm>
        </p:grpSpPr>
        <p:pic>
          <p:nvPicPr>
            <p:cNvPr id="170" name="object 26" descr=""/>
            <p:cNvPicPr/>
            <p:nvPr/>
          </p:nvPicPr>
          <p:blipFill>
            <a:blip r:embed="rId7"/>
            <a:stretch/>
          </p:blipFill>
          <p:spPr>
            <a:xfrm>
              <a:off x="4110120" y="4270320"/>
              <a:ext cx="1924560" cy="1513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1" name="object 27" descr=""/>
            <p:cNvPicPr/>
            <p:nvPr/>
          </p:nvPicPr>
          <p:blipFill>
            <a:blip r:embed="rId8"/>
            <a:stretch/>
          </p:blipFill>
          <p:spPr>
            <a:xfrm>
              <a:off x="4128480" y="4680360"/>
              <a:ext cx="1773720" cy="70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2" name="object 28"/>
            <p:cNvSpPr/>
            <p:nvPr/>
          </p:nvSpPr>
          <p:spPr>
            <a:xfrm>
              <a:off x="416052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1828800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1828800" y="141732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3" name="object 29"/>
            <p:cNvSpPr/>
            <p:nvPr/>
          </p:nvSpPr>
          <p:spPr>
            <a:xfrm>
              <a:off x="416052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0" y="1417320"/>
                  </a:moveTo>
                  <a:lnTo>
                    <a:pt x="1828800" y="141732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74" name="object 30"/>
          <p:cNvSpPr/>
          <p:nvPr/>
        </p:nvSpPr>
        <p:spPr>
          <a:xfrm>
            <a:off x="4221720" y="4708800"/>
            <a:ext cx="16023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405720">
              <a:lnSpc>
                <a:spcPct val="100000"/>
              </a:lnSpc>
              <a:spcBef>
                <a:spcPts val="201"/>
              </a:spcBef>
            </a:pPr>
            <a:r>
              <a:rPr b="1" lang="en-US" sz="1200" spc="-11" strike="noStrike" u="none">
                <a:solidFill>
                  <a:srgbClr val="173e6c"/>
                </a:solidFill>
                <a:uFillTx/>
                <a:latin typeface="Trebuchet MS"/>
              </a:rPr>
              <a:t>SeaTransport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  <a:spcBef>
                <a:spcPts val="60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calculateEmission()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5" name="object 31"/>
          <p:cNvGrpSpPr/>
          <p:nvPr/>
        </p:nvGrpSpPr>
        <p:grpSpPr>
          <a:xfrm>
            <a:off x="6121800" y="4270320"/>
            <a:ext cx="1924560" cy="1513080"/>
            <a:chOff x="6121800" y="4270320"/>
            <a:chExt cx="1924560" cy="1513080"/>
          </a:xfrm>
        </p:grpSpPr>
        <p:pic>
          <p:nvPicPr>
            <p:cNvPr id="176" name="object 32" descr=""/>
            <p:cNvPicPr/>
            <p:nvPr/>
          </p:nvPicPr>
          <p:blipFill>
            <a:blip r:embed="rId9"/>
            <a:stretch/>
          </p:blipFill>
          <p:spPr>
            <a:xfrm>
              <a:off x="6121800" y="4270320"/>
              <a:ext cx="1924560" cy="1513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7" name="object 33" descr=""/>
            <p:cNvPicPr/>
            <p:nvPr/>
          </p:nvPicPr>
          <p:blipFill>
            <a:blip r:embed="rId10"/>
            <a:stretch/>
          </p:blipFill>
          <p:spPr>
            <a:xfrm>
              <a:off x="6140160" y="4680360"/>
              <a:ext cx="1773720" cy="70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8" name="object 34"/>
            <p:cNvSpPr/>
            <p:nvPr/>
          </p:nvSpPr>
          <p:spPr>
            <a:xfrm>
              <a:off x="617220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1828800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1828800" y="141732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9" name="object 35"/>
            <p:cNvSpPr/>
            <p:nvPr/>
          </p:nvSpPr>
          <p:spPr>
            <a:xfrm>
              <a:off x="6172200" y="4297680"/>
              <a:ext cx="1828440" cy="141696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1416960"/>
                <a:gd name="textAreaBottom" fmla="*/ 1417320 h 1416960"/>
              </a:gdLst>
              <a:ahLst/>
              <a:rect l="textAreaLeft" t="textAreaTop" r="textAreaRight" b="textAreaBottom"/>
              <a:pathLst>
                <a:path w="1828800" h="1417320">
                  <a:moveTo>
                    <a:pt x="0" y="1417320"/>
                  </a:moveTo>
                  <a:lnTo>
                    <a:pt x="1828800" y="141732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80" name="object 36"/>
          <p:cNvSpPr/>
          <p:nvPr/>
        </p:nvSpPr>
        <p:spPr>
          <a:xfrm>
            <a:off x="6233400" y="4708800"/>
            <a:ext cx="160236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434520">
              <a:lnSpc>
                <a:spcPct val="100000"/>
              </a:lnSpc>
              <a:spcBef>
                <a:spcPts val="201"/>
              </a:spcBef>
            </a:pPr>
            <a:r>
              <a:rPr b="1" lang="en-US" sz="1200" spc="-11" strike="noStrike" u="none">
                <a:solidFill>
                  <a:srgbClr val="173e6c"/>
                </a:solidFill>
                <a:uFillTx/>
                <a:latin typeface="Trebuchet MS"/>
              </a:rPr>
              <a:t>AirTransport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  <a:spcBef>
                <a:spcPts val="60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35720">
              <a:lnSpc>
                <a:spcPct val="100000"/>
              </a:lnSpc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calculateEmission()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1" name="object 37"/>
          <p:cNvGrpSpPr/>
          <p:nvPr/>
        </p:nvGrpSpPr>
        <p:grpSpPr>
          <a:xfrm>
            <a:off x="3607200" y="1801440"/>
            <a:ext cx="2656080" cy="2016000"/>
            <a:chOff x="3607200" y="1801440"/>
            <a:chExt cx="2656080" cy="2016000"/>
          </a:xfrm>
        </p:grpSpPr>
        <p:pic>
          <p:nvPicPr>
            <p:cNvPr id="182" name="object 38" descr=""/>
            <p:cNvPicPr/>
            <p:nvPr/>
          </p:nvPicPr>
          <p:blipFill>
            <a:blip r:embed="rId11"/>
            <a:stretch/>
          </p:blipFill>
          <p:spPr>
            <a:xfrm>
              <a:off x="3607200" y="1801440"/>
              <a:ext cx="2656080" cy="2016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object 39" descr=""/>
            <p:cNvPicPr/>
            <p:nvPr/>
          </p:nvPicPr>
          <p:blipFill>
            <a:blip r:embed="rId12"/>
            <a:stretch/>
          </p:blipFill>
          <p:spPr>
            <a:xfrm>
              <a:off x="3624120" y="2144160"/>
              <a:ext cx="2140920" cy="1348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4" name="object 40"/>
            <p:cNvSpPr/>
            <p:nvPr/>
          </p:nvSpPr>
          <p:spPr>
            <a:xfrm>
              <a:off x="3657600" y="1828800"/>
              <a:ext cx="2559960" cy="1919880"/>
            </a:xfrm>
            <a:custGeom>
              <a:avLst/>
              <a:gdLst>
                <a:gd name="textAreaLeft" fmla="*/ 0 w 2559960"/>
                <a:gd name="textAreaRight" fmla="*/ 2560320 w 2559960"/>
                <a:gd name="textAreaTop" fmla="*/ 0 h 1919880"/>
                <a:gd name="textAreaBottom" fmla="*/ 1920240 h 1919880"/>
              </a:gdLst>
              <a:ahLst/>
              <a:rect l="textAreaLeft" t="textAreaTop" r="textAreaRight" b="textAreaBottom"/>
              <a:pathLst>
                <a:path w="2560320" h="1920239">
                  <a:moveTo>
                    <a:pt x="2560320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2560320" y="192023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5" name="object 41"/>
            <p:cNvSpPr/>
            <p:nvPr/>
          </p:nvSpPr>
          <p:spPr>
            <a:xfrm>
              <a:off x="3657600" y="1828800"/>
              <a:ext cx="2559960" cy="1919880"/>
            </a:xfrm>
            <a:custGeom>
              <a:avLst/>
              <a:gdLst>
                <a:gd name="textAreaLeft" fmla="*/ 0 w 2559960"/>
                <a:gd name="textAreaRight" fmla="*/ 2560320 w 2559960"/>
                <a:gd name="textAreaTop" fmla="*/ 0 h 1919880"/>
                <a:gd name="textAreaBottom" fmla="*/ 1920240 h 1919880"/>
              </a:gdLst>
              <a:ahLst/>
              <a:rect l="textAreaLeft" t="textAreaTop" r="textAreaRight" b="textAreaBottom"/>
              <a:pathLst>
                <a:path w="2560320" h="1920239">
                  <a:moveTo>
                    <a:pt x="0" y="1920239"/>
                  </a:moveTo>
                  <a:lnTo>
                    <a:pt x="2560320" y="1920239"/>
                  </a:lnTo>
                  <a:lnTo>
                    <a:pt x="2560320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86" name="object 43"/>
          <p:cNvGrpSpPr/>
          <p:nvPr/>
        </p:nvGrpSpPr>
        <p:grpSpPr>
          <a:xfrm>
            <a:off x="6670440" y="1801440"/>
            <a:ext cx="2656080" cy="2016000"/>
            <a:chOff x="6670440" y="1801440"/>
            <a:chExt cx="2656080" cy="2016000"/>
          </a:xfrm>
        </p:grpSpPr>
        <p:pic>
          <p:nvPicPr>
            <p:cNvPr id="187" name="object 44" descr=""/>
            <p:cNvPicPr/>
            <p:nvPr/>
          </p:nvPicPr>
          <p:blipFill>
            <a:blip r:embed="rId13"/>
            <a:stretch/>
          </p:blipFill>
          <p:spPr>
            <a:xfrm>
              <a:off x="6670440" y="1801440"/>
              <a:ext cx="2656080" cy="2016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8" name="object 45" descr=""/>
            <p:cNvPicPr/>
            <p:nvPr/>
          </p:nvPicPr>
          <p:blipFill>
            <a:blip r:embed="rId14"/>
            <a:stretch/>
          </p:blipFill>
          <p:spPr>
            <a:xfrm>
              <a:off x="6687360" y="2144160"/>
              <a:ext cx="2140920" cy="1348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9" name="object 46"/>
            <p:cNvSpPr/>
            <p:nvPr/>
          </p:nvSpPr>
          <p:spPr>
            <a:xfrm>
              <a:off x="6720840" y="1828800"/>
              <a:ext cx="2559960" cy="1919880"/>
            </a:xfrm>
            <a:custGeom>
              <a:avLst/>
              <a:gdLst>
                <a:gd name="textAreaLeft" fmla="*/ 0 w 2559960"/>
                <a:gd name="textAreaRight" fmla="*/ 2560320 w 2559960"/>
                <a:gd name="textAreaTop" fmla="*/ 0 h 1919880"/>
                <a:gd name="textAreaBottom" fmla="*/ 1920240 h 1919880"/>
              </a:gdLst>
              <a:ahLst/>
              <a:rect l="textAreaLeft" t="textAreaTop" r="textAreaRight" b="textAreaBottom"/>
              <a:pathLst>
                <a:path w="2560320" h="1920239">
                  <a:moveTo>
                    <a:pt x="2560320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2560320" y="1920239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0" name="object 47"/>
            <p:cNvSpPr/>
            <p:nvPr/>
          </p:nvSpPr>
          <p:spPr>
            <a:xfrm>
              <a:off x="6720840" y="1828800"/>
              <a:ext cx="2559960" cy="1919880"/>
            </a:xfrm>
            <a:custGeom>
              <a:avLst/>
              <a:gdLst>
                <a:gd name="textAreaLeft" fmla="*/ 0 w 2559960"/>
                <a:gd name="textAreaRight" fmla="*/ 2560320 w 2559960"/>
                <a:gd name="textAreaTop" fmla="*/ 0 h 1919880"/>
                <a:gd name="textAreaBottom" fmla="*/ 1920240 h 1919880"/>
              </a:gdLst>
              <a:ahLst/>
              <a:rect l="textAreaLeft" t="textAreaTop" r="textAreaRight" b="textAreaBottom"/>
              <a:pathLst>
                <a:path w="2560320" h="1920239">
                  <a:moveTo>
                    <a:pt x="0" y="1920239"/>
                  </a:moveTo>
                  <a:lnTo>
                    <a:pt x="2560320" y="1920239"/>
                  </a:lnTo>
                  <a:lnTo>
                    <a:pt x="2560320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91" name="object 48"/>
          <p:cNvSpPr/>
          <p:nvPr/>
        </p:nvSpPr>
        <p:spPr>
          <a:xfrm>
            <a:off x="7259040" y="1896480"/>
            <a:ext cx="147924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algn="ctr">
              <a:lnSpc>
                <a:spcPct val="100000"/>
              </a:lnSpc>
              <a:spcBef>
                <a:spcPts val="201"/>
              </a:spcBef>
            </a:pPr>
            <a:r>
              <a:rPr b="1" lang="en-US" sz="1400" spc="-11" strike="noStrike" u="none">
                <a:solidFill>
                  <a:srgbClr val="173e6c"/>
                </a:solidFill>
                <a:uFillTx/>
                <a:latin typeface="Trebuchet MS"/>
              </a:rPr>
              <a:t>PathOptimizer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object 49"/>
          <p:cNvSpPr/>
          <p:nvPr/>
        </p:nvSpPr>
        <p:spPr>
          <a:xfrm>
            <a:off x="7711560" y="2275200"/>
            <a:ext cx="5907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8040" indent="-55080">
              <a:lnSpc>
                <a:spcPct val="100000"/>
              </a:lnSpc>
              <a:spcBef>
                <a:spcPts val="99"/>
              </a:spcBef>
              <a:buFont typeface="OpenSymbol"/>
              <a:buChar char="-"/>
              <a:tabLst>
                <a:tab algn="l" pos="68040"/>
              </a:tabLst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Calibri"/>
              </a:rPr>
              <a:t>graph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100" spc="-11" strike="noStrike" u="none">
                <a:solidFill>
                  <a:srgbClr val="1c2837"/>
                </a:solidFill>
                <a:uFillTx/>
                <a:latin typeface="Calibri"/>
              </a:rPr>
              <a:t>alpha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100" spc="-20" strike="noStrike" u="none">
                <a:solidFill>
                  <a:srgbClr val="1c2837"/>
                </a:solidFill>
                <a:uFillTx/>
                <a:latin typeface="Calibri"/>
              </a:rPr>
              <a:t>beta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object 50"/>
          <p:cNvSpPr/>
          <p:nvPr/>
        </p:nvSpPr>
        <p:spPr>
          <a:xfrm>
            <a:off x="6773760" y="2809080"/>
            <a:ext cx="19681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1480">
              <a:lnSpc>
                <a:spcPct val="100000"/>
              </a:lnSpc>
              <a:spcBef>
                <a:spcPts val="96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4" name="object 51"/>
          <p:cNvGrpSpPr/>
          <p:nvPr/>
        </p:nvGrpSpPr>
        <p:grpSpPr>
          <a:xfrm>
            <a:off x="9596520" y="1801440"/>
            <a:ext cx="2107440" cy="2016000"/>
            <a:chOff x="9596520" y="1801440"/>
            <a:chExt cx="2107440" cy="2016000"/>
          </a:xfrm>
        </p:grpSpPr>
        <p:pic>
          <p:nvPicPr>
            <p:cNvPr id="195" name="object 52" descr=""/>
            <p:cNvPicPr/>
            <p:nvPr/>
          </p:nvPicPr>
          <p:blipFill>
            <a:blip r:embed="rId15"/>
            <a:stretch/>
          </p:blipFill>
          <p:spPr>
            <a:xfrm>
              <a:off x="9596520" y="1801440"/>
              <a:ext cx="2107440" cy="2016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6" name="object 53" descr=""/>
            <p:cNvPicPr/>
            <p:nvPr/>
          </p:nvPicPr>
          <p:blipFill>
            <a:blip r:embed="rId16"/>
            <a:stretch/>
          </p:blipFill>
          <p:spPr>
            <a:xfrm>
              <a:off x="9613440" y="2144160"/>
              <a:ext cx="1865160" cy="1348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7" name="object 54"/>
            <p:cNvSpPr/>
            <p:nvPr/>
          </p:nvSpPr>
          <p:spPr>
            <a:xfrm>
              <a:off x="9646920" y="1828800"/>
              <a:ext cx="2011320" cy="1919880"/>
            </a:xfrm>
            <a:custGeom>
              <a:avLst/>
              <a:gdLst>
                <a:gd name="textAreaLeft" fmla="*/ 0 w 2011320"/>
                <a:gd name="textAreaRight" fmla="*/ 2011680 w 2011320"/>
                <a:gd name="textAreaTop" fmla="*/ 0 h 1919880"/>
                <a:gd name="textAreaBottom" fmla="*/ 1920240 h 1919880"/>
              </a:gdLst>
              <a:ahLst/>
              <a:rect l="textAreaLeft" t="textAreaTop" r="textAreaRight" b="textAreaBottom"/>
              <a:pathLst>
                <a:path w="2011679" h="1920239">
                  <a:moveTo>
                    <a:pt x="201167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2011679" y="1920239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8" name="object 55"/>
            <p:cNvSpPr/>
            <p:nvPr/>
          </p:nvSpPr>
          <p:spPr>
            <a:xfrm>
              <a:off x="9646920" y="1828800"/>
              <a:ext cx="2011320" cy="1919880"/>
            </a:xfrm>
            <a:custGeom>
              <a:avLst/>
              <a:gdLst>
                <a:gd name="textAreaLeft" fmla="*/ 0 w 2011320"/>
                <a:gd name="textAreaRight" fmla="*/ 2011680 w 2011320"/>
                <a:gd name="textAreaTop" fmla="*/ 0 h 1919880"/>
                <a:gd name="textAreaBottom" fmla="*/ 1920240 h 1919880"/>
              </a:gdLst>
              <a:ahLst/>
              <a:rect l="textAreaLeft" t="textAreaTop" r="textAreaRight" b="textAreaBottom"/>
              <a:pathLst>
                <a:path w="2011679" h="1920239">
                  <a:moveTo>
                    <a:pt x="0" y="1920239"/>
                  </a:moveTo>
                  <a:lnTo>
                    <a:pt x="2011679" y="1920239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99" name="object 57"/>
          <p:cNvGrpSpPr/>
          <p:nvPr/>
        </p:nvGrpSpPr>
        <p:grpSpPr>
          <a:xfrm>
            <a:off x="8407800" y="4224600"/>
            <a:ext cx="3021840" cy="1650240"/>
            <a:chOff x="8407800" y="4224600"/>
            <a:chExt cx="3021840" cy="1650240"/>
          </a:xfrm>
        </p:grpSpPr>
        <p:pic>
          <p:nvPicPr>
            <p:cNvPr id="200" name="object 58" descr=""/>
            <p:cNvPicPr/>
            <p:nvPr/>
          </p:nvPicPr>
          <p:blipFill>
            <a:blip r:embed="rId17"/>
            <a:stretch/>
          </p:blipFill>
          <p:spPr>
            <a:xfrm>
              <a:off x="8407800" y="4224600"/>
              <a:ext cx="3021840" cy="1650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1" name="object 59" descr=""/>
            <p:cNvPicPr/>
            <p:nvPr/>
          </p:nvPicPr>
          <p:blipFill>
            <a:blip r:embed="rId18"/>
            <a:stretch/>
          </p:blipFill>
          <p:spPr>
            <a:xfrm>
              <a:off x="8424720" y="4448520"/>
              <a:ext cx="2345040" cy="121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2" name="object 60"/>
            <p:cNvSpPr/>
            <p:nvPr/>
          </p:nvSpPr>
          <p:spPr>
            <a:xfrm>
              <a:off x="8458200" y="4251960"/>
              <a:ext cx="2925720" cy="1554120"/>
            </a:xfrm>
            <a:custGeom>
              <a:avLst/>
              <a:gdLst>
                <a:gd name="textAreaLeft" fmla="*/ 0 w 2925720"/>
                <a:gd name="textAreaRight" fmla="*/ 2926080 w 292572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926079" h="1554479">
                  <a:moveTo>
                    <a:pt x="2926079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2926079" y="1554480"/>
                  </a:lnTo>
                  <a:lnTo>
                    <a:pt x="292607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3" name="object 61"/>
            <p:cNvSpPr/>
            <p:nvPr/>
          </p:nvSpPr>
          <p:spPr>
            <a:xfrm>
              <a:off x="8458200" y="4251960"/>
              <a:ext cx="2925720" cy="1554120"/>
            </a:xfrm>
            <a:custGeom>
              <a:avLst/>
              <a:gdLst>
                <a:gd name="textAreaLeft" fmla="*/ 0 w 2925720"/>
                <a:gd name="textAreaRight" fmla="*/ 2926080 w 2925720"/>
                <a:gd name="textAreaTop" fmla="*/ 0 h 1554120"/>
                <a:gd name="textAreaBottom" fmla="*/ 1554480 h 1554120"/>
              </a:gdLst>
              <a:ahLst/>
              <a:rect l="textAreaLeft" t="textAreaTop" r="textAreaRight" b="textAreaBottom"/>
              <a:pathLst>
                <a:path w="2926079" h="1554479">
                  <a:moveTo>
                    <a:pt x="0" y="1554480"/>
                  </a:moveTo>
                  <a:lnTo>
                    <a:pt x="2926079" y="1554480"/>
                  </a:lnTo>
                  <a:lnTo>
                    <a:pt x="292607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04" name="object 62"/>
          <p:cNvSpPr/>
          <p:nvPr/>
        </p:nvSpPr>
        <p:spPr>
          <a:xfrm>
            <a:off x="9190440" y="4477320"/>
            <a:ext cx="147924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560" bIns="0" anchor="t">
            <a:spAutoFit/>
          </a:bodyPr>
          <a:p>
            <a:pPr marL="29160">
              <a:lnSpc>
                <a:spcPct val="100000"/>
              </a:lnSpc>
              <a:spcBef>
                <a:spcPts val="201"/>
              </a:spcBef>
            </a:pPr>
            <a:r>
              <a:rPr b="1" lang="en-US" sz="1200" spc="-11" strike="noStrike" u="none">
                <a:solidFill>
                  <a:srgbClr val="173e6c"/>
                </a:solidFill>
                <a:uFillTx/>
                <a:latin typeface="Trebuchet MS"/>
              </a:rPr>
              <a:t>PersistenceManager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object 63"/>
          <p:cNvSpPr/>
          <p:nvPr/>
        </p:nvSpPr>
        <p:spPr>
          <a:xfrm>
            <a:off x="8519400" y="4784760"/>
            <a:ext cx="51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8040" indent="-55080">
              <a:lnSpc>
                <a:spcPct val="100000"/>
              </a:lnSpc>
              <a:spcBef>
                <a:spcPts val="99"/>
              </a:spcBef>
              <a:buFont typeface="OpenSymbol"/>
              <a:buChar char="-"/>
              <a:tabLst>
                <a:tab algn="l" pos="68040"/>
              </a:tabLst>
            </a:pP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binaryFile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csvFile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object 64"/>
          <p:cNvSpPr/>
          <p:nvPr/>
        </p:nvSpPr>
        <p:spPr>
          <a:xfrm>
            <a:off x="9190440" y="5046480"/>
            <a:ext cx="147924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7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7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object 65"/>
          <p:cNvSpPr/>
          <p:nvPr/>
        </p:nvSpPr>
        <p:spPr>
          <a:xfrm>
            <a:off x="8519400" y="5151960"/>
            <a:ext cx="62388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saveBinary()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loadBinary()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</a:pPr>
            <a:r>
              <a:rPr b="0" lang="en-US" sz="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800" spc="-11" strike="noStrike" u="none">
                <a:solidFill>
                  <a:srgbClr val="1c2837"/>
                </a:solidFill>
                <a:uFillTx/>
                <a:latin typeface="Calibri"/>
              </a:rPr>
              <a:t>exportCSV()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8" name="object 66"/>
          <p:cNvGrpSpPr/>
          <p:nvPr/>
        </p:nvGrpSpPr>
        <p:grpSpPr>
          <a:xfrm>
            <a:off x="999000" y="2674800"/>
            <a:ext cx="9690480" cy="1679760"/>
            <a:chOff x="999000" y="2674800"/>
            <a:chExt cx="9690480" cy="1679760"/>
          </a:xfrm>
        </p:grpSpPr>
        <p:pic>
          <p:nvPicPr>
            <p:cNvPr id="209" name="object 67" descr=""/>
            <p:cNvPicPr/>
            <p:nvPr/>
          </p:nvPicPr>
          <p:blipFill>
            <a:blip r:embed="rId19"/>
            <a:stretch/>
          </p:blipFill>
          <p:spPr>
            <a:xfrm>
              <a:off x="999000" y="3711600"/>
              <a:ext cx="1006920" cy="642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0" name="object 68"/>
            <p:cNvSpPr/>
            <p:nvPr/>
          </p:nvSpPr>
          <p:spPr>
            <a:xfrm>
              <a:off x="1046160" y="3742200"/>
              <a:ext cx="914040" cy="54828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548280"/>
                <a:gd name="textAreaBottom" fmla="*/ 548640 h 548280"/>
              </a:gdLst>
              <a:ahLst/>
              <a:rect l="textAreaLeft" t="textAreaTop" r="textAreaRight" b="textAreaBottom"/>
              <a:pathLst>
                <a:path w="914400" h="548639">
                  <a:moveTo>
                    <a:pt x="0" y="548640"/>
                  </a:moveTo>
                  <a:lnTo>
                    <a:pt x="91440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1" name="object 69" descr=""/>
            <p:cNvPicPr/>
            <p:nvPr/>
          </p:nvPicPr>
          <p:blipFill>
            <a:blip r:embed="rId20"/>
            <a:stretch/>
          </p:blipFill>
          <p:spPr>
            <a:xfrm>
              <a:off x="3010680" y="3711600"/>
              <a:ext cx="1006920" cy="642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2" name="object 70"/>
            <p:cNvSpPr/>
            <p:nvPr/>
          </p:nvSpPr>
          <p:spPr>
            <a:xfrm>
              <a:off x="3057840" y="3742200"/>
              <a:ext cx="914040" cy="54828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548280"/>
                <a:gd name="textAreaBottom" fmla="*/ 548640 h 548280"/>
              </a:gdLst>
              <a:ahLst/>
              <a:rect l="textAreaLeft" t="textAreaTop" r="textAreaRight" b="textAreaBottom"/>
              <a:pathLst>
                <a:path w="914400" h="548639">
                  <a:moveTo>
                    <a:pt x="0" y="548640"/>
                  </a:moveTo>
                  <a:lnTo>
                    <a:pt x="91440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3" name="object 71" descr=""/>
            <p:cNvPicPr/>
            <p:nvPr/>
          </p:nvPicPr>
          <p:blipFill>
            <a:blip r:embed="rId21"/>
            <a:stretch/>
          </p:blipFill>
          <p:spPr>
            <a:xfrm>
              <a:off x="5022360" y="3711600"/>
              <a:ext cx="1006920" cy="642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4" name="object 72"/>
            <p:cNvSpPr/>
            <p:nvPr/>
          </p:nvSpPr>
          <p:spPr>
            <a:xfrm>
              <a:off x="5069520" y="3742200"/>
              <a:ext cx="914040" cy="54828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548280"/>
                <a:gd name="textAreaBottom" fmla="*/ 548640 h 548280"/>
              </a:gdLst>
              <a:ahLst/>
              <a:rect l="textAreaLeft" t="textAreaTop" r="textAreaRight" b="textAreaBottom"/>
              <a:pathLst>
                <a:path w="914400" h="548639">
                  <a:moveTo>
                    <a:pt x="0" y="548640"/>
                  </a:moveTo>
                  <a:lnTo>
                    <a:pt x="91440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5" name="object 73" descr=""/>
            <p:cNvPicPr/>
            <p:nvPr/>
          </p:nvPicPr>
          <p:blipFill>
            <a:blip r:embed="rId22"/>
            <a:stretch/>
          </p:blipFill>
          <p:spPr>
            <a:xfrm>
              <a:off x="7034040" y="3711600"/>
              <a:ext cx="1006920" cy="642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6" name="object 74"/>
            <p:cNvSpPr/>
            <p:nvPr/>
          </p:nvSpPr>
          <p:spPr>
            <a:xfrm>
              <a:off x="7081200" y="3742200"/>
              <a:ext cx="914040" cy="548280"/>
            </a:xfrm>
            <a:custGeom>
              <a:avLst/>
              <a:gdLst>
                <a:gd name="textAreaLeft" fmla="*/ 0 w 914040"/>
                <a:gd name="textAreaRight" fmla="*/ 914400 w 914040"/>
                <a:gd name="textAreaTop" fmla="*/ 0 h 548280"/>
                <a:gd name="textAreaBottom" fmla="*/ 548640 h 548280"/>
              </a:gdLst>
              <a:ahLst/>
              <a:rect l="textAreaLeft" t="textAreaTop" r="textAreaRight" b="textAreaBottom"/>
              <a:pathLst>
                <a:path w="914400" h="548639">
                  <a:moveTo>
                    <a:pt x="0" y="548640"/>
                  </a:moveTo>
                  <a:lnTo>
                    <a:pt x="91440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7" name="object 75" descr=""/>
            <p:cNvPicPr/>
            <p:nvPr/>
          </p:nvPicPr>
          <p:blipFill>
            <a:blip r:embed="rId23"/>
            <a:stretch/>
          </p:blipFill>
          <p:spPr>
            <a:xfrm>
              <a:off x="4889880" y="3711600"/>
              <a:ext cx="3151440" cy="9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8" name="object 76"/>
            <p:cNvSpPr/>
            <p:nvPr/>
          </p:nvSpPr>
          <p:spPr>
            <a:xfrm>
              <a:off x="4932360" y="3742200"/>
              <a:ext cx="3062880" cy="360"/>
            </a:xfrm>
            <a:custGeom>
              <a:avLst/>
              <a:gdLst>
                <a:gd name="textAreaLeft" fmla="*/ 0 w 3062880"/>
                <a:gd name="textAreaRight" fmla="*/ 3063240 w 3062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063240" h="0">
                  <a:moveTo>
                    <a:pt x="0" y="0"/>
                  </a:moveTo>
                  <a:lnTo>
                    <a:pt x="306324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9" name="object 77" descr=""/>
            <p:cNvPicPr/>
            <p:nvPr/>
          </p:nvPicPr>
          <p:blipFill>
            <a:blip r:embed="rId24"/>
            <a:stretch/>
          </p:blipFill>
          <p:spPr>
            <a:xfrm>
              <a:off x="6170040" y="2705760"/>
              <a:ext cx="590760" cy="9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0" name="object 78"/>
            <p:cNvSpPr/>
            <p:nvPr/>
          </p:nvSpPr>
          <p:spPr>
            <a:xfrm>
              <a:off x="6212520" y="2736360"/>
              <a:ext cx="502560" cy="36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502920" h="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21" name="object 79" descr=""/>
            <p:cNvPicPr/>
            <p:nvPr/>
          </p:nvPicPr>
          <p:blipFill>
            <a:blip r:embed="rId25"/>
            <a:stretch/>
          </p:blipFill>
          <p:spPr>
            <a:xfrm>
              <a:off x="9249120" y="2674800"/>
              <a:ext cx="424080" cy="110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2" name="object 80"/>
            <p:cNvSpPr/>
            <p:nvPr/>
          </p:nvSpPr>
          <p:spPr>
            <a:xfrm>
              <a:off x="9281160" y="2736360"/>
              <a:ext cx="360000" cy="45360"/>
            </a:xfrm>
            <a:custGeom>
              <a:avLst/>
              <a:gdLst>
                <a:gd name="textAreaLeft" fmla="*/ 0 w 360000"/>
                <a:gd name="textAreaRight" fmla="*/ 360360 w 360000"/>
                <a:gd name="textAreaTop" fmla="*/ 0 h 45360"/>
                <a:gd name="textAreaBottom" fmla="*/ 45720 h 45360"/>
              </a:gdLst>
              <a:ahLst/>
              <a:rect l="textAreaLeft" t="textAreaTop" r="textAreaRight" b="textAreaBottom"/>
              <a:pathLst>
                <a:path w="548640" h="0">
                  <a:moveTo>
                    <a:pt x="0" y="0"/>
                  </a:moveTo>
                  <a:lnTo>
                    <a:pt x="548640" y="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23" name="object 81" descr=""/>
            <p:cNvPicPr/>
            <p:nvPr/>
          </p:nvPicPr>
          <p:blipFill>
            <a:blip r:embed="rId26"/>
            <a:stretch/>
          </p:blipFill>
          <p:spPr>
            <a:xfrm>
              <a:off x="9865440" y="3713400"/>
              <a:ext cx="824040" cy="597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4" name="object 82"/>
            <p:cNvSpPr/>
            <p:nvPr/>
          </p:nvSpPr>
          <p:spPr>
            <a:xfrm>
              <a:off x="9915840" y="3742200"/>
              <a:ext cx="731160" cy="502560"/>
            </a:xfrm>
            <a:custGeom>
              <a:avLst/>
              <a:gdLst>
                <a:gd name="textAreaLeft" fmla="*/ 0 w 731160"/>
                <a:gd name="textAreaRight" fmla="*/ 731520 w 731160"/>
                <a:gd name="textAreaTop" fmla="*/ 0 h 502560"/>
                <a:gd name="textAreaBottom" fmla="*/ 502920 h 502560"/>
              </a:gdLst>
              <a:ahLst/>
              <a:rect l="textAreaLeft" t="textAreaTop" r="textAreaRight" b="textAreaBottom"/>
              <a:pathLst>
                <a:path w="731520" h="502920">
                  <a:moveTo>
                    <a:pt x="731519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173e6c"/>
              </a:solidFill>
              <a:prstDash val="sys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25" name="object 83"/>
          <p:cNvSpPr/>
          <p:nvPr/>
        </p:nvSpPr>
        <p:spPr>
          <a:xfrm>
            <a:off x="2379240" y="6014880"/>
            <a:ext cx="73123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UML</a:t>
            </a:r>
            <a:r>
              <a:rPr b="0" lang="en-US" sz="1000" spc="-113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26" strike="noStrike" u="none">
                <a:solidFill>
                  <a:srgbClr val="5b6978"/>
                </a:solidFill>
                <a:uFillTx/>
                <a:latin typeface="Tahoma"/>
              </a:rPr>
              <a:t>legend:</a:t>
            </a:r>
            <a:r>
              <a:rPr b="0" lang="en-US" sz="1000" spc="-91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solid</a:t>
            </a:r>
            <a:r>
              <a:rPr b="0" lang="en-US" sz="1000" spc="-96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26" strike="noStrike" u="none">
                <a:solidFill>
                  <a:srgbClr val="5b6978"/>
                </a:solidFill>
                <a:uFillTx/>
                <a:latin typeface="Tahoma"/>
              </a:rPr>
              <a:t>arrow</a:t>
            </a:r>
            <a:r>
              <a:rPr b="0" lang="en-US" sz="1000" spc="-74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204" strike="noStrike" u="none">
                <a:solidFill>
                  <a:srgbClr val="5b6978"/>
                </a:solidFill>
                <a:uFillTx/>
                <a:latin typeface="Tahoma"/>
              </a:rPr>
              <a:t>=</a:t>
            </a:r>
            <a:r>
              <a:rPr b="0" lang="en-US" sz="1000" spc="-85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association</a:t>
            </a:r>
            <a:r>
              <a:rPr b="0" lang="en-US" sz="1000" spc="-79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60" strike="noStrike" u="none">
                <a:solidFill>
                  <a:srgbClr val="5b6978"/>
                </a:solidFill>
                <a:uFillTx/>
                <a:latin typeface="Tahoma"/>
              </a:rPr>
              <a:t>/</a:t>
            </a:r>
            <a:r>
              <a:rPr b="0" lang="en-US" sz="1000" spc="-96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usage</a:t>
            </a:r>
            <a:r>
              <a:rPr b="0" lang="en-US" sz="1000" spc="374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•</a:t>
            </a:r>
            <a:r>
              <a:rPr b="0" lang="en-US" sz="1000" spc="340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dashed</a:t>
            </a:r>
            <a:r>
              <a:rPr b="0" lang="en-US" sz="1000" spc="-74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26" strike="noStrike" u="none">
                <a:solidFill>
                  <a:srgbClr val="5b6978"/>
                </a:solidFill>
                <a:uFillTx/>
                <a:latin typeface="Tahoma"/>
              </a:rPr>
              <a:t>arrow</a:t>
            </a:r>
            <a:r>
              <a:rPr b="0" lang="en-US" sz="1000" spc="-91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204" strike="noStrike" u="none">
                <a:solidFill>
                  <a:srgbClr val="5b6978"/>
                </a:solidFill>
                <a:uFillTx/>
                <a:latin typeface="Tahoma"/>
              </a:rPr>
              <a:t>=</a:t>
            </a:r>
            <a:r>
              <a:rPr b="0" lang="en-US" sz="1000" spc="-79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dependency</a:t>
            </a:r>
            <a:r>
              <a:rPr b="0" lang="en-US" sz="1000" spc="320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•</a:t>
            </a:r>
            <a:r>
              <a:rPr b="0" lang="en-US" sz="1000" spc="340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trike="noStrike" u="none">
                <a:solidFill>
                  <a:srgbClr val="5b6978"/>
                </a:solidFill>
                <a:uFillTx/>
                <a:latin typeface="Tahoma"/>
              </a:rPr>
              <a:t>open-</a:t>
            </a:r>
            <a:r>
              <a:rPr b="0" lang="en-US" sz="1000" spc="-20" strike="noStrike" u="none">
                <a:solidFill>
                  <a:srgbClr val="5b6978"/>
                </a:solidFill>
                <a:uFillTx/>
                <a:latin typeface="Tahoma"/>
              </a:rPr>
              <a:t>triangle</a:t>
            </a:r>
            <a:r>
              <a:rPr b="0" lang="en-US" sz="1000" spc="-96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11" strike="noStrike" u="none">
                <a:solidFill>
                  <a:srgbClr val="5b6978"/>
                </a:solidFill>
                <a:uFillTx/>
                <a:latin typeface="Tahoma"/>
              </a:rPr>
              <a:t>intent</a:t>
            </a:r>
            <a:r>
              <a:rPr b="0" lang="en-US" sz="1000" spc="-99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204" strike="noStrike" u="none">
                <a:solidFill>
                  <a:srgbClr val="5b6978"/>
                </a:solidFill>
                <a:uFillTx/>
                <a:latin typeface="Tahoma"/>
              </a:rPr>
              <a:t>=</a:t>
            </a:r>
            <a:r>
              <a:rPr b="0" lang="en-US" sz="1000" spc="-85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11" strike="noStrike" u="none">
                <a:solidFill>
                  <a:srgbClr val="5b6978"/>
                </a:solidFill>
                <a:uFillTx/>
                <a:latin typeface="Tahoma"/>
              </a:rPr>
              <a:t>inheritance</a:t>
            </a:r>
            <a:r>
              <a:rPr b="0" lang="en-US" sz="1000" spc="-99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11" strike="noStrike" u="none">
                <a:solidFill>
                  <a:srgbClr val="5b6978"/>
                </a:solidFill>
                <a:uFillTx/>
                <a:latin typeface="Tahoma"/>
              </a:rPr>
              <a:t>to</a:t>
            </a:r>
            <a:r>
              <a:rPr b="0" lang="en-US" sz="1000" spc="-79" strike="noStrike" u="none">
                <a:solidFill>
                  <a:srgbClr val="5b6978"/>
                </a:solidFill>
                <a:uFillTx/>
                <a:latin typeface="Tahoma"/>
              </a:rPr>
              <a:t> </a:t>
            </a:r>
            <a:r>
              <a:rPr b="0" lang="en-US" sz="1000" spc="-11" strike="noStrike" u="none">
                <a:solidFill>
                  <a:srgbClr val="5b6978"/>
                </a:solidFill>
                <a:uFillTx/>
                <a:latin typeface="Tahoma"/>
              </a:rPr>
              <a:t>TransportMode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6" name="object 84"/>
          <p:cNvGrpSpPr/>
          <p:nvPr/>
        </p:nvGrpSpPr>
        <p:grpSpPr>
          <a:xfrm>
            <a:off x="368640" y="6454080"/>
            <a:ext cx="11418840" cy="98640"/>
            <a:chOff x="368640" y="6454080"/>
            <a:chExt cx="11418840" cy="98640"/>
          </a:xfrm>
        </p:grpSpPr>
        <p:pic>
          <p:nvPicPr>
            <p:cNvPr id="227" name="object 85" descr=""/>
            <p:cNvPicPr/>
            <p:nvPr/>
          </p:nvPicPr>
          <p:blipFill>
            <a:blip r:embed="rId27"/>
            <a:stretch/>
          </p:blipFill>
          <p:spPr>
            <a:xfrm>
              <a:off x="368640" y="6454080"/>
              <a:ext cx="11418840" cy="98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8" name="object 86"/>
            <p:cNvSpPr/>
            <p:nvPr/>
          </p:nvSpPr>
          <p:spPr>
            <a:xfrm>
              <a:off x="411480" y="6473880"/>
              <a:ext cx="11338200" cy="18000"/>
            </a:xfrm>
            <a:custGeom>
              <a:avLst/>
              <a:gdLst>
                <a:gd name="textAreaLeft" fmla="*/ 0 w 11338200"/>
                <a:gd name="textAreaRight" fmla="*/ 11338560 w 11338200"/>
                <a:gd name="textAreaTop" fmla="*/ 0 h 18000"/>
                <a:gd name="textAreaBottom" fmla="*/ 18360 h 18000"/>
              </a:gdLst>
              <a:ahLst/>
              <a:rect l="textAreaLeft" t="textAreaTop" r="textAreaRight" b="textAreaBottom"/>
              <a:pathLst>
                <a:path w="11338560" h="18414">
                  <a:moveTo>
                    <a:pt x="1133856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1338560" y="18288"/>
                  </a:lnTo>
                  <a:lnTo>
                    <a:pt x="11338560" y="0"/>
                  </a:lnTo>
                  <a:close/>
                </a:path>
              </a:pathLst>
            </a:custGeom>
            <a:solidFill>
              <a:srgbClr val="c3d2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29" name="TextBox 87"/>
          <p:cNvSpPr/>
          <p:nvPr/>
        </p:nvSpPr>
        <p:spPr>
          <a:xfrm>
            <a:off x="249840" y="1876680"/>
            <a:ext cx="32954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88080">
              <a:lnSpc>
                <a:spcPct val="100000"/>
              </a:lnSpc>
            </a:pPr>
            <a:r>
              <a:rPr b="1" lang="en-IN" sz="1400" spc="-31" strike="noStrike" u="none">
                <a:solidFill>
                  <a:srgbClr val="173e6c"/>
                </a:solidFill>
                <a:uFillTx/>
                <a:latin typeface="Trebuchet MS"/>
              </a:rPr>
              <a:t>&lt;&lt;abstract&gt;&gt;</a:t>
            </a:r>
            <a:r>
              <a:rPr b="1" lang="en-IN" sz="1400" spc="-60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IN" sz="1400" spc="-11" strike="noStrike" u="none">
                <a:solidFill>
                  <a:srgbClr val="173e6c"/>
                </a:solidFill>
                <a:uFillTx/>
                <a:latin typeface="Trebuchet MS"/>
              </a:rPr>
              <a:t>TransportMode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54120">
              <a:lnSpc>
                <a:spcPts val="831"/>
              </a:lnSpc>
              <a:spcBef>
                <a:spcPts val="54"/>
              </a:spcBef>
            </a:pPr>
            <a:r>
              <a:rPr b="0" lang="en-IN" sz="800" spc="-11" strike="noStrike" u="none">
                <a:solidFill>
                  <a:srgbClr val="c3d2df"/>
                </a:solidFill>
                <a:uFillTx/>
                <a:latin typeface="Calibri"/>
              </a:rPr>
              <a:t>\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TextBox 89"/>
          <p:cNvSpPr/>
          <p:nvPr/>
        </p:nvSpPr>
        <p:spPr>
          <a:xfrm>
            <a:off x="-1152720" y="2209320"/>
            <a:ext cx="6097320" cy="13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654120">
              <a:lnSpc>
                <a:spcPts val="831"/>
              </a:lnSpc>
              <a:spcBef>
                <a:spcPts val="54"/>
              </a:spcBef>
            </a:pP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8160" indent="-55080" algn="ctr">
              <a:lnSpc>
                <a:spcPts val="1009"/>
              </a:lnSpc>
              <a:buFont typeface="OpenSymbol"/>
              <a:buChar char="-"/>
              <a:tabLst>
                <a:tab algn="l" pos="128160"/>
              </a:tabLst>
            </a:pPr>
            <a:r>
              <a:rPr b="0" lang="en-IN" sz="1800" spc="-11" strike="noStrike" u="none">
                <a:solidFill>
                  <a:srgbClr val="1c2837"/>
                </a:solidFill>
                <a:uFillTx/>
                <a:latin typeface="Calibri"/>
              </a:rPr>
              <a:t>modeName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8160" indent="-55080" algn="ctr">
              <a:lnSpc>
                <a:spcPct val="100000"/>
              </a:lnSpc>
              <a:buFont typeface="OpenSymbol"/>
              <a:buChar char="-"/>
              <a:tabLst>
                <a:tab algn="l" pos="128160"/>
              </a:tabLst>
            </a:pPr>
            <a:r>
              <a:rPr b="0" lang="en-IN" sz="1800" spc="-11" strike="noStrike" u="none">
                <a:solidFill>
                  <a:srgbClr val="1c2837"/>
                </a:solidFill>
                <a:uFillTx/>
                <a:latin typeface="Calibri"/>
              </a:rPr>
              <a:t>emissionFactor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8160" indent="-55080" algn="ctr">
              <a:lnSpc>
                <a:spcPct val="100000"/>
              </a:lnSpc>
              <a:buFont typeface="OpenSymbol"/>
              <a:buChar char="-"/>
              <a:tabLst>
                <a:tab algn="l" pos="128160"/>
              </a:tabLst>
            </a:pPr>
            <a:r>
              <a:rPr b="0" lang="en-IN" sz="16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3080" algn="ctr">
              <a:lnSpc>
                <a:spcPct val="100000"/>
              </a:lnSpc>
              <a:spcBef>
                <a:spcPts val="11"/>
              </a:spcBef>
              <a:tabLst>
                <a:tab algn="l" pos="128160"/>
              </a:tabLst>
            </a:pPr>
            <a:r>
              <a:rPr b="0" lang="en-IN" sz="1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IN" sz="1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1c2837"/>
                </a:solidFill>
                <a:uFillTx/>
                <a:latin typeface="Calibri"/>
              </a:rPr>
              <a:t>calculateEmission()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3080" algn="ctr">
              <a:lnSpc>
                <a:spcPct val="100000"/>
              </a:lnSpc>
              <a:spcBef>
                <a:spcPts val="20"/>
              </a:spcBef>
              <a:tabLst>
                <a:tab algn="l" pos="128160"/>
              </a:tabLst>
            </a:pPr>
            <a:r>
              <a:rPr b="0" lang="en-IN" sz="18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IN" sz="18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IN" sz="1800" spc="-11" strike="noStrike" u="none">
                <a:solidFill>
                  <a:srgbClr val="1c2837"/>
                </a:solidFill>
                <a:uFillTx/>
                <a:latin typeface="Calibri"/>
              </a:rPr>
              <a:t>getMode()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TextBox 93"/>
          <p:cNvSpPr/>
          <p:nvPr/>
        </p:nvSpPr>
        <p:spPr>
          <a:xfrm>
            <a:off x="3498480" y="1891440"/>
            <a:ext cx="2925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16640">
              <a:lnSpc>
                <a:spcPct val="100000"/>
              </a:lnSpc>
              <a:spcBef>
                <a:spcPts val="201"/>
              </a:spcBef>
            </a:pPr>
            <a:r>
              <a:rPr b="1" lang="en-US" sz="1400" spc="-11" strike="noStrike" u="none">
                <a:solidFill>
                  <a:srgbClr val="173e6c"/>
                </a:solidFill>
                <a:uFillTx/>
                <a:latin typeface="Trebuchet MS"/>
              </a:rPr>
              <a:t>Graph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Box 95"/>
          <p:cNvSpPr/>
          <p:nvPr/>
        </p:nvSpPr>
        <p:spPr>
          <a:xfrm>
            <a:off x="3617280" y="2142000"/>
            <a:ext cx="249084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01480" algn="ctr">
              <a:lnSpc>
                <a:spcPts val="831"/>
              </a:lnSpc>
              <a:spcBef>
                <a:spcPts val="60"/>
              </a:spcBef>
            </a:pP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ts val="1009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adjacencyList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nodes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Edges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6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6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11"/>
              </a:spcBef>
              <a:tabLst>
                <a:tab algn="l" pos="68040"/>
              </a:tabLst>
            </a:pPr>
            <a:r>
              <a:rPr b="0" lang="en-US" sz="14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14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addNode()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26"/>
              </a:spcBef>
              <a:tabLst>
                <a:tab algn="l" pos="68040"/>
              </a:tabLst>
            </a:pPr>
            <a:r>
              <a:rPr b="0" lang="en-US" sz="14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14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addEdge()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26"/>
              </a:spcBef>
              <a:tabLst>
                <a:tab algn="l" pos="68040"/>
              </a:tabLst>
            </a:pPr>
            <a:r>
              <a:rPr b="0" lang="en-US" sz="14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US" sz="14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getNeighbors()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TextBox 97"/>
          <p:cNvSpPr/>
          <p:nvPr/>
        </p:nvSpPr>
        <p:spPr>
          <a:xfrm>
            <a:off x="6720840" y="2966040"/>
            <a:ext cx="248616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600" algn="ctr">
              <a:lnSpc>
                <a:spcPct val="100000"/>
              </a:lnSpc>
              <a:spcBef>
                <a:spcPts val="11"/>
              </a:spcBef>
            </a:pPr>
            <a:r>
              <a:rPr b="0" lang="en-IN" sz="1200" spc="-11" strike="noStrike" u="none">
                <a:solidFill>
                  <a:srgbClr val="1c2837"/>
                </a:solidFill>
                <a:uFillTx/>
                <a:latin typeface="Calibri"/>
              </a:rPr>
              <a:t>calculateCost()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26"/>
              </a:spcBef>
            </a:pPr>
            <a:r>
              <a:rPr b="0" lang="en-IN" sz="12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IN" sz="12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IN" sz="1200" spc="-11" strike="noStrike" u="none">
                <a:solidFill>
                  <a:srgbClr val="1c2837"/>
                </a:solidFill>
                <a:uFillTx/>
                <a:latin typeface="Calibri"/>
              </a:rPr>
              <a:t>optimizeRoute()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20"/>
              </a:spcBef>
            </a:pPr>
            <a:r>
              <a:rPr b="0" lang="en-IN" sz="1200" strike="noStrike" u="none">
                <a:solidFill>
                  <a:srgbClr val="1c2837"/>
                </a:solidFill>
                <a:uFillTx/>
                <a:latin typeface="Calibri"/>
              </a:rPr>
              <a:t>+</a:t>
            </a:r>
            <a:r>
              <a:rPr b="0" lang="en-IN" sz="1200" spc="11" strike="noStrike" u="none">
                <a:solidFill>
                  <a:srgbClr val="1c2837"/>
                </a:solidFill>
                <a:uFillTx/>
                <a:latin typeface="Calibri"/>
              </a:rPr>
              <a:t> </a:t>
            </a:r>
            <a:r>
              <a:rPr b="0" lang="en-IN" sz="1200" spc="-11" strike="noStrike" u="none">
                <a:solidFill>
                  <a:srgbClr val="1c2837"/>
                </a:solidFill>
                <a:uFillTx/>
                <a:latin typeface="Calibri"/>
              </a:rPr>
              <a:t>generateGreenRoute()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TextBox 99"/>
          <p:cNvSpPr/>
          <p:nvPr/>
        </p:nvSpPr>
        <p:spPr>
          <a:xfrm>
            <a:off x="10080720" y="1829880"/>
            <a:ext cx="1366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pc="-11" strike="noStrike" u="none">
                <a:solidFill>
                  <a:srgbClr val="173e6c"/>
                </a:solidFill>
                <a:uFillTx/>
                <a:latin typeface="Trebuchet MS"/>
              </a:rPr>
              <a:t>Shipment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TextBox 101"/>
          <p:cNvSpPr/>
          <p:nvPr/>
        </p:nvSpPr>
        <p:spPr>
          <a:xfrm>
            <a:off x="9543960" y="2075760"/>
            <a:ext cx="211968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5360" algn="ctr">
              <a:lnSpc>
                <a:spcPts val="831"/>
              </a:lnSpc>
              <a:spcBef>
                <a:spcPts val="60"/>
              </a:spcBef>
            </a:pP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ts val="1009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shipmentId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source/destination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8040" indent="-55080" algn="ctr">
              <a:lnSpc>
                <a:spcPct val="100000"/>
              </a:lnSpc>
              <a:buFont typeface="OpenSymbol"/>
              <a:buChar char="-"/>
              <a:tabLst>
                <a:tab algn="l" pos="68040"/>
              </a:tabLst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Calibri"/>
              </a:rPr>
              <a:t>goodsWeightKg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5360" algn="ctr">
              <a:lnSpc>
                <a:spcPct val="100000"/>
              </a:lnSpc>
              <a:spcBef>
                <a:spcPts val="14"/>
              </a:spcBef>
              <a:tabLst>
                <a:tab algn="l" pos="68040"/>
              </a:tabLst>
            </a:pPr>
            <a:r>
              <a:rPr b="0" lang="en-US" sz="600" spc="-11" strike="noStrike" u="none">
                <a:solidFill>
                  <a:srgbClr val="c3d2df"/>
                </a:solidFill>
                <a:uFillTx/>
                <a:latin typeface="Calibri"/>
              </a:rPr>
              <a:t>—————————————————</a:t>
            </a:r>
            <a:r>
              <a:rPr b="0" lang="en-US" sz="600" strike="noStrike" u="none">
                <a:solidFill>
                  <a:srgbClr val="c3d2df"/>
                </a:solidFill>
                <a:uFillTx/>
                <a:latin typeface="Calibri"/>
              </a:rPr>
              <a:t>—</a:t>
            </a:r>
            <a:endParaRPr b="0" lang="en-US" sz="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37" name="Rounded Rectangle 2"/>
          <p:cNvSpPr/>
          <p:nvPr/>
        </p:nvSpPr>
        <p:spPr>
          <a:xfrm>
            <a:off x="228600" y="164520"/>
            <a:ext cx="11731320" cy="658080"/>
          </a:xfrm>
          <a:prstGeom prst="roundRect">
            <a:avLst>
              <a:gd name="adj" fmla="val 16667"/>
            </a:avLst>
          </a:prstGeom>
          <a:solidFill>
            <a:srgbClr val="193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Calibri"/>
              </a:rPr>
              <a:t>MODULE 1: CARBON ENGINE &amp; GREEN PATH OPTIMIZER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8" name="Rounded Rectangle 3"/>
          <p:cNvSpPr/>
          <p:nvPr/>
        </p:nvSpPr>
        <p:spPr>
          <a:xfrm>
            <a:off x="411480" y="896040"/>
            <a:ext cx="53946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ecd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a66b4"/>
                </a:solidFill>
                <a:uFillTx/>
                <a:latin typeface="Calibri"/>
              </a:rPr>
              <a:t>Pre-Transit Carbon Optimizer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2d3744"/>
                </a:solidFill>
                <a:uFillTx/>
                <a:latin typeface="Calibri"/>
              </a:rPr>
              <a:t>Evaluates environmental footprint and time trade-offs before shipment dispatch.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Rounded Rectangle 4"/>
          <p:cNvSpPr/>
          <p:nvPr/>
        </p:nvSpPr>
        <p:spPr>
          <a:xfrm>
            <a:off x="6172200" y="896040"/>
            <a:ext cx="53946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ecd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a66b4"/>
                </a:solidFill>
                <a:uFillTx/>
                <a:latin typeface="Calibri"/>
              </a:rPr>
              <a:t>Routing Parameters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2d3744"/>
                </a:solidFill>
                <a:uFillTx/>
                <a:latin typeface="Calibri"/>
              </a:rPr>
              <a:t>Processes origin, destination, transit time, emissions matrix (CO₂), and intermodal transfer nodes.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Rounded Rectangle 5"/>
          <p:cNvSpPr/>
          <p:nvPr/>
        </p:nvSpPr>
        <p:spPr>
          <a:xfrm>
            <a:off x="411480" y="1792080"/>
            <a:ext cx="53946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ecd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a66b4"/>
                </a:solidFill>
                <a:uFillTx/>
                <a:latin typeface="Calibri"/>
              </a:rPr>
              <a:t>Dual-Weighted Optimization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2d3744"/>
                </a:solidFill>
                <a:uFillTx/>
                <a:latin typeface="Calibri"/>
              </a:rPr>
              <a:t>Solves route selection using integrated cost metrics: C = α · Time + β · CO₂.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Rounded Rectangle 6"/>
          <p:cNvSpPr/>
          <p:nvPr/>
        </p:nvSpPr>
        <p:spPr>
          <a:xfrm>
            <a:off x="6172200" y="1792080"/>
            <a:ext cx="53946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ecd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a66b4"/>
                </a:solidFill>
                <a:uFillTx/>
                <a:latin typeface="Calibri"/>
              </a:rPr>
              <a:t>Object-Oriented Design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2d3744"/>
                </a:solidFill>
                <a:uFillTx/>
                <a:latin typeface="Calibri"/>
              </a:rPr>
              <a:t>Built using the Graph and PathOptimizer classes with virtual inheritance and custom priority queues.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Rounded Rectangle 7"/>
          <p:cNvSpPr/>
          <p:nvPr/>
        </p:nvSpPr>
        <p:spPr>
          <a:xfrm>
            <a:off x="411480" y="2688480"/>
            <a:ext cx="53946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ecd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8680" rIns="5868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a66b4"/>
                </a:solidFill>
                <a:uFillTx/>
                <a:latin typeface="Calibri"/>
              </a:rPr>
              <a:t>Eco-Elasticity Routing Engine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2d3744"/>
                </a:solidFill>
                <a:uFillTx/>
                <a:latin typeface="Calibri"/>
              </a:rPr>
              <a:t>Evaluates virtual intermodal transfer hubs (e.g., inland rail terminals) for route substitution.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Rounded Rectangle 8"/>
          <p:cNvSpPr/>
          <p:nvPr/>
        </p:nvSpPr>
        <p:spPr>
          <a:xfrm>
            <a:off x="6172200" y="2688480"/>
            <a:ext cx="53946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ecd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a66b4"/>
                </a:solidFill>
                <a:uFillTx/>
                <a:latin typeface="Calibri"/>
              </a:rPr>
              <a:t>Sub-Millisecond Execution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2d3744"/>
                </a:solidFill>
                <a:uFillTx/>
                <a:latin typeface="Calibri"/>
              </a:rPr>
              <a:t>High-speed C++ graph algorithms engineered for fast, offline desktop computation.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Rounded Rectangle 9"/>
          <p:cNvSpPr/>
          <p:nvPr/>
        </p:nvSpPr>
        <p:spPr>
          <a:xfrm>
            <a:off x="411480" y="3675960"/>
            <a:ext cx="10972440" cy="658080"/>
          </a:xfrm>
          <a:prstGeom prst="roundRect">
            <a:avLst>
              <a:gd name="adj" fmla="val 16667"/>
            </a:avLst>
          </a:prstGeom>
          <a:solidFill>
            <a:srgbClr val="193a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</a:rPr>
              <a:t>STATUS  •  Validated Green Path and Carbon Optimization engine completed for real-world decision support.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Rounded Rectangle 10"/>
          <p:cNvSpPr/>
          <p:nvPr/>
        </p:nvSpPr>
        <p:spPr>
          <a:xfrm>
            <a:off x="685800" y="457200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e6f1fc"/>
          </a:solidFill>
          <a:ln>
            <a:solidFill>
              <a:srgbClr val="148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trike="noStrike" u="none">
                <a:solidFill>
                  <a:srgbClr val="193a66"/>
                </a:solidFill>
                <a:uFillTx/>
                <a:latin typeface="Calibri"/>
              </a:rPr>
              <a:t>Shipment Inputs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6" name="Connector 11"/>
          <p:cNvCxnSpPr/>
          <p:nvPr/>
        </p:nvCxnSpPr>
        <p:spPr>
          <a:xfrm>
            <a:off x="2834640" y="4869000"/>
            <a:ext cx="549000" cy="360"/>
          </a:xfrm>
          <a:prstGeom prst="straightConnector1">
            <a:avLst/>
          </a:prstGeom>
          <a:ln>
            <a:solidFill>
              <a:srgbClr val="1484dc"/>
            </a:solidFill>
            <a:round/>
          </a:ln>
        </p:spPr>
      </p:cxnSp>
      <p:sp>
        <p:nvSpPr>
          <p:cNvPr id="247" name="Rounded Rectangle 12"/>
          <p:cNvSpPr/>
          <p:nvPr/>
        </p:nvSpPr>
        <p:spPr>
          <a:xfrm>
            <a:off x="3474720" y="457200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e6f1fc"/>
          </a:solidFill>
          <a:ln>
            <a:solidFill>
              <a:srgbClr val="148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trike="noStrike" u="none">
                <a:solidFill>
                  <a:srgbClr val="193a66"/>
                </a:solidFill>
                <a:uFillTx/>
                <a:latin typeface="Calibri"/>
              </a:rPr>
              <a:t>Graph + Emission Data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8" name="Connector 13"/>
          <p:cNvCxnSpPr/>
          <p:nvPr/>
        </p:nvCxnSpPr>
        <p:spPr>
          <a:xfrm>
            <a:off x="5623560" y="4869000"/>
            <a:ext cx="549000" cy="360"/>
          </a:xfrm>
          <a:prstGeom prst="straightConnector1">
            <a:avLst/>
          </a:prstGeom>
          <a:ln>
            <a:solidFill>
              <a:srgbClr val="1484dc"/>
            </a:solidFill>
            <a:round/>
          </a:ln>
        </p:spPr>
      </p:cxnSp>
      <p:sp>
        <p:nvSpPr>
          <p:cNvPr id="249" name="Rounded Rectangle 14"/>
          <p:cNvSpPr/>
          <p:nvPr/>
        </p:nvSpPr>
        <p:spPr>
          <a:xfrm>
            <a:off x="6263640" y="457200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e6f1fc"/>
          </a:solidFill>
          <a:ln>
            <a:solidFill>
              <a:srgbClr val="148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trike="noStrike" u="none">
                <a:solidFill>
                  <a:srgbClr val="193a66"/>
                </a:solidFill>
                <a:uFillTx/>
                <a:latin typeface="Calibri"/>
              </a:rPr>
              <a:t>Path Optimizer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50" name="Connector 15"/>
          <p:cNvCxnSpPr/>
          <p:nvPr/>
        </p:nvCxnSpPr>
        <p:spPr>
          <a:xfrm>
            <a:off x="8412480" y="4869000"/>
            <a:ext cx="549000" cy="360"/>
          </a:xfrm>
          <a:prstGeom prst="straightConnector1">
            <a:avLst/>
          </a:prstGeom>
          <a:ln>
            <a:solidFill>
              <a:srgbClr val="1484dc"/>
            </a:solidFill>
            <a:round/>
          </a:ln>
        </p:spPr>
      </p:cxnSp>
      <p:sp>
        <p:nvSpPr>
          <p:cNvPr id="251" name="Rounded Rectangle 16"/>
          <p:cNvSpPr/>
          <p:nvPr/>
        </p:nvSpPr>
        <p:spPr>
          <a:xfrm>
            <a:off x="9052560" y="457200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e6f1fc"/>
          </a:solidFill>
          <a:ln>
            <a:solidFill>
              <a:srgbClr val="1484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trike="noStrike" u="none">
                <a:solidFill>
                  <a:srgbClr val="193a66"/>
                </a:solidFill>
                <a:uFillTx/>
                <a:latin typeface="Calibri"/>
              </a:rPr>
              <a:t>Green Route Output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2" descr=""/>
          <p:cNvPicPr/>
          <p:nvPr/>
        </p:nvPicPr>
        <p:blipFill>
          <a:blip r:embed="rId1"/>
          <a:stretch/>
        </p:blipFill>
        <p:spPr>
          <a:xfrm>
            <a:off x="3240" y="0"/>
            <a:ext cx="121852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2035160" cy="738720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object 2" descr="slide-10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1" descr=""/>
          <p:cNvPicPr/>
          <p:nvPr/>
        </p:nvPicPr>
        <p:blipFill>
          <a:blip r:embed="rId1"/>
          <a:stretch/>
        </p:blipFill>
        <p:spPr>
          <a:xfrm>
            <a:off x="0" y="-914400"/>
            <a:ext cx="12191760" cy="762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object 2" descr="slide-13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79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90320" y="118440"/>
            <a:ext cx="8805960" cy="4852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SIMATS</a:t>
            </a:r>
            <a:r>
              <a:rPr b="1" lang="en-US" sz="1500" spc="-79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ENGINEERING</a:t>
            </a:r>
            <a:r>
              <a:rPr b="1" lang="en-US" sz="1500" spc="37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•</a:t>
            </a:r>
            <a:r>
              <a:rPr b="1" lang="en-US" sz="1500" spc="3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LOGISTICS</a:t>
            </a:r>
            <a:r>
              <a:rPr b="1" lang="en-US" sz="15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600" spc="-60" strike="noStrike" u="none">
                <a:solidFill>
                  <a:schemeClr val="lt1"/>
                </a:solidFill>
                <a:uFillTx/>
                <a:latin typeface="Trebuchet MS"/>
              </a:rPr>
              <a:t>A</a:t>
            </a:r>
            <a:r>
              <a:rPr b="1" lang="en-IN" sz="1600" strike="noStrike" u="none">
                <a:solidFill>
                  <a:schemeClr val="lt1"/>
                </a:solidFill>
                <a:uFillTx/>
                <a:latin typeface="Trebuchet MS"/>
              </a:rPr>
              <a:t>ND</a:t>
            </a:r>
            <a:r>
              <a:rPr b="1" lang="en-IN" sz="15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chemeClr val="lt1"/>
                </a:solidFill>
                <a:uFillTx/>
                <a:latin typeface="Trebuchet MS"/>
              </a:rPr>
              <a:t>SUPPLY</a:t>
            </a:r>
            <a:r>
              <a:rPr b="1" lang="en-IN" sz="1500" spc="-5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pc="51" strike="noStrike" u="none">
                <a:solidFill>
                  <a:schemeClr val="lt1"/>
                </a:solidFill>
                <a:uFillTx/>
                <a:latin typeface="Trebuchet MS"/>
              </a:rPr>
              <a:t>CHAIN</a:t>
            </a:r>
            <a:r>
              <a:rPr b="1" lang="en-IN" sz="1500" spc="-5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chemeClr val="lt1"/>
                </a:solidFill>
                <a:uFillTx/>
                <a:latin typeface="Trebuchet MS"/>
              </a:rPr>
              <a:t>CARBON</a:t>
            </a:r>
            <a:r>
              <a:rPr b="1" lang="en-IN" sz="1500" spc="-45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pc="-31" strike="noStrike" u="none">
                <a:solidFill>
                  <a:schemeClr val="lt1"/>
                </a:solidFill>
                <a:uFillTx/>
                <a:latin typeface="Trebuchet MS"/>
              </a:rPr>
              <a:t>FOOTPRINT</a:t>
            </a:r>
            <a:r>
              <a:rPr b="1" lang="en-IN" sz="1500" spc="-34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chemeClr val="lt1"/>
                </a:solidFill>
                <a:uFillTx/>
                <a:latin typeface="Trebuchet MS"/>
              </a:rPr>
              <a:t>TRACKING</a:t>
            </a:r>
            <a:r>
              <a:rPr b="1" lang="en-IN" sz="15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pc="-11" strike="noStrike" u="none">
                <a:solidFill>
                  <a:schemeClr val="lt1"/>
                </a:solidFill>
                <a:uFillTx/>
                <a:latin typeface="Trebuchet MS"/>
              </a:rPr>
              <a:t>SYSTEM</a:t>
            </a:r>
            <a:endParaRPr b="0" lang="en-US" sz="15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259" name="object 7"/>
          <p:cNvGrpSpPr/>
          <p:nvPr/>
        </p:nvGrpSpPr>
        <p:grpSpPr>
          <a:xfrm>
            <a:off x="460080" y="1809000"/>
            <a:ext cx="10212120" cy="555840"/>
            <a:chOff x="460080" y="1809000"/>
            <a:chExt cx="10212120" cy="555840"/>
          </a:xfrm>
        </p:grpSpPr>
        <p:pic>
          <p:nvPicPr>
            <p:cNvPr id="260" name="object 8" descr=""/>
            <p:cNvPicPr/>
            <p:nvPr/>
          </p:nvPicPr>
          <p:blipFill>
            <a:blip r:embed="rId1"/>
            <a:stretch/>
          </p:blipFill>
          <p:spPr>
            <a:xfrm>
              <a:off x="46008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1" name="object 9" descr=""/>
            <p:cNvPicPr/>
            <p:nvPr/>
          </p:nvPicPr>
          <p:blipFill>
            <a:blip r:embed="rId2"/>
            <a:stretch/>
          </p:blipFill>
          <p:spPr>
            <a:xfrm>
              <a:off x="56700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2" name="object 10"/>
            <p:cNvSpPr/>
            <p:nvPr/>
          </p:nvSpPr>
          <p:spPr>
            <a:xfrm>
              <a:off x="50292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5" h="475614">
                  <a:moveTo>
                    <a:pt x="237744" y="0"/>
                  </a:moveTo>
                  <a:lnTo>
                    <a:pt x="189829" y="4829"/>
                  </a:lnTo>
                  <a:lnTo>
                    <a:pt x="145202" y="18680"/>
                  </a:lnTo>
                  <a:lnTo>
                    <a:pt x="104817" y="40598"/>
                  </a:lnTo>
                  <a:lnTo>
                    <a:pt x="69632" y="69627"/>
                  </a:lnTo>
                  <a:lnTo>
                    <a:pt x="40602" y="104812"/>
                  </a:lnTo>
                  <a:lnTo>
                    <a:pt x="18682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2" y="330291"/>
                  </a:lnTo>
                  <a:lnTo>
                    <a:pt x="40602" y="370675"/>
                  </a:lnTo>
                  <a:lnTo>
                    <a:pt x="69632" y="405860"/>
                  </a:lnTo>
                  <a:lnTo>
                    <a:pt x="104817" y="434889"/>
                  </a:lnTo>
                  <a:lnTo>
                    <a:pt x="145202" y="456807"/>
                  </a:lnTo>
                  <a:lnTo>
                    <a:pt x="189829" y="470658"/>
                  </a:lnTo>
                  <a:lnTo>
                    <a:pt x="237744" y="475488"/>
                  </a:lnTo>
                  <a:lnTo>
                    <a:pt x="285658" y="470658"/>
                  </a:lnTo>
                  <a:lnTo>
                    <a:pt x="330285" y="456807"/>
                  </a:lnTo>
                  <a:lnTo>
                    <a:pt x="370670" y="434889"/>
                  </a:lnTo>
                  <a:lnTo>
                    <a:pt x="405855" y="405860"/>
                  </a:lnTo>
                  <a:lnTo>
                    <a:pt x="434885" y="370675"/>
                  </a:lnTo>
                  <a:lnTo>
                    <a:pt x="456805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5" y="145196"/>
                  </a:lnTo>
                  <a:lnTo>
                    <a:pt x="434885" y="104812"/>
                  </a:lnTo>
                  <a:lnTo>
                    <a:pt x="405855" y="69627"/>
                  </a:lnTo>
                  <a:lnTo>
                    <a:pt x="370670" y="40598"/>
                  </a:lnTo>
                  <a:lnTo>
                    <a:pt x="330285" y="18680"/>
                  </a:lnTo>
                  <a:lnTo>
                    <a:pt x="285658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263" name="object 11" descr=""/>
            <p:cNvPicPr/>
            <p:nvPr/>
          </p:nvPicPr>
          <p:blipFill>
            <a:blip r:embed="rId3"/>
            <a:stretch/>
          </p:blipFill>
          <p:spPr>
            <a:xfrm>
              <a:off x="935640" y="2031480"/>
              <a:ext cx="122652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4" name="object 12"/>
            <p:cNvSpPr/>
            <p:nvPr/>
          </p:nvSpPr>
          <p:spPr>
            <a:xfrm>
              <a:off x="978480" y="2066400"/>
              <a:ext cx="1133640" cy="360"/>
            </a:xfrm>
            <a:custGeom>
              <a:avLst/>
              <a:gdLst>
                <a:gd name="textAreaLeft" fmla="*/ 0 w 1133640"/>
                <a:gd name="textAreaRight" fmla="*/ 1134000 w 1133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1134110" h="0">
                  <a:moveTo>
                    <a:pt x="0" y="0"/>
                  </a:moveTo>
                  <a:lnTo>
                    <a:pt x="1133855" y="0"/>
                  </a:lnTo>
                </a:path>
              </a:pathLst>
            </a:custGeom>
            <a:noFill/>
            <a:ln w="2540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65" name="object 13" descr=""/>
            <p:cNvPicPr/>
            <p:nvPr/>
          </p:nvPicPr>
          <p:blipFill>
            <a:blip r:embed="rId4"/>
            <a:stretch/>
          </p:blipFill>
          <p:spPr>
            <a:xfrm>
              <a:off x="206964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6" name="object 14" descr=""/>
            <p:cNvPicPr/>
            <p:nvPr/>
          </p:nvPicPr>
          <p:blipFill>
            <a:blip r:embed="rId5"/>
            <a:stretch/>
          </p:blipFill>
          <p:spPr>
            <a:xfrm>
              <a:off x="217620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7" name="object 15"/>
            <p:cNvSpPr/>
            <p:nvPr/>
          </p:nvSpPr>
          <p:spPr>
            <a:xfrm>
              <a:off x="211212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4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268" name="object 16" descr=""/>
            <p:cNvPicPr/>
            <p:nvPr/>
          </p:nvPicPr>
          <p:blipFill>
            <a:blip r:embed="rId6"/>
            <a:stretch/>
          </p:blipFill>
          <p:spPr>
            <a:xfrm>
              <a:off x="2545200" y="2031480"/>
              <a:ext cx="122652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9" name="object 17"/>
            <p:cNvSpPr/>
            <p:nvPr/>
          </p:nvSpPr>
          <p:spPr>
            <a:xfrm>
              <a:off x="2587680" y="2066400"/>
              <a:ext cx="1133640" cy="360"/>
            </a:xfrm>
            <a:custGeom>
              <a:avLst/>
              <a:gdLst>
                <a:gd name="textAreaLeft" fmla="*/ 0 w 1133640"/>
                <a:gd name="textAreaRight" fmla="*/ 1134000 w 1133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1134110" h="0">
                  <a:moveTo>
                    <a:pt x="0" y="0"/>
                  </a:moveTo>
                  <a:lnTo>
                    <a:pt x="1133856" y="0"/>
                  </a:lnTo>
                </a:path>
              </a:pathLst>
            </a:custGeom>
            <a:noFill/>
            <a:ln w="2540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70" name="object 18" descr=""/>
            <p:cNvPicPr/>
            <p:nvPr/>
          </p:nvPicPr>
          <p:blipFill>
            <a:blip r:embed="rId7"/>
            <a:stretch/>
          </p:blipFill>
          <p:spPr>
            <a:xfrm>
              <a:off x="367884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1" name="object 19" descr=""/>
            <p:cNvPicPr/>
            <p:nvPr/>
          </p:nvPicPr>
          <p:blipFill>
            <a:blip r:embed="rId8"/>
            <a:stretch/>
          </p:blipFill>
          <p:spPr>
            <a:xfrm>
              <a:off x="378576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2" name="object 20"/>
            <p:cNvSpPr/>
            <p:nvPr/>
          </p:nvSpPr>
          <p:spPr>
            <a:xfrm>
              <a:off x="372168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4" h="475614">
                  <a:moveTo>
                    <a:pt x="237743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3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3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273" name="object 21" descr=""/>
            <p:cNvPicPr/>
            <p:nvPr/>
          </p:nvPicPr>
          <p:blipFill>
            <a:blip r:embed="rId9"/>
            <a:stretch/>
          </p:blipFill>
          <p:spPr>
            <a:xfrm>
              <a:off x="4154400" y="2031480"/>
              <a:ext cx="122652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4" name="object 22"/>
            <p:cNvSpPr/>
            <p:nvPr/>
          </p:nvSpPr>
          <p:spPr>
            <a:xfrm>
              <a:off x="4197240" y="2066400"/>
              <a:ext cx="1133640" cy="360"/>
            </a:xfrm>
            <a:custGeom>
              <a:avLst/>
              <a:gdLst>
                <a:gd name="textAreaLeft" fmla="*/ 0 w 1133640"/>
                <a:gd name="textAreaRight" fmla="*/ 1134000 w 1133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1134110" h="0">
                  <a:moveTo>
                    <a:pt x="0" y="0"/>
                  </a:moveTo>
                  <a:lnTo>
                    <a:pt x="1133855" y="0"/>
                  </a:lnTo>
                </a:path>
              </a:pathLst>
            </a:custGeom>
            <a:noFill/>
            <a:ln w="2540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75" name="object 23" descr=""/>
            <p:cNvPicPr/>
            <p:nvPr/>
          </p:nvPicPr>
          <p:blipFill>
            <a:blip r:embed="rId10"/>
            <a:stretch/>
          </p:blipFill>
          <p:spPr>
            <a:xfrm>
              <a:off x="528840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6" name="object 24" descr=""/>
            <p:cNvPicPr/>
            <p:nvPr/>
          </p:nvPicPr>
          <p:blipFill>
            <a:blip r:embed="rId11"/>
            <a:stretch/>
          </p:blipFill>
          <p:spPr>
            <a:xfrm>
              <a:off x="539496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7" name="object 25"/>
            <p:cNvSpPr/>
            <p:nvPr/>
          </p:nvSpPr>
          <p:spPr>
            <a:xfrm>
              <a:off x="533088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4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278" name="object 26" descr=""/>
            <p:cNvPicPr/>
            <p:nvPr/>
          </p:nvPicPr>
          <p:blipFill>
            <a:blip r:embed="rId12"/>
            <a:stretch/>
          </p:blipFill>
          <p:spPr>
            <a:xfrm>
              <a:off x="5763600" y="2031480"/>
              <a:ext cx="122652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9" name="object 27"/>
            <p:cNvSpPr/>
            <p:nvPr/>
          </p:nvSpPr>
          <p:spPr>
            <a:xfrm>
              <a:off x="5806440" y="2066400"/>
              <a:ext cx="1133640" cy="360"/>
            </a:xfrm>
            <a:custGeom>
              <a:avLst/>
              <a:gdLst>
                <a:gd name="textAreaLeft" fmla="*/ 0 w 1133640"/>
                <a:gd name="textAreaRight" fmla="*/ 1134000 w 1133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1134109" h="0">
                  <a:moveTo>
                    <a:pt x="0" y="0"/>
                  </a:moveTo>
                  <a:lnTo>
                    <a:pt x="1133856" y="0"/>
                  </a:lnTo>
                </a:path>
              </a:pathLst>
            </a:custGeom>
            <a:noFill/>
            <a:ln w="2540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80" name="object 28" descr=""/>
            <p:cNvPicPr/>
            <p:nvPr/>
          </p:nvPicPr>
          <p:blipFill>
            <a:blip r:embed="rId13"/>
            <a:stretch/>
          </p:blipFill>
          <p:spPr>
            <a:xfrm>
              <a:off x="689760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1" name="object 29" descr=""/>
            <p:cNvPicPr/>
            <p:nvPr/>
          </p:nvPicPr>
          <p:blipFill>
            <a:blip r:embed="rId14"/>
            <a:stretch/>
          </p:blipFill>
          <p:spPr>
            <a:xfrm>
              <a:off x="700416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2" name="object 30"/>
            <p:cNvSpPr/>
            <p:nvPr/>
          </p:nvSpPr>
          <p:spPr>
            <a:xfrm>
              <a:off x="694044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283" name="object 31" descr=""/>
            <p:cNvPicPr/>
            <p:nvPr/>
          </p:nvPicPr>
          <p:blipFill>
            <a:blip r:embed="rId15"/>
            <a:stretch/>
          </p:blipFill>
          <p:spPr>
            <a:xfrm>
              <a:off x="7373160" y="2031480"/>
              <a:ext cx="122652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4" name="object 32"/>
            <p:cNvSpPr/>
            <p:nvPr/>
          </p:nvSpPr>
          <p:spPr>
            <a:xfrm>
              <a:off x="7415640" y="2066400"/>
              <a:ext cx="1133640" cy="360"/>
            </a:xfrm>
            <a:custGeom>
              <a:avLst/>
              <a:gdLst>
                <a:gd name="textAreaLeft" fmla="*/ 0 w 1133640"/>
                <a:gd name="textAreaRight" fmla="*/ 1134000 w 1133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1134109" h="0">
                  <a:moveTo>
                    <a:pt x="0" y="0"/>
                  </a:moveTo>
                  <a:lnTo>
                    <a:pt x="1133856" y="0"/>
                  </a:lnTo>
                </a:path>
              </a:pathLst>
            </a:custGeom>
            <a:noFill/>
            <a:ln w="2540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85" name="object 33" descr=""/>
            <p:cNvPicPr/>
            <p:nvPr/>
          </p:nvPicPr>
          <p:blipFill>
            <a:blip r:embed="rId16"/>
            <a:stretch/>
          </p:blipFill>
          <p:spPr>
            <a:xfrm>
              <a:off x="850680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6" name="object 34" descr=""/>
            <p:cNvPicPr/>
            <p:nvPr/>
          </p:nvPicPr>
          <p:blipFill>
            <a:blip r:embed="rId17"/>
            <a:stretch/>
          </p:blipFill>
          <p:spPr>
            <a:xfrm>
              <a:off x="861372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7" name="object 35"/>
            <p:cNvSpPr/>
            <p:nvPr/>
          </p:nvSpPr>
          <p:spPr>
            <a:xfrm>
              <a:off x="854964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5" h="475614">
                  <a:moveTo>
                    <a:pt x="237743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3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7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3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288" name="object 36" descr=""/>
            <p:cNvPicPr/>
            <p:nvPr/>
          </p:nvPicPr>
          <p:blipFill>
            <a:blip r:embed="rId18"/>
            <a:stretch/>
          </p:blipFill>
          <p:spPr>
            <a:xfrm>
              <a:off x="8982360" y="2031480"/>
              <a:ext cx="1226520" cy="104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9" name="object 37"/>
            <p:cNvSpPr/>
            <p:nvPr/>
          </p:nvSpPr>
          <p:spPr>
            <a:xfrm>
              <a:off x="9025200" y="2066400"/>
              <a:ext cx="1133640" cy="360"/>
            </a:xfrm>
            <a:custGeom>
              <a:avLst/>
              <a:gdLst>
                <a:gd name="textAreaLeft" fmla="*/ 0 w 1133640"/>
                <a:gd name="textAreaRight" fmla="*/ 1134000 w 11336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1134109" h="0">
                  <a:moveTo>
                    <a:pt x="0" y="0"/>
                  </a:moveTo>
                  <a:lnTo>
                    <a:pt x="1133855" y="0"/>
                  </a:lnTo>
                </a:path>
              </a:pathLst>
            </a:custGeom>
            <a:noFill/>
            <a:ln w="2540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90" name="object 38" descr=""/>
            <p:cNvPicPr/>
            <p:nvPr/>
          </p:nvPicPr>
          <p:blipFill>
            <a:blip r:embed="rId19"/>
            <a:stretch/>
          </p:blipFill>
          <p:spPr>
            <a:xfrm>
              <a:off x="10116360" y="1809000"/>
              <a:ext cx="55584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1" name="object 39" descr=""/>
            <p:cNvPicPr/>
            <p:nvPr/>
          </p:nvPicPr>
          <p:blipFill>
            <a:blip r:embed="rId20"/>
            <a:stretch/>
          </p:blipFill>
          <p:spPr>
            <a:xfrm>
              <a:off x="10222920" y="1911240"/>
              <a:ext cx="340920" cy="400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2" name="object 40"/>
            <p:cNvSpPr/>
            <p:nvPr/>
          </p:nvSpPr>
          <p:spPr>
            <a:xfrm>
              <a:off x="10158840" y="1828800"/>
              <a:ext cx="475200" cy="475200"/>
            </a:xfrm>
            <a:custGeom>
              <a:avLst/>
              <a:gdLst>
                <a:gd name="textAreaLeft" fmla="*/ 0 w 475200"/>
                <a:gd name="textAreaRight" fmla="*/ 475560 w 475200"/>
                <a:gd name="textAreaTop" fmla="*/ 0 h 475200"/>
                <a:gd name="textAreaBottom" fmla="*/ 475560 h 475200"/>
              </a:gdLst>
              <a:ahLst/>
              <a:rect l="textAreaLeft" t="textAreaTop" r="textAreaRight" b="textAreaBottom"/>
              <a:pathLst>
                <a:path w="475615" h="475614">
                  <a:moveTo>
                    <a:pt x="237744" y="0"/>
                  </a:moveTo>
                  <a:lnTo>
                    <a:pt x="189825" y="4829"/>
                  </a:lnTo>
                  <a:lnTo>
                    <a:pt x="145196" y="18680"/>
                  </a:lnTo>
                  <a:lnTo>
                    <a:pt x="104812" y="40598"/>
                  </a:lnTo>
                  <a:lnTo>
                    <a:pt x="69627" y="69627"/>
                  </a:lnTo>
                  <a:lnTo>
                    <a:pt x="40598" y="104812"/>
                  </a:lnTo>
                  <a:lnTo>
                    <a:pt x="18680" y="145196"/>
                  </a:lnTo>
                  <a:lnTo>
                    <a:pt x="4829" y="189825"/>
                  </a:lnTo>
                  <a:lnTo>
                    <a:pt x="0" y="237744"/>
                  </a:lnTo>
                  <a:lnTo>
                    <a:pt x="4829" y="285662"/>
                  </a:lnTo>
                  <a:lnTo>
                    <a:pt x="18680" y="330291"/>
                  </a:lnTo>
                  <a:lnTo>
                    <a:pt x="40598" y="370675"/>
                  </a:lnTo>
                  <a:lnTo>
                    <a:pt x="69627" y="405860"/>
                  </a:lnTo>
                  <a:lnTo>
                    <a:pt x="104812" y="434889"/>
                  </a:lnTo>
                  <a:lnTo>
                    <a:pt x="145196" y="456807"/>
                  </a:lnTo>
                  <a:lnTo>
                    <a:pt x="189825" y="470658"/>
                  </a:lnTo>
                  <a:lnTo>
                    <a:pt x="237744" y="475488"/>
                  </a:lnTo>
                  <a:lnTo>
                    <a:pt x="285662" y="470658"/>
                  </a:lnTo>
                  <a:lnTo>
                    <a:pt x="330291" y="456807"/>
                  </a:lnTo>
                  <a:lnTo>
                    <a:pt x="370675" y="434889"/>
                  </a:lnTo>
                  <a:lnTo>
                    <a:pt x="405860" y="405860"/>
                  </a:lnTo>
                  <a:lnTo>
                    <a:pt x="434889" y="370675"/>
                  </a:lnTo>
                  <a:lnTo>
                    <a:pt x="456807" y="330291"/>
                  </a:lnTo>
                  <a:lnTo>
                    <a:pt x="470658" y="285662"/>
                  </a:lnTo>
                  <a:lnTo>
                    <a:pt x="475488" y="237744"/>
                  </a:lnTo>
                  <a:lnTo>
                    <a:pt x="470658" y="189825"/>
                  </a:lnTo>
                  <a:lnTo>
                    <a:pt x="456807" y="145196"/>
                  </a:lnTo>
                  <a:lnTo>
                    <a:pt x="434889" y="104812"/>
                  </a:lnTo>
                  <a:lnTo>
                    <a:pt x="405860" y="69627"/>
                  </a:lnTo>
                  <a:lnTo>
                    <a:pt x="370675" y="40598"/>
                  </a:lnTo>
                  <a:lnTo>
                    <a:pt x="330291" y="18680"/>
                  </a:lnTo>
                  <a:lnTo>
                    <a:pt x="285662" y="4829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aphicFrame>
        <p:nvGraphicFramePr>
          <p:cNvPr id="293" name="object 42"/>
          <p:cNvGraphicFramePr/>
          <p:nvPr/>
        </p:nvGraphicFramePr>
        <p:xfrm>
          <a:off x="511920" y="2465640"/>
          <a:ext cx="10831680" cy="74340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248840"/>
                <a:gridCol w="1747080"/>
                <a:gridCol w="1555920"/>
                <a:gridCol w="1705320"/>
                <a:gridCol w="1701360"/>
                <a:gridCol w="1563840"/>
                <a:gridCol w="1309320"/>
              </a:tblGrid>
              <a:tr h="605880"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944"/>
                        </a:lnSpc>
                      </a:pP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Requirements</a:t>
                      </a:r>
                      <a:r>
                        <a:rPr b="1" lang="en-US" sz="1200" spc="45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pc="-5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+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literature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944"/>
                        </a:lnSpc>
                      </a:pP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OOP</a:t>
                      </a:r>
                      <a:r>
                        <a:rPr b="1" lang="en-US" sz="1200" spc="-26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design</a:t>
                      </a: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+</a:t>
                      </a:r>
                      <a:r>
                        <a:rPr b="1" lang="en-US" sz="1200" spc="-3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pc="-26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UML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"/>
                        </a:spcBef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944"/>
                        </a:lnSpc>
                      </a:pP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Carbon</a:t>
                      </a:r>
                      <a:r>
                        <a:rPr b="1" lang="en-US" sz="1200" spc="-45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engine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"/>
                        </a:spcBef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Weeks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1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3–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4200" algn="ctr">
                        <a:lnSpc>
                          <a:spcPts val="944"/>
                        </a:lnSpc>
                      </a:pP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Shipment</a:t>
                      </a:r>
                      <a:r>
                        <a:rPr b="1" lang="en-US" sz="1200" spc="-3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CRUD</a:t>
                      </a:r>
                      <a:r>
                        <a:rPr b="1" lang="en-US" sz="1200" spc="-4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pc="-5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+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32400" algn="ctr">
                        <a:lnSpc>
                          <a:spcPct val="100000"/>
                        </a:lnSpc>
                      </a:pP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persistence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944"/>
                        </a:lnSpc>
                      </a:pP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Auth</a:t>
                      </a:r>
                      <a:r>
                        <a:rPr b="1" lang="en-US" sz="1200" spc="-2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+</a:t>
                      </a:r>
                      <a:r>
                        <a:rPr b="1" lang="en-US" sz="1200" spc="-6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exception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handling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944"/>
                        </a:lnSpc>
                      </a:pP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Integration</a:t>
                      </a:r>
                      <a:r>
                        <a:rPr b="1" lang="en-US" sz="1200" spc="-5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+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testing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400680" algn="ctr">
                        <a:lnSpc>
                          <a:spcPts val="944"/>
                        </a:lnSpc>
                      </a:pPr>
                      <a:r>
                        <a:rPr b="1" lang="en-US" sz="120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Prototype</a:t>
                      </a:r>
                      <a:r>
                        <a:rPr b="1" lang="en-US" sz="1200" spc="-40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1" lang="en-US" sz="1200" spc="-5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+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399240" algn="ctr">
                        <a:lnSpc>
                          <a:spcPct val="100000"/>
                        </a:lnSpc>
                      </a:pPr>
                      <a:r>
                        <a:rPr b="1" lang="en-US" sz="1200" spc="-11" strike="noStrike" u="none">
                          <a:solidFill>
                            <a:srgbClr val="173e6c"/>
                          </a:solidFill>
                          <a:uFillTx/>
                          <a:latin typeface="Calibri"/>
                        </a:rPr>
                        <a:t>documentation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7880">
                <a:tc>
                  <a:txBody>
                    <a:bodyPr lIns="0" rIns="0" tIns="0" bIns="0" anchor="t">
                      <a:noAutofit/>
                    </a:bodyPr>
                    <a:p>
                      <a:pPr marL="272520">
                        <a:lnSpc>
                          <a:spcPts val="890"/>
                        </a:lnSpc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endParaRPr b="0" lang="en-US" sz="900" strike="noStrike" u="none">
                        <a:solidFill>
                          <a:schemeClr val="dk1"/>
                        </a:solidFill>
                        <a:uFillTx/>
                        <a:latin typeface="Times New Roman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endParaRPr b="0" lang="en-US" sz="900" strike="noStrike" u="none">
                        <a:solidFill>
                          <a:schemeClr val="dk1"/>
                        </a:solidFill>
                        <a:uFillTx/>
                        <a:latin typeface="Times New Roman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35640" algn="ctr">
                        <a:lnSpc>
                          <a:spcPts val="890"/>
                        </a:lnSpc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Weeks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1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4–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5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890"/>
                        </a:lnSpc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ts val="890"/>
                        </a:lnSpc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7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63120">
                        <a:lnSpc>
                          <a:spcPts val="890"/>
                        </a:lnSpc>
                      </a:pPr>
                      <a:r>
                        <a:rPr b="0" lang="en-US" sz="1100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Week</a:t>
                      </a:r>
                      <a:r>
                        <a:rPr b="0" lang="en-US" sz="1100" spc="-14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 </a:t>
                      </a:r>
                      <a:r>
                        <a:rPr b="0" lang="en-US" sz="1100" spc="-51" strike="noStrike" u="none">
                          <a:solidFill>
                            <a:srgbClr val="5b6978"/>
                          </a:solidFill>
                          <a:uFillTx/>
                          <a:latin typeface="Calibri"/>
                        </a:rPr>
                        <a:t>8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94" name="object 43"/>
          <p:cNvGrpSpPr/>
          <p:nvPr/>
        </p:nvGrpSpPr>
        <p:grpSpPr>
          <a:xfrm>
            <a:off x="452520" y="3631680"/>
            <a:ext cx="3616200" cy="1922760"/>
            <a:chOff x="452520" y="3631680"/>
            <a:chExt cx="3616200" cy="1922760"/>
          </a:xfrm>
        </p:grpSpPr>
        <p:pic>
          <p:nvPicPr>
            <p:cNvPr id="295" name="object 44" descr=""/>
            <p:cNvPicPr/>
            <p:nvPr/>
          </p:nvPicPr>
          <p:blipFill>
            <a:blip r:embed="rId21"/>
            <a:stretch/>
          </p:blipFill>
          <p:spPr>
            <a:xfrm>
              <a:off x="452520" y="3631680"/>
              <a:ext cx="3616200" cy="19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6" name="object 45"/>
            <p:cNvSpPr/>
            <p:nvPr/>
          </p:nvSpPr>
          <p:spPr>
            <a:xfrm>
              <a:off x="502920" y="3657600"/>
              <a:ext cx="3520080" cy="1828440"/>
            </a:xfrm>
            <a:custGeom>
              <a:avLst/>
              <a:gdLst>
                <a:gd name="textAreaLeft" fmla="*/ 0 w 3520080"/>
                <a:gd name="textAreaRight" fmla="*/ 3520440 w 3520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3520440" h="1828800">
                  <a:moveTo>
                    <a:pt x="3215640" y="0"/>
                  </a:moveTo>
                  <a:lnTo>
                    <a:pt x="304800" y="0"/>
                  </a:ln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89" y="1573425"/>
                  </a:lnTo>
                  <a:lnTo>
                    <a:pt x="15538" y="1620316"/>
                  </a:lnTo>
                  <a:lnTo>
                    <a:pt x="34020" y="1664046"/>
                  </a:lnTo>
                  <a:lnTo>
                    <a:pt x="58808" y="1703984"/>
                  </a:lnTo>
                  <a:lnTo>
                    <a:pt x="89273" y="1739503"/>
                  </a:lnTo>
                  <a:lnTo>
                    <a:pt x="124788" y="1769973"/>
                  </a:lnTo>
                  <a:lnTo>
                    <a:pt x="164725" y="1794767"/>
                  </a:lnTo>
                  <a:lnTo>
                    <a:pt x="208458" y="1813255"/>
                  </a:lnTo>
                  <a:lnTo>
                    <a:pt x="255359" y="1824809"/>
                  </a:lnTo>
                  <a:lnTo>
                    <a:pt x="304800" y="1828800"/>
                  </a:lnTo>
                  <a:lnTo>
                    <a:pt x="3215640" y="1828800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40" y="1524000"/>
                  </a:lnTo>
                  <a:lnTo>
                    <a:pt x="3520440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7" name="object 46"/>
            <p:cNvSpPr/>
            <p:nvPr/>
          </p:nvSpPr>
          <p:spPr>
            <a:xfrm>
              <a:off x="502920" y="3657600"/>
              <a:ext cx="3520080" cy="1828440"/>
            </a:xfrm>
            <a:custGeom>
              <a:avLst/>
              <a:gdLst>
                <a:gd name="textAreaLeft" fmla="*/ 0 w 3520080"/>
                <a:gd name="textAreaRight" fmla="*/ 3520440 w 3520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3520440" h="18288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3215640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40" y="304800"/>
                  </a:lnTo>
                  <a:lnTo>
                    <a:pt x="3520440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40" y="1828800"/>
                  </a:lnTo>
                  <a:lnTo>
                    <a:pt x="304800" y="1828800"/>
                  </a:lnTo>
                  <a:lnTo>
                    <a:pt x="255359" y="1824809"/>
                  </a:lnTo>
                  <a:lnTo>
                    <a:pt x="208458" y="1813255"/>
                  </a:lnTo>
                  <a:lnTo>
                    <a:pt x="164725" y="1794767"/>
                  </a:lnTo>
                  <a:lnTo>
                    <a:pt x="124788" y="1769973"/>
                  </a:lnTo>
                  <a:lnTo>
                    <a:pt x="89273" y="1739503"/>
                  </a:lnTo>
                  <a:lnTo>
                    <a:pt x="58808" y="1703984"/>
                  </a:lnTo>
                  <a:lnTo>
                    <a:pt x="34020" y="1664046"/>
                  </a:lnTo>
                  <a:lnTo>
                    <a:pt x="15538" y="1620316"/>
                  </a:lnTo>
                  <a:lnTo>
                    <a:pt x="3989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98" name="object 47"/>
          <p:cNvSpPr/>
          <p:nvPr/>
        </p:nvSpPr>
        <p:spPr>
          <a:xfrm>
            <a:off x="737640" y="3915720"/>
            <a:ext cx="2793600" cy="12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9400">
              <a:lnSpc>
                <a:spcPct val="100000"/>
              </a:lnSpc>
              <a:spcBef>
                <a:spcPts val="99"/>
              </a:spcBef>
            </a:pPr>
            <a:r>
              <a:rPr b="1" lang="en-US" sz="2000" spc="-113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000" spc="-11" strike="noStrike" u="none">
                <a:solidFill>
                  <a:srgbClr val="173e6c"/>
                </a:solidFill>
                <a:uFillTx/>
                <a:latin typeface="Trebuchet MS"/>
              </a:rPr>
              <a:t>PROPOSED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14"/>
              </a:spcBef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Primary:</a:t>
            </a:r>
            <a:r>
              <a:rPr b="0" lang="en-US" sz="140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Module</a:t>
            </a:r>
            <a:r>
              <a:rPr b="0" lang="en-US" sz="140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1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carbon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engine,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route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optimization,</a:t>
            </a:r>
            <a:r>
              <a:rPr b="0" lang="en-US" sz="1400" spc="4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algorithm</a:t>
            </a:r>
            <a:r>
              <a:rPr b="0" lang="en-US" sz="1400" spc="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flow,</a:t>
            </a:r>
            <a:r>
              <a:rPr b="0" lang="en-US" sz="14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emission</a:t>
            </a:r>
            <a:r>
              <a:rPr b="0" lang="en-US" sz="1400" spc="3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logic.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34"/>
              </a:spcBef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Shared: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integration</a:t>
            </a:r>
            <a:r>
              <a:rPr b="0" lang="en-US" sz="140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201" strike="noStrike" u="none">
                <a:solidFill>
                  <a:srgbClr val="1c2837"/>
                </a:solidFill>
                <a:uFillTx/>
                <a:latin typeface="Tahoma"/>
              </a:rPr>
              <a:t>+</a:t>
            </a:r>
            <a:r>
              <a:rPr b="0" lang="en-US" sz="14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testing.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9" name="object 48"/>
          <p:cNvGrpSpPr/>
          <p:nvPr/>
        </p:nvGrpSpPr>
        <p:grpSpPr>
          <a:xfrm>
            <a:off x="460080" y="3637800"/>
            <a:ext cx="162720" cy="1909080"/>
            <a:chOff x="460080" y="3637800"/>
            <a:chExt cx="162720" cy="1909080"/>
          </a:xfrm>
        </p:grpSpPr>
        <p:pic>
          <p:nvPicPr>
            <p:cNvPr id="300" name="object 49" descr=""/>
            <p:cNvPicPr/>
            <p:nvPr/>
          </p:nvPicPr>
          <p:blipFill>
            <a:blip r:embed="rId22"/>
            <a:stretch/>
          </p:blipFill>
          <p:spPr>
            <a:xfrm>
              <a:off x="460080" y="3637800"/>
              <a:ext cx="162720" cy="190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1" name="object 50"/>
            <p:cNvSpPr/>
            <p:nvPr/>
          </p:nvSpPr>
          <p:spPr>
            <a:xfrm>
              <a:off x="502920" y="3657600"/>
              <a:ext cx="82080" cy="182844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82550" h="1828800">
                  <a:moveTo>
                    <a:pt x="82295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82295" y="1828800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302" name="object 51"/>
          <p:cNvGrpSpPr/>
          <p:nvPr/>
        </p:nvGrpSpPr>
        <p:grpSpPr>
          <a:xfrm>
            <a:off x="4293000" y="3631680"/>
            <a:ext cx="3616200" cy="1922760"/>
            <a:chOff x="4293000" y="3631680"/>
            <a:chExt cx="3616200" cy="1922760"/>
          </a:xfrm>
        </p:grpSpPr>
        <p:pic>
          <p:nvPicPr>
            <p:cNvPr id="303" name="object 52" descr=""/>
            <p:cNvPicPr/>
            <p:nvPr/>
          </p:nvPicPr>
          <p:blipFill>
            <a:blip r:embed="rId23"/>
            <a:stretch/>
          </p:blipFill>
          <p:spPr>
            <a:xfrm>
              <a:off x="4293000" y="3631680"/>
              <a:ext cx="3616200" cy="19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4" name="object 53"/>
            <p:cNvSpPr/>
            <p:nvPr/>
          </p:nvSpPr>
          <p:spPr>
            <a:xfrm>
              <a:off x="4343400" y="3657600"/>
              <a:ext cx="3520080" cy="1828440"/>
            </a:xfrm>
            <a:custGeom>
              <a:avLst/>
              <a:gdLst>
                <a:gd name="textAreaLeft" fmla="*/ 0 w 3520080"/>
                <a:gd name="textAreaRight" fmla="*/ 3520440 w 3520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3520440" h="1828800">
                  <a:moveTo>
                    <a:pt x="321564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3215640" y="1828800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40" y="1524000"/>
                  </a:lnTo>
                  <a:lnTo>
                    <a:pt x="3520440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05" name="object 54"/>
            <p:cNvSpPr/>
            <p:nvPr/>
          </p:nvSpPr>
          <p:spPr>
            <a:xfrm>
              <a:off x="4343400" y="3657600"/>
              <a:ext cx="3520080" cy="1828440"/>
            </a:xfrm>
            <a:custGeom>
              <a:avLst/>
              <a:gdLst>
                <a:gd name="textAreaLeft" fmla="*/ 0 w 3520080"/>
                <a:gd name="textAreaRight" fmla="*/ 3520440 w 3520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352044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215640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40" y="304800"/>
                  </a:lnTo>
                  <a:lnTo>
                    <a:pt x="3520440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4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06" name="object 55"/>
          <p:cNvSpPr/>
          <p:nvPr/>
        </p:nvSpPr>
        <p:spPr>
          <a:xfrm>
            <a:off x="4570560" y="3915720"/>
            <a:ext cx="2658240" cy="12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75120">
              <a:lnSpc>
                <a:spcPct val="100000"/>
              </a:lnSpc>
              <a:spcBef>
                <a:spcPts val="99"/>
              </a:spcBef>
            </a:pPr>
            <a:r>
              <a:rPr b="1" lang="en-US" sz="2000" spc="-119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000" spc="-11" strike="noStrike" u="none">
                <a:solidFill>
                  <a:srgbClr val="173e6c"/>
                </a:solidFill>
                <a:uFillTx/>
                <a:latin typeface="Trebuchet MS"/>
              </a:rPr>
              <a:t>PROPOSED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14"/>
              </a:spcBef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Primary:</a:t>
            </a:r>
            <a:r>
              <a:rPr b="0" lang="en-US" sz="1400" spc="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Module</a:t>
            </a:r>
            <a:r>
              <a:rPr b="0" lang="en-US" sz="140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2</a:t>
            </a:r>
            <a:r>
              <a:rPr b="0" lang="en-US" sz="140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shipment</a:t>
            </a:r>
            <a:r>
              <a:rPr b="0" lang="en-US" sz="1400" spc="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CRUD,</a:t>
            </a:r>
            <a:r>
              <a:rPr b="0" lang="en-US" sz="1400" spc="-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20" strike="noStrike" u="none">
                <a:solidFill>
                  <a:srgbClr val="1c2837"/>
                </a:solidFill>
                <a:uFillTx/>
                <a:latin typeface="Tahoma"/>
              </a:rPr>
              <a:t>data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structures,</a:t>
            </a:r>
            <a:r>
              <a:rPr b="0" lang="en-US" sz="1400" spc="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binary/CSV</a:t>
            </a:r>
            <a:r>
              <a:rPr b="0" lang="en-US" sz="1400" spc="3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persistence.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34"/>
              </a:spcBef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Shared: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UML</a:t>
            </a:r>
            <a:r>
              <a:rPr b="0" lang="en-US" sz="1400" spc="-5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201" strike="noStrike" u="none">
                <a:solidFill>
                  <a:srgbClr val="1c2837"/>
                </a:solidFill>
                <a:uFillTx/>
                <a:latin typeface="Tahoma"/>
              </a:rPr>
              <a:t>+</a:t>
            </a:r>
            <a:r>
              <a:rPr b="0" lang="en-US" sz="1400" spc="-6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testing.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07" name="object 56"/>
          <p:cNvGrpSpPr/>
          <p:nvPr/>
        </p:nvGrpSpPr>
        <p:grpSpPr>
          <a:xfrm>
            <a:off x="4300560" y="3637800"/>
            <a:ext cx="162720" cy="1909080"/>
            <a:chOff x="4300560" y="3637800"/>
            <a:chExt cx="162720" cy="1909080"/>
          </a:xfrm>
        </p:grpSpPr>
        <p:pic>
          <p:nvPicPr>
            <p:cNvPr id="308" name="object 57" descr=""/>
            <p:cNvPicPr/>
            <p:nvPr/>
          </p:nvPicPr>
          <p:blipFill>
            <a:blip r:embed="rId24"/>
            <a:stretch/>
          </p:blipFill>
          <p:spPr>
            <a:xfrm>
              <a:off x="4300560" y="3637800"/>
              <a:ext cx="162720" cy="190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9" name="object 58"/>
            <p:cNvSpPr/>
            <p:nvPr/>
          </p:nvSpPr>
          <p:spPr>
            <a:xfrm>
              <a:off x="4343400" y="3657600"/>
              <a:ext cx="82080" cy="182844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82550" h="1828800">
                  <a:moveTo>
                    <a:pt x="82296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82296" y="182880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310" name="object 59"/>
          <p:cNvGrpSpPr/>
          <p:nvPr/>
        </p:nvGrpSpPr>
        <p:grpSpPr>
          <a:xfrm>
            <a:off x="8133480" y="3631680"/>
            <a:ext cx="3570480" cy="1922760"/>
            <a:chOff x="8133480" y="3631680"/>
            <a:chExt cx="3570480" cy="1922760"/>
          </a:xfrm>
        </p:grpSpPr>
        <p:pic>
          <p:nvPicPr>
            <p:cNvPr id="311" name="object 60" descr=""/>
            <p:cNvPicPr/>
            <p:nvPr/>
          </p:nvPicPr>
          <p:blipFill>
            <a:blip r:embed="rId25"/>
            <a:stretch/>
          </p:blipFill>
          <p:spPr>
            <a:xfrm>
              <a:off x="8133480" y="3631680"/>
              <a:ext cx="3570480" cy="19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2" name="object 61"/>
            <p:cNvSpPr/>
            <p:nvPr/>
          </p:nvSpPr>
          <p:spPr>
            <a:xfrm>
              <a:off x="8183880" y="3657600"/>
              <a:ext cx="3474360" cy="1828440"/>
            </a:xfrm>
            <a:custGeom>
              <a:avLst/>
              <a:gdLst>
                <a:gd name="textAreaLeft" fmla="*/ 0 w 3474360"/>
                <a:gd name="textAreaRight" fmla="*/ 3474720 w 347436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3474720" h="1828800">
                  <a:moveTo>
                    <a:pt x="316992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3169920" y="1828800"/>
                  </a:lnTo>
                  <a:lnTo>
                    <a:pt x="3219345" y="1824809"/>
                  </a:lnTo>
                  <a:lnTo>
                    <a:pt x="3266236" y="1813255"/>
                  </a:lnTo>
                  <a:lnTo>
                    <a:pt x="3309966" y="1794767"/>
                  </a:lnTo>
                  <a:lnTo>
                    <a:pt x="3349904" y="1769973"/>
                  </a:lnTo>
                  <a:lnTo>
                    <a:pt x="3385423" y="1739503"/>
                  </a:lnTo>
                  <a:lnTo>
                    <a:pt x="3415893" y="1703984"/>
                  </a:lnTo>
                  <a:lnTo>
                    <a:pt x="3440687" y="1664046"/>
                  </a:lnTo>
                  <a:lnTo>
                    <a:pt x="3459175" y="1620316"/>
                  </a:lnTo>
                  <a:lnTo>
                    <a:pt x="3470729" y="1573425"/>
                  </a:lnTo>
                  <a:lnTo>
                    <a:pt x="3474720" y="1524000"/>
                  </a:lnTo>
                  <a:lnTo>
                    <a:pt x="3474720" y="304800"/>
                  </a:lnTo>
                  <a:lnTo>
                    <a:pt x="3470729" y="255374"/>
                  </a:lnTo>
                  <a:lnTo>
                    <a:pt x="3459175" y="208483"/>
                  </a:lnTo>
                  <a:lnTo>
                    <a:pt x="3440687" y="164753"/>
                  </a:lnTo>
                  <a:lnTo>
                    <a:pt x="3415893" y="124815"/>
                  </a:lnTo>
                  <a:lnTo>
                    <a:pt x="3385423" y="89296"/>
                  </a:lnTo>
                  <a:lnTo>
                    <a:pt x="3349904" y="58826"/>
                  </a:lnTo>
                  <a:lnTo>
                    <a:pt x="3309966" y="34032"/>
                  </a:lnTo>
                  <a:lnTo>
                    <a:pt x="3266236" y="15544"/>
                  </a:lnTo>
                  <a:lnTo>
                    <a:pt x="3219345" y="399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3" name="object 62"/>
            <p:cNvSpPr/>
            <p:nvPr/>
          </p:nvSpPr>
          <p:spPr>
            <a:xfrm>
              <a:off x="8183880" y="3657600"/>
              <a:ext cx="3474360" cy="1828440"/>
            </a:xfrm>
            <a:custGeom>
              <a:avLst/>
              <a:gdLst>
                <a:gd name="textAreaLeft" fmla="*/ 0 w 3474360"/>
                <a:gd name="textAreaRight" fmla="*/ 3474720 w 347436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347472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169920" y="0"/>
                  </a:lnTo>
                  <a:lnTo>
                    <a:pt x="3219345" y="3990"/>
                  </a:lnTo>
                  <a:lnTo>
                    <a:pt x="3266236" y="15544"/>
                  </a:lnTo>
                  <a:lnTo>
                    <a:pt x="3309966" y="34032"/>
                  </a:lnTo>
                  <a:lnTo>
                    <a:pt x="3349904" y="58826"/>
                  </a:lnTo>
                  <a:lnTo>
                    <a:pt x="3385423" y="89296"/>
                  </a:lnTo>
                  <a:lnTo>
                    <a:pt x="3415893" y="124815"/>
                  </a:lnTo>
                  <a:lnTo>
                    <a:pt x="3440687" y="164753"/>
                  </a:lnTo>
                  <a:lnTo>
                    <a:pt x="3459175" y="208483"/>
                  </a:lnTo>
                  <a:lnTo>
                    <a:pt x="3470729" y="255374"/>
                  </a:lnTo>
                  <a:lnTo>
                    <a:pt x="3474720" y="304800"/>
                  </a:lnTo>
                  <a:lnTo>
                    <a:pt x="3474720" y="1524000"/>
                  </a:lnTo>
                  <a:lnTo>
                    <a:pt x="3470729" y="1573425"/>
                  </a:lnTo>
                  <a:lnTo>
                    <a:pt x="3459175" y="1620316"/>
                  </a:lnTo>
                  <a:lnTo>
                    <a:pt x="3440687" y="1664046"/>
                  </a:lnTo>
                  <a:lnTo>
                    <a:pt x="3415893" y="1703984"/>
                  </a:lnTo>
                  <a:lnTo>
                    <a:pt x="3385423" y="1739503"/>
                  </a:lnTo>
                  <a:lnTo>
                    <a:pt x="3349904" y="1769973"/>
                  </a:lnTo>
                  <a:lnTo>
                    <a:pt x="3309966" y="1794767"/>
                  </a:lnTo>
                  <a:lnTo>
                    <a:pt x="3266236" y="1813255"/>
                  </a:lnTo>
                  <a:lnTo>
                    <a:pt x="3219345" y="1824809"/>
                  </a:lnTo>
                  <a:lnTo>
                    <a:pt x="316992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14" name="object 63"/>
          <p:cNvSpPr/>
          <p:nvPr/>
        </p:nvSpPr>
        <p:spPr>
          <a:xfrm>
            <a:off x="8506800" y="3766680"/>
            <a:ext cx="2901600" cy="14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98320">
              <a:lnSpc>
                <a:spcPct val="100000"/>
              </a:lnSpc>
              <a:spcBef>
                <a:spcPts val="99"/>
              </a:spcBef>
            </a:pPr>
            <a:r>
              <a:rPr b="1" lang="en-US" sz="2000" spc="-130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000" spc="-11" strike="noStrike" u="none">
                <a:solidFill>
                  <a:srgbClr val="173e6c"/>
                </a:solidFill>
                <a:uFillTx/>
                <a:latin typeface="Trebuchet MS"/>
              </a:rPr>
              <a:t>PROPOSED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14"/>
              </a:spcBef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Primary: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Module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3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authentication,</a:t>
            </a:r>
            <a:r>
              <a:rPr b="0" lang="en-US" sz="1400" spc="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UI/menu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20" strike="noStrike" u="none">
                <a:solidFill>
                  <a:srgbClr val="1c2837"/>
                </a:solidFill>
                <a:uFillTx/>
                <a:latin typeface="Tahoma"/>
              </a:rPr>
              <a:t>flow,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validation</a:t>
            </a:r>
            <a:r>
              <a:rPr b="0" lang="en-US" sz="1400" spc="-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exception</a:t>
            </a:r>
            <a:r>
              <a:rPr b="0" lang="en-US" sz="1400" spc="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handling.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34"/>
              </a:spcBef>
            </a:pP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Shared: </a:t>
            </a:r>
            <a:r>
              <a:rPr b="0" lang="en-US" sz="1400" strike="noStrike" u="none">
                <a:solidFill>
                  <a:srgbClr val="1c2837"/>
                </a:solidFill>
                <a:uFillTx/>
                <a:latin typeface="Tahoma"/>
              </a:rPr>
              <a:t>documentation</a:t>
            </a:r>
            <a:r>
              <a:rPr b="0" lang="en-US" sz="1400" spc="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201" strike="noStrike" u="none">
                <a:solidFill>
                  <a:srgbClr val="1c2837"/>
                </a:solidFill>
                <a:uFillTx/>
                <a:latin typeface="Tahoma"/>
              </a:rPr>
              <a:t>+</a:t>
            </a:r>
            <a:r>
              <a:rPr b="0" lang="en-US" sz="1400" spc="-3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400" spc="-11" strike="noStrike" u="none">
                <a:solidFill>
                  <a:srgbClr val="1c2837"/>
                </a:solidFill>
                <a:uFillTx/>
                <a:latin typeface="Tahoma"/>
              </a:rPr>
              <a:t>presentation.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5" name="object 64"/>
          <p:cNvGrpSpPr/>
          <p:nvPr/>
        </p:nvGrpSpPr>
        <p:grpSpPr>
          <a:xfrm>
            <a:off x="8141040" y="3637800"/>
            <a:ext cx="162720" cy="1909080"/>
            <a:chOff x="8141040" y="3637800"/>
            <a:chExt cx="162720" cy="1909080"/>
          </a:xfrm>
        </p:grpSpPr>
        <p:pic>
          <p:nvPicPr>
            <p:cNvPr id="316" name="object 65" descr=""/>
            <p:cNvPicPr/>
            <p:nvPr/>
          </p:nvPicPr>
          <p:blipFill>
            <a:blip r:embed="rId26"/>
            <a:stretch/>
          </p:blipFill>
          <p:spPr>
            <a:xfrm>
              <a:off x="8141040" y="3637800"/>
              <a:ext cx="162720" cy="1909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7" name="object 66"/>
            <p:cNvSpPr/>
            <p:nvPr/>
          </p:nvSpPr>
          <p:spPr>
            <a:xfrm>
              <a:off x="8183880" y="3657600"/>
              <a:ext cx="82080" cy="182844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828440"/>
                <a:gd name="textAreaBottom" fmla="*/ 1828800 h 1828440"/>
              </a:gdLst>
              <a:ahLst/>
              <a:rect l="textAreaLeft" t="textAreaTop" r="textAreaRight" b="textAreaBottom"/>
              <a:pathLst>
                <a:path w="82550" h="1828800">
                  <a:moveTo>
                    <a:pt x="82296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82296" y="182880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694e9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318" name="object 67"/>
          <p:cNvGrpSpPr/>
          <p:nvPr/>
        </p:nvGrpSpPr>
        <p:grpSpPr>
          <a:xfrm>
            <a:off x="368640" y="6454080"/>
            <a:ext cx="11418840" cy="98640"/>
            <a:chOff x="368640" y="6454080"/>
            <a:chExt cx="11418840" cy="98640"/>
          </a:xfrm>
        </p:grpSpPr>
        <p:pic>
          <p:nvPicPr>
            <p:cNvPr id="319" name="object 68" descr=""/>
            <p:cNvPicPr/>
            <p:nvPr/>
          </p:nvPicPr>
          <p:blipFill>
            <a:blip r:embed="rId27"/>
            <a:stretch/>
          </p:blipFill>
          <p:spPr>
            <a:xfrm>
              <a:off x="368640" y="6454080"/>
              <a:ext cx="11418840" cy="98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0" name="object 69"/>
            <p:cNvSpPr/>
            <p:nvPr/>
          </p:nvSpPr>
          <p:spPr>
            <a:xfrm>
              <a:off x="411480" y="6473880"/>
              <a:ext cx="11338200" cy="18000"/>
            </a:xfrm>
            <a:custGeom>
              <a:avLst/>
              <a:gdLst>
                <a:gd name="textAreaLeft" fmla="*/ 0 w 11338200"/>
                <a:gd name="textAreaRight" fmla="*/ 11338560 w 11338200"/>
                <a:gd name="textAreaTop" fmla="*/ 0 h 18000"/>
                <a:gd name="textAreaBottom" fmla="*/ 18360 h 18000"/>
              </a:gdLst>
              <a:ahLst/>
              <a:rect l="textAreaLeft" t="textAreaTop" r="textAreaRight" b="textAreaBottom"/>
              <a:pathLst>
                <a:path w="11338560" h="18414">
                  <a:moveTo>
                    <a:pt x="1133856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1338560" y="18288"/>
                  </a:lnTo>
                  <a:lnTo>
                    <a:pt x="11338560" y="0"/>
                  </a:lnTo>
                  <a:close/>
                </a:path>
              </a:pathLst>
            </a:custGeom>
            <a:solidFill>
              <a:srgbClr val="c3d2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21" name=""/>
          <p:cNvSpPr txBox="1"/>
          <p:nvPr/>
        </p:nvSpPr>
        <p:spPr>
          <a:xfrm>
            <a:off x="935280" y="829440"/>
            <a:ext cx="7559280" cy="978480"/>
          </a:xfrm>
          <a:prstGeom prst="rect">
            <a:avLst/>
          </a:prstGeom>
          <a:noFill/>
          <a:ln w="2520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2200" strike="noStrike" u="none">
                <a:solidFill>
                  <a:srgbClr val="00549a"/>
                </a:solidFill>
                <a:uFillTx/>
                <a:latin typeface="Arial"/>
              </a:rPr>
              <a:t>Project  Planning- Timelines ,Milestone and the Proposed Task Allocation</a:t>
            </a:r>
            <a:endParaRPr b="1" lang="en-US" sz="2200" strike="noStrike" u="none">
              <a:solidFill>
                <a:srgbClr val="00549a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90320" y="118440"/>
            <a:ext cx="8501040" cy="4852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SIMATS</a:t>
            </a:r>
            <a:r>
              <a:rPr b="1" lang="en-US" sz="1500" spc="-79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ENGINEERING</a:t>
            </a:r>
            <a:r>
              <a:rPr b="1" lang="en-US" sz="1500" spc="37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•</a:t>
            </a:r>
            <a:r>
              <a:rPr b="1" lang="en-US" sz="1500" spc="3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US" sz="1500" strike="noStrike" u="none">
                <a:solidFill>
                  <a:schemeClr val="lt1"/>
                </a:solidFill>
                <a:uFillTx/>
                <a:latin typeface="Trebuchet MS"/>
              </a:rPr>
              <a:t>LOGISTICS</a:t>
            </a:r>
            <a:r>
              <a:rPr b="1" lang="en-US" sz="15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600" spc="-60" strike="noStrike" u="none">
                <a:solidFill>
                  <a:schemeClr val="lt1"/>
                </a:solidFill>
                <a:uFillTx/>
                <a:latin typeface="Trebuchet MS"/>
              </a:rPr>
              <a:t>A</a:t>
            </a:r>
            <a:r>
              <a:rPr b="1" lang="en-IN" sz="1600" strike="noStrike" u="none">
                <a:solidFill>
                  <a:schemeClr val="lt1"/>
                </a:solidFill>
                <a:uFillTx/>
                <a:latin typeface="Trebuchet MS"/>
              </a:rPr>
              <a:t>ND</a:t>
            </a:r>
            <a:r>
              <a:rPr b="1" lang="en-IN" sz="15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chemeClr val="lt1"/>
                </a:solidFill>
                <a:uFillTx/>
                <a:latin typeface="Trebuchet MS"/>
              </a:rPr>
              <a:t>SUPPLY</a:t>
            </a:r>
            <a:r>
              <a:rPr b="1" lang="en-IN" sz="1500" spc="-5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pc="51" strike="noStrike" u="none">
                <a:solidFill>
                  <a:schemeClr val="lt1"/>
                </a:solidFill>
                <a:uFillTx/>
                <a:latin typeface="Trebuchet MS"/>
              </a:rPr>
              <a:t>CHAIN</a:t>
            </a:r>
            <a:r>
              <a:rPr b="1" lang="en-IN" sz="1500" spc="-51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chemeClr val="lt1"/>
                </a:solidFill>
                <a:uFillTx/>
                <a:latin typeface="Trebuchet MS"/>
              </a:rPr>
              <a:t>CARBON</a:t>
            </a:r>
            <a:r>
              <a:rPr b="1" lang="en-IN" sz="1500" spc="-45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pc="-31" strike="noStrike" u="none">
                <a:solidFill>
                  <a:schemeClr val="lt1"/>
                </a:solidFill>
                <a:uFillTx/>
                <a:latin typeface="Trebuchet MS"/>
              </a:rPr>
              <a:t>FOOTPRINT</a:t>
            </a:r>
            <a:r>
              <a:rPr b="1" lang="en-IN" sz="1500" spc="-34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trike="noStrike" u="none">
                <a:solidFill>
                  <a:schemeClr val="lt1"/>
                </a:solidFill>
                <a:uFillTx/>
                <a:latin typeface="Trebuchet MS"/>
              </a:rPr>
              <a:t>TRACKING</a:t>
            </a:r>
            <a:r>
              <a:rPr b="1" lang="en-IN" sz="1500" spc="-60" strike="noStrike" u="none">
                <a:solidFill>
                  <a:schemeClr val="lt1"/>
                </a:solidFill>
                <a:uFillTx/>
                <a:latin typeface="Trebuchet MS"/>
              </a:rPr>
              <a:t> </a:t>
            </a:r>
            <a:r>
              <a:rPr b="1" lang="en-IN" sz="1500" spc="-11" strike="noStrike" u="none">
                <a:solidFill>
                  <a:schemeClr val="lt1"/>
                </a:solidFill>
                <a:uFillTx/>
                <a:latin typeface="Trebuchet MS"/>
              </a:rPr>
              <a:t>SYSTEM</a:t>
            </a:r>
            <a:endParaRPr b="0" lang="en-US" sz="1500" strike="noStrike" u="none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3" name="object 7"/>
          <p:cNvSpPr/>
          <p:nvPr/>
        </p:nvSpPr>
        <p:spPr>
          <a:xfrm>
            <a:off x="536040" y="677880"/>
            <a:ext cx="9064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84840" indent="-36324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1" lang="en-US" sz="2700" spc="-125" strike="noStrike" u="none">
                <a:solidFill>
                  <a:srgbClr val="173e6c"/>
                </a:solidFill>
                <a:uFillTx/>
                <a:latin typeface="Trebuchet MS"/>
              </a:rPr>
              <a:t>Initial</a:t>
            </a:r>
            <a:r>
              <a:rPr b="1" lang="en-US" sz="2700" spc="-244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700" spc="-156" strike="noStrike" u="none">
                <a:solidFill>
                  <a:srgbClr val="173e6c"/>
                </a:solidFill>
                <a:uFillTx/>
                <a:latin typeface="Trebuchet MS"/>
              </a:rPr>
              <a:t>Prototype</a:t>
            </a:r>
            <a:r>
              <a:rPr b="1" lang="en-US" sz="2700" spc="-249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700" spc="-20" strike="noStrike" u="none">
                <a:solidFill>
                  <a:srgbClr val="173e6c"/>
                </a:solidFill>
                <a:uFillTx/>
                <a:latin typeface="Trebuchet MS"/>
              </a:rPr>
              <a:t>/</a:t>
            </a:r>
            <a:r>
              <a:rPr b="1" lang="en-US" sz="2700" spc="-25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2700" spc="-99" strike="noStrike" u="none">
                <a:solidFill>
                  <a:srgbClr val="173e6c"/>
                </a:solidFill>
                <a:uFillTx/>
                <a:latin typeface="Trebuchet MS"/>
              </a:rPr>
              <a:t>Demonstration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24" name="object 8"/>
          <p:cNvGrpSpPr/>
          <p:nvPr/>
        </p:nvGrpSpPr>
        <p:grpSpPr>
          <a:xfrm>
            <a:off x="455760" y="1667160"/>
            <a:ext cx="6581880" cy="4341600"/>
            <a:chOff x="455760" y="1667160"/>
            <a:chExt cx="6581880" cy="4341600"/>
          </a:xfrm>
        </p:grpSpPr>
        <p:pic>
          <p:nvPicPr>
            <p:cNvPr id="325" name="object 9" descr=""/>
            <p:cNvPicPr/>
            <p:nvPr/>
          </p:nvPicPr>
          <p:blipFill>
            <a:blip r:embed="rId1"/>
            <a:stretch/>
          </p:blipFill>
          <p:spPr>
            <a:xfrm>
              <a:off x="455760" y="1667160"/>
              <a:ext cx="6581880" cy="4341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6" name="object 10" descr=""/>
            <p:cNvPicPr/>
            <p:nvPr/>
          </p:nvPicPr>
          <p:blipFill>
            <a:blip r:embed="rId2"/>
            <a:stretch/>
          </p:blipFill>
          <p:spPr>
            <a:xfrm>
              <a:off x="797040" y="2051280"/>
              <a:ext cx="4649400" cy="377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7" name="object 11"/>
            <p:cNvSpPr/>
            <p:nvPr/>
          </p:nvSpPr>
          <p:spPr>
            <a:xfrm>
              <a:off x="502920" y="1691640"/>
              <a:ext cx="6491880" cy="4251600"/>
            </a:xfrm>
            <a:custGeom>
              <a:avLst/>
              <a:gdLst>
                <a:gd name="textAreaLeft" fmla="*/ 0 w 6491880"/>
                <a:gd name="textAreaRight" fmla="*/ 6492240 w 6491880"/>
                <a:gd name="textAreaTop" fmla="*/ 0 h 4251600"/>
                <a:gd name="textAreaBottom" fmla="*/ 4251960 h 4251600"/>
              </a:gdLst>
              <a:ahLst/>
              <a:rect l="textAreaLeft" t="textAreaTop" r="textAreaRight" b="textAreaBottom"/>
              <a:pathLst>
                <a:path w="6492240" h="4251960">
                  <a:moveTo>
                    <a:pt x="5783580" y="0"/>
                  </a:moveTo>
                  <a:lnTo>
                    <a:pt x="708672" y="0"/>
                  </a:lnTo>
                  <a:lnTo>
                    <a:pt x="660152" y="1634"/>
                  </a:lnTo>
                  <a:lnTo>
                    <a:pt x="612510" y="6468"/>
                  </a:lnTo>
                  <a:lnTo>
                    <a:pt x="565850" y="14396"/>
                  </a:lnTo>
                  <a:lnTo>
                    <a:pt x="520279" y="25311"/>
                  </a:lnTo>
                  <a:lnTo>
                    <a:pt x="475902" y="39110"/>
                  </a:lnTo>
                  <a:lnTo>
                    <a:pt x="432825" y="55685"/>
                  </a:lnTo>
                  <a:lnTo>
                    <a:pt x="391153" y="74932"/>
                  </a:lnTo>
                  <a:lnTo>
                    <a:pt x="350992" y="96745"/>
                  </a:lnTo>
                  <a:lnTo>
                    <a:pt x="312447" y="121019"/>
                  </a:lnTo>
                  <a:lnTo>
                    <a:pt x="275624" y="147648"/>
                  </a:lnTo>
                  <a:lnTo>
                    <a:pt x="240628" y="176527"/>
                  </a:lnTo>
                  <a:lnTo>
                    <a:pt x="207565" y="207549"/>
                  </a:lnTo>
                  <a:lnTo>
                    <a:pt x="176541" y="240611"/>
                  </a:lnTo>
                  <a:lnTo>
                    <a:pt x="147661" y="275605"/>
                  </a:lnTo>
                  <a:lnTo>
                    <a:pt x="121030" y="312427"/>
                  </a:lnTo>
                  <a:lnTo>
                    <a:pt x="96754" y="350971"/>
                  </a:lnTo>
                  <a:lnTo>
                    <a:pt x="74939" y="391132"/>
                  </a:lnTo>
                  <a:lnTo>
                    <a:pt x="55691" y="432804"/>
                  </a:lnTo>
                  <a:lnTo>
                    <a:pt x="39114" y="475881"/>
                  </a:lnTo>
                  <a:lnTo>
                    <a:pt x="25314" y="520259"/>
                  </a:lnTo>
                  <a:lnTo>
                    <a:pt x="14397" y="565831"/>
                  </a:lnTo>
                  <a:lnTo>
                    <a:pt x="6469" y="612492"/>
                  </a:lnTo>
                  <a:lnTo>
                    <a:pt x="1634" y="660137"/>
                  </a:lnTo>
                  <a:lnTo>
                    <a:pt x="0" y="708660"/>
                  </a:lnTo>
                  <a:lnTo>
                    <a:pt x="0" y="3543300"/>
                  </a:lnTo>
                  <a:lnTo>
                    <a:pt x="1634" y="3591818"/>
                  </a:lnTo>
                  <a:lnTo>
                    <a:pt x="6469" y="3639459"/>
                  </a:lnTo>
                  <a:lnTo>
                    <a:pt x="14397" y="3686117"/>
                  </a:lnTo>
                  <a:lnTo>
                    <a:pt x="25314" y="3731687"/>
                  </a:lnTo>
                  <a:lnTo>
                    <a:pt x="39114" y="3776063"/>
                  </a:lnTo>
                  <a:lnTo>
                    <a:pt x="55691" y="3819139"/>
                  </a:lnTo>
                  <a:lnTo>
                    <a:pt x="74939" y="3860810"/>
                  </a:lnTo>
                  <a:lnTo>
                    <a:pt x="96754" y="3900971"/>
                  </a:lnTo>
                  <a:lnTo>
                    <a:pt x="121030" y="3939515"/>
                  </a:lnTo>
                  <a:lnTo>
                    <a:pt x="147661" y="3976338"/>
                  </a:lnTo>
                  <a:lnTo>
                    <a:pt x="176541" y="4011333"/>
                  </a:lnTo>
                  <a:lnTo>
                    <a:pt x="207565" y="4044395"/>
                  </a:lnTo>
                  <a:lnTo>
                    <a:pt x="240628" y="4075419"/>
                  </a:lnTo>
                  <a:lnTo>
                    <a:pt x="275624" y="4104299"/>
                  </a:lnTo>
                  <a:lnTo>
                    <a:pt x="312447" y="4130930"/>
                  </a:lnTo>
                  <a:lnTo>
                    <a:pt x="350992" y="4155205"/>
                  </a:lnTo>
                  <a:lnTo>
                    <a:pt x="391153" y="4177020"/>
                  </a:lnTo>
                  <a:lnTo>
                    <a:pt x="432825" y="4196269"/>
                  </a:lnTo>
                  <a:lnTo>
                    <a:pt x="475902" y="4212845"/>
                  </a:lnTo>
                  <a:lnTo>
                    <a:pt x="520279" y="4226645"/>
                  </a:lnTo>
                  <a:lnTo>
                    <a:pt x="565850" y="4237562"/>
                  </a:lnTo>
                  <a:lnTo>
                    <a:pt x="612510" y="4245490"/>
                  </a:lnTo>
                  <a:lnTo>
                    <a:pt x="660152" y="4250325"/>
                  </a:lnTo>
                  <a:lnTo>
                    <a:pt x="708672" y="4251960"/>
                  </a:lnTo>
                  <a:lnTo>
                    <a:pt x="5783580" y="4251960"/>
                  </a:lnTo>
                  <a:lnTo>
                    <a:pt x="5832102" y="4250325"/>
                  </a:lnTo>
                  <a:lnTo>
                    <a:pt x="5879747" y="4245490"/>
                  </a:lnTo>
                  <a:lnTo>
                    <a:pt x="5926408" y="4237562"/>
                  </a:lnTo>
                  <a:lnTo>
                    <a:pt x="5971980" y="4226645"/>
                  </a:lnTo>
                  <a:lnTo>
                    <a:pt x="6016358" y="4212845"/>
                  </a:lnTo>
                  <a:lnTo>
                    <a:pt x="6059435" y="4196269"/>
                  </a:lnTo>
                  <a:lnTo>
                    <a:pt x="6101107" y="4177020"/>
                  </a:lnTo>
                  <a:lnTo>
                    <a:pt x="6141268" y="4155205"/>
                  </a:lnTo>
                  <a:lnTo>
                    <a:pt x="6179812" y="4130930"/>
                  </a:lnTo>
                  <a:lnTo>
                    <a:pt x="6216634" y="4104299"/>
                  </a:lnTo>
                  <a:lnTo>
                    <a:pt x="6251628" y="4075419"/>
                  </a:lnTo>
                  <a:lnTo>
                    <a:pt x="6284690" y="4044395"/>
                  </a:lnTo>
                  <a:lnTo>
                    <a:pt x="6315712" y="4011333"/>
                  </a:lnTo>
                  <a:lnTo>
                    <a:pt x="6344591" y="3976338"/>
                  </a:lnTo>
                  <a:lnTo>
                    <a:pt x="6371220" y="3939515"/>
                  </a:lnTo>
                  <a:lnTo>
                    <a:pt x="6395494" y="3900971"/>
                  </a:lnTo>
                  <a:lnTo>
                    <a:pt x="6417307" y="3860810"/>
                  </a:lnTo>
                  <a:lnTo>
                    <a:pt x="6436554" y="3819139"/>
                  </a:lnTo>
                  <a:lnTo>
                    <a:pt x="6453129" y="3776063"/>
                  </a:lnTo>
                  <a:lnTo>
                    <a:pt x="6466928" y="3731687"/>
                  </a:lnTo>
                  <a:lnTo>
                    <a:pt x="6477843" y="3686117"/>
                  </a:lnTo>
                  <a:lnTo>
                    <a:pt x="6485771" y="3639459"/>
                  </a:lnTo>
                  <a:lnTo>
                    <a:pt x="6490605" y="3591818"/>
                  </a:lnTo>
                  <a:lnTo>
                    <a:pt x="6492239" y="3543300"/>
                  </a:lnTo>
                  <a:lnTo>
                    <a:pt x="6492239" y="708660"/>
                  </a:lnTo>
                  <a:lnTo>
                    <a:pt x="6490605" y="660137"/>
                  </a:lnTo>
                  <a:lnTo>
                    <a:pt x="6485771" y="612492"/>
                  </a:lnTo>
                  <a:lnTo>
                    <a:pt x="6477843" y="565831"/>
                  </a:lnTo>
                  <a:lnTo>
                    <a:pt x="6466928" y="520259"/>
                  </a:lnTo>
                  <a:lnTo>
                    <a:pt x="6453129" y="475881"/>
                  </a:lnTo>
                  <a:lnTo>
                    <a:pt x="6436554" y="432804"/>
                  </a:lnTo>
                  <a:lnTo>
                    <a:pt x="6417307" y="391132"/>
                  </a:lnTo>
                  <a:lnTo>
                    <a:pt x="6395494" y="350971"/>
                  </a:lnTo>
                  <a:lnTo>
                    <a:pt x="6371220" y="312427"/>
                  </a:lnTo>
                  <a:lnTo>
                    <a:pt x="6344591" y="275605"/>
                  </a:lnTo>
                  <a:lnTo>
                    <a:pt x="6315712" y="240611"/>
                  </a:lnTo>
                  <a:lnTo>
                    <a:pt x="6284690" y="207549"/>
                  </a:lnTo>
                  <a:lnTo>
                    <a:pt x="6251628" y="176527"/>
                  </a:lnTo>
                  <a:lnTo>
                    <a:pt x="6216634" y="147648"/>
                  </a:lnTo>
                  <a:lnTo>
                    <a:pt x="6179812" y="121019"/>
                  </a:lnTo>
                  <a:lnTo>
                    <a:pt x="6141268" y="96745"/>
                  </a:lnTo>
                  <a:lnTo>
                    <a:pt x="6101107" y="74932"/>
                  </a:lnTo>
                  <a:lnTo>
                    <a:pt x="6059435" y="55685"/>
                  </a:lnTo>
                  <a:lnTo>
                    <a:pt x="6016358" y="39110"/>
                  </a:lnTo>
                  <a:lnTo>
                    <a:pt x="5971980" y="25311"/>
                  </a:lnTo>
                  <a:lnTo>
                    <a:pt x="5926408" y="14396"/>
                  </a:lnTo>
                  <a:lnTo>
                    <a:pt x="5879747" y="6468"/>
                  </a:lnTo>
                  <a:lnTo>
                    <a:pt x="5832102" y="1634"/>
                  </a:lnTo>
                  <a:lnTo>
                    <a:pt x="5783580" y="0"/>
                  </a:lnTo>
                  <a:close/>
                </a:path>
              </a:pathLst>
            </a:custGeom>
            <a:solidFill>
              <a:srgbClr val="181e2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28" name="object 12"/>
            <p:cNvSpPr/>
            <p:nvPr/>
          </p:nvSpPr>
          <p:spPr>
            <a:xfrm>
              <a:off x="502920" y="1691640"/>
              <a:ext cx="6491880" cy="4251600"/>
            </a:xfrm>
            <a:custGeom>
              <a:avLst/>
              <a:gdLst>
                <a:gd name="textAreaLeft" fmla="*/ 0 w 6491880"/>
                <a:gd name="textAreaRight" fmla="*/ 6492240 w 6491880"/>
                <a:gd name="textAreaTop" fmla="*/ 0 h 4251600"/>
                <a:gd name="textAreaBottom" fmla="*/ 4251960 h 4251600"/>
              </a:gdLst>
              <a:ahLst/>
              <a:rect l="textAreaLeft" t="textAreaTop" r="textAreaRight" b="textAreaBottom"/>
              <a:pathLst>
                <a:path w="6492240" h="4251960">
                  <a:moveTo>
                    <a:pt x="0" y="708660"/>
                  </a:moveTo>
                  <a:lnTo>
                    <a:pt x="1634" y="660137"/>
                  </a:lnTo>
                  <a:lnTo>
                    <a:pt x="6469" y="612492"/>
                  </a:lnTo>
                  <a:lnTo>
                    <a:pt x="14397" y="565831"/>
                  </a:lnTo>
                  <a:lnTo>
                    <a:pt x="25314" y="520259"/>
                  </a:lnTo>
                  <a:lnTo>
                    <a:pt x="39114" y="475881"/>
                  </a:lnTo>
                  <a:lnTo>
                    <a:pt x="55691" y="432804"/>
                  </a:lnTo>
                  <a:lnTo>
                    <a:pt x="74939" y="391132"/>
                  </a:lnTo>
                  <a:lnTo>
                    <a:pt x="96754" y="350971"/>
                  </a:lnTo>
                  <a:lnTo>
                    <a:pt x="121030" y="312427"/>
                  </a:lnTo>
                  <a:lnTo>
                    <a:pt x="147661" y="275605"/>
                  </a:lnTo>
                  <a:lnTo>
                    <a:pt x="176541" y="240611"/>
                  </a:lnTo>
                  <a:lnTo>
                    <a:pt x="207565" y="207549"/>
                  </a:lnTo>
                  <a:lnTo>
                    <a:pt x="240628" y="176527"/>
                  </a:lnTo>
                  <a:lnTo>
                    <a:pt x="275624" y="147648"/>
                  </a:lnTo>
                  <a:lnTo>
                    <a:pt x="312447" y="121019"/>
                  </a:lnTo>
                  <a:lnTo>
                    <a:pt x="350992" y="96745"/>
                  </a:lnTo>
                  <a:lnTo>
                    <a:pt x="391153" y="74932"/>
                  </a:lnTo>
                  <a:lnTo>
                    <a:pt x="432825" y="55685"/>
                  </a:lnTo>
                  <a:lnTo>
                    <a:pt x="475902" y="39110"/>
                  </a:lnTo>
                  <a:lnTo>
                    <a:pt x="520279" y="25311"/>
                  </a:lnTo>
                  <a:lnTo>
                    <a:pt x="565850" y="14396"/>
                  </a:lnTo>
                  <a:lnTo>
                    <a:pt x="612510" y="6468"/>
                  </a:lnTo>
                  <a:lnTo>
                    <a:pt x="660152" y="1634"/>
                  </a:lnTo>
                  <a:lnTo>
                    <a:pt x="708672" y="0"/>
                  </a:lnTo>
                  <a:lnTo>
                    <a:pt x="5783580" y="0"/>
                  </a:lnTo>
                  <a:lnTo>
                    <a:pt x="5832102" y="1634"/>
                  </a:lnTo>
                  <a:lnTo>
                    <a:pt x="5879747" y="6468"/>
                  </a:lnTo>
                  <a:lnTo>
                    <a:pt x="5926408" y="14396"/>
                  </a:lnTo>
                  <a:lnTo>
                    <a:pt x="5971980" y="25311"/>
                  </a:lnTo>
                  <a:lnTo>
                    <a:pt x="6016358" y="39110"/>
                  </a:lnTo>
                  <a:lnTo>
                    <a:pt x="6059435" y="55685"/>
                  </a:lnTo>
                  <a:lnTo>
                    <a:pt x="6101107" y="74932"/>
                  </a:lnTo>
                  <a:lnTo>
                    <a:pt x="6141268" y="96745"/>
                  </a:lnTo>
                  <a:lnTo>
                    <a:pt x="6179812" y="121019"/>
                  </a:lnTo>
                  <a:lnTo>
                    <a:pt x="6216634" y="147648"/>
                  </a:lnTo>
                  <a:lnTo>
                    <a:pt x="6251628" y="176527"/>
                  </a:lnTo>
                  <a:lnTo>
                    <a:pt x="6284690" y="207549"/>
                  </a:lnTo>
                  <a:lnTo>
                    <a:pt x="6315712" y="240611"/>
                  </a:lnTo>
                  <a:lnTo>
                    <a:pt x="6344591" y="275605"/>
                  </a:lnTo>
                  <a:lnTo>
                    <a:pt x="6371220" y="312427"/>
                  </a:lnTo>
                  <a:lnTo>
                    <a:pt x="6395494" y="350971"/>
                  </a:lnTo>
                  <a:lnTo>
                    <a:pt x="6417307" y="391132"/>
                  </a:lnTo>
                  <a:lnTo>
                    <a:pt x="6436554" y="432804"/>
                  </a:lnTo>
                  <a:lnTo>
                    <a:pt x="6453129" y="475881"/>
                  </a:lnTo>
                  <a:lnTo>
                    <a:pt x="6466928" y="520259"/>
                  </a:lnTo>
                  <a:lnTo>
                    <a:pt x="6477843" y="565831"/>
                  </a:lnTo>
                  <a:lnTo>
                    <a:pt x="6485771" y="612492"/>
                  </a:lnTo>
                  <a:lnTo>
                    <a:pt x="6490605" y="660137"/>
                  </a:lnTo>
                  <a:lnTo>
                    <a:pt x="6492239" y="708660"/>
                  </a:lnTo>
                  <a:lnTo>
                    <a:pt x="6492239" y="3543300"/>
                  </a:lnTo>
                  <a:lnTo>
                    <a:pt x="6490605" y="3591818"/>
                  </a:lnTo>
                  <a:lnTo>
                    <a:pt x="6485771" y="3639459"/>
                  </a:lnTo>
                  <a:lnTo>
                    <a:pt x="6477843" y="3686117"/>
                  </a:lnTo>
                  <a:lnTo>
                    <a:pt x="6466928" y="3731687"/>
                  </a:lnTo>
                  <a:lnTo>
                    <a:pt x="6453129" y="3776063"/>
                  </a:lnTo>
                  <a:lnTo>
                    <a:pt x="6436554" y="3819139"/>
                  </a:lnTo>
                  <a:lnTo>
                    <a:pt x="6417307" y="3860810"/>
                  </a:lnTo>
                  <a:lnTo>
                    <a:pt x="6395494" y="3900971"/>
                  </a:lnTo>
                  <a:lnTo>
                    <a:pt x="6371220" y="3939515"/>
                  </a:lnTo>
                  <a:lnTo>
                    <a:pt x="6344591" y="3976338"/>
                  </a:lnTo>
                  <a:lnTo>
                    <a:pt x="6315712" y="4011333"/>
                  </a:lnTo>
                  <a:lnTo>
                    <a:pt x="6284690" y="4044395"/>
                  </a:lnTo>
                  <a:lnTo>
                    <a:pt x="6251628" y="4075419"/>
                  </a:lnTo>
                  <a:lnTo>
                    <a:pt x="6216634" y="4104299"/>
                  </a:lnTo>
                  <a:lnTo>
                    <a:pt x="6179812" y="4130930"/>
                  </a:lnTo>
                  <a:lnTo>
                    <a:pt x="6141268" y="4155205"/>
                  </a:lnTo>
                  <a:lnTo>
                    <a:pt x="6101107" y="4177020"/>
                  </a:lnTo>
                  <a:lnTo>
                    <a:pt x="6059435" y="4196269"/>
                  </a:lnTo>
                  <a:lnTo>
                    <a:pt x="6016358" y="4212845"/>
                  </a:lnTo>
                  <a:lnTo>
                    <a:pt x="5971980" y="4226645"/>
                  </a:lnTo>
                  <a:lnTo>
                    <a:pt x="5926408" y="4237562"/>
                  </a:lnTo>
                  <a:lnTo>
                    <a:pt x="5879747" y="4245490"/>
                  </a:lnTo>
                  <a:lnTo>
                    <a:pt x="5832102" y="4250325"/>
                  </a:lnTo>
                  <a:lnTo>
                    <a:pt x="5783580" y="4251960"/>
                  </a:lnTo>
                  <a:lnTo>
                    <a:pt x="708672" y="4251960"/>
                  </a:lnTo>
                  <a:lnTo>
                    <a:pt x="660152" y="4250325"/>
                  </a:lnTo>
                  <a:lnTo>
                    <a:pt x="612510" y="4245490"/>
                  </a:lnTo>
                  <a:lnTo>
                    <a:pt x="565850" y="4237562"/>
                  </a:lnTo>
                  <a:lnTo>
                    <a:pt x="520279" y="4226645"/>
                  </a:lnTo>
                  <a:lnTo>
                    <a:pt x="475902" y="4212845"/>
                  </a:lnTo>
                  <a:lnTo>
                    <a:pt x="432825" y="4196269"/>
                  </a:lnTo>
                  <a:lnTo>
                    <a:pt x="391153" y="4177020"/>
                  </a:lnTo>
                  <a:lnTo>
                    <a:pt x="350992" y="4155205"/>
                  </a:lnTo>
                  <a:lnTo>
                    <a:pt x="312447" y="4130930"/>
                  </a:lnTo>
                  <a:lnTo>
                    <a:pt x="275624" y="4104299"/>
                  </a:lnTo>
                  <a:lnTo>
                    <a:pt x="240628" y="4075419"/>
                  </a:lnTo>
                  <a:lnTo>
                    <a:pt x="207565" y="4044395"/>
                  </a:lnTo>
                  <a:lnTo>
                    <a:pt x="176541" y="4011333"/>
                  </a:lnTo>
                  <a:lnTo>
                    <a:pt x="147661" y="3976338"/>
                  </a:lnTo>
                  <a:lnTo>
                    <a:pt x="121030" y="3939515"/>
                  </a:lnTo>
                  <a:lnTo>
                    <a:pt x="96754" y="3900971"/>
                  </a:lnTo>
                  <a:lnTo>
                    <a:pt x="74939" y="3860810"/>
                  </a:lnTo>
                  <a:lnTo>
                    <a:pt x="55691" y="3819139"/>
                  </a:lnTo>
                  <a:lnTo>
                    <a:pt x="39114" y="3776063"/>
                  </a:lnTo>
                  <a:lnTo>
                    <a:pt x="25314" y="3731687"/>
                  </a:lnTo>
                  <a:lnTo>
                    <a:pt x="14397" y="3686117"/>
                  </a:lnTo>
                  <a:lnTo>
                    <a:pt x="6469" y="3639459"/>
                  </a:lnTo>
                  <a:lnTo>
                    <a:pt x="1634" y="3591818"/>
                  </a:lnTo>
                  <a:lnTo>
                    <a:pt x="0" y="3543300"/>
                  </a:lnTo>
                  <a:lnTo>
                    <a:pt x="0" y="708660"/>
                  </a:lnTo>
                  <a:close/>
                </a:path>
              </a:pathLst>
            </a:custGeom>
            <a:noFill/>
            <a:ln w="9524">
              <a:solidFill>
                <a:srgbClr val="2c5c9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29" name="object 13"/>
          <p:cNvSpPr/>
          <p:nvPr/>
        </p:nvSpPr>
        <p:spPr>
          <a:xfrm>
            <a:off x="926280" y="2072160"/>
            <a:ext cx="4393800" cy="17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8880" bIns="0" anchor="t">
            <a:spAutoFit/>
          </a:bodyPr>
          <a:p>
            <a:pPr marL="1398240">
              <a:lnSpc>
                <a:spcPct val="100000"/>
              </a:lnSpc>
              <a:spcBef>
                <a:spcPts val="306"/>
              </a:spcBef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LOGISTICS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CARBON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FOOTPRINT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SYSTEM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1"/>
              </a:spcBef>
            </a:pP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====================================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2600" indent="-360000">
              <a:lnSpc>
                <a:spcPct val="100000"/>
              </a:lnSpc>
              <a:spcBef>
                <a:spcPts val="196"/>
              </a:spcBef>
              <a:buFont typeface="OpenSymbol"/>
              <a:buAutoNum type="arabicPlain"/>
              <a:tabLst>
                <a:tab algn="l" pos="372600"/>
              </a:tabLst>
            </a:pP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Login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2600" indent="-360000">
              <a:lnSpc>
                <a:spcPct val="100000"/>
              </a:lnSpc>
              <a:spcBef>
                <a:spcPts val="204"/>
              </a:spcBef>
              <a:buFont typeface="OpenSymbol"/>
              <a:buAutoNum type="arabicPlain"/>
              <a:tabLst>
                <a:tab algn="l" pos="372600"/>
              </a:tabLst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Shipment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Management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1520" indent="-358920">
              <a:lnSpc>
                <a:spcPct val="100000"/>
              </a:lnSpc>
              <a:spcBef>
                <a:spcPts val="201"/>
              </a:spcBef>
              <a:buFont typeface="OpenSymbol"/>
              <a:buAutoNum type="arabicPlain"/>
              <a:tabLst>
                <a:tab algn="l" pos="371520"/>
              </a:tabLst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Carbon</a:t>
            </a:r>
            <a:r>
              <a:rPr b="0" lang="en-US" sz="1300" spc="-3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Route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Optimization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2600" indent="-360000">
              <a:lnSpc>
                <a:spcPct val="100000"/>
              </a:lnSpc>
              <a:spcBef>
                <a:spcPts val="196"/>
              </a:spcBef>
              <a:buFont typeface="OpenSymbol"/>
              <a:buAutoNum type="arabicPlain"/>
              <a:tabLst>
                <a:tab algn="l" pos="372600"/>
              </a:tabLst>
            </a:pP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Reports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2600" indent="-360000">
              <a:lnSpc>
                <a:spcPct val="100000"/>
              </a:lnSpc>
              <a:spcBef>
                <a:spcPts val="204"/>
              </a:spcBef>
              <a:buFont typeface="OpenSymbol"/>
              <a:buAutoNum type="arabicPlain"/>
              <a:tabLst>
                <a:tab algn="l" pos="372600"/>
              </a:tabLst>
            </a:pP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Exit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object 14"/>
          <p:cNvSpPr/>
          <p:nvPr/>
        </p:nvSpPr>
        <p:spPr>
          <a:xfrm>
            <a:off x="3728520" y="4110480"/>
            <a:ext cx="929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[4]</a:t>
            </a:r>
            <a:r>
              <a:rPr b="0" lang="en-US" sz="1300" spc="-26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Delete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object 15"/>
          <p:cNvSpPr/>
          <p:nvPr/>
        </p:nvSpPr>
        <p:spPr>
          <a:xfrm>
            <a:off x="926280" y="3859920"/>
            <a:ext cx="2645640" cy="18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8880" bIns="0" anchor="t">
            <a:spAutoFit/>
          </a:bodyPr>
          <a:p>
            <a:pPr marL="12600">
              <a:lnSpc>
                <a:spcPct val="100000"/>
              </a:lnSpc>
              <a:spcBef>
                <a:spcPts val="306"/>
              </a:spcBef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Shipment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Management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[1]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Add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[2]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View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[3]</a:t>
            </a:r>
            <a:r>
              <a:rPr b="0" lang="en-US" sz="1300" spc="-6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Update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35"/>
              </a:spcBef>
            </a:pP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13000"/>
              </a:lnSpc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Green</a:t>
            </a:r>
            <a:r>
              <a:rPr b="0" lang="en-US" sz="1300" spc="-14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Route</a:t>
            </a:r>
            <a:r>
              <a:rPr b="0" lang="en-US" sz="1300" spc="-14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Report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Route: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&lt;selected</a:t>
            </a:r>
            <a:r>
              <a:rPr b="0" lang="en-US" sz="1300" spc="-14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route&gt;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Time:</a:t>
            </a:r>
            <a:r>
              <a:rPr b="0" lang="en-US" sz="1300" spc="-14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&lt;calculated&gt;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0"/>
              </a:spcBef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CO₂:</a:t>
            </a:r>
            <a:r>
              <a:rPr b="0" lang="en-US" sz="1300" spc="-20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&lt;calculated&gt;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4"/>
              </a:spcBef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Cost: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α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×</a:t>
            </a:r>
            <a:r>
              <a:rPr b="0" lang="en-US" sz="1300" spc="-6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Time</a:t>
            </a:r>
            <a:r>
              <a:rPr b="0" lang="en-US" sz="1300" spc="-6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+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β</a:t>
            </a:r>
            <a:r>
              <a:rPr b="0" lang="en-US" sz="1300" spc="-11" strike="noStrike" u="none">
                <a:solidFill>
                  <a:srgbClr val="ffffff"/>
                </a:solidFill>
                <a:uFillTx/>
                <a:latin typeface="Consolas"/>
              </a:rPr>
              <a:t> </a:t>
            </a:r>
            <a:r>
              <a:rPr b="0" lang="en-US" sz="1300" strike="noStrike" u="none">
                <a:solidFill>
                  <a:srgbClr val="ffffff"/>
                </a:solidFill>
                <a:uFillTx/>
                <a:latin typeface="Consolas"/>
              </a:rPr>
              <a:t>× </a:t>
            </a:r>
            <a:r>
              <a:rPr b="0" lang="en-US" sz="1300" spc="-26" strike="noStrike" u="none">
                <a:solidFill>
                  <a:srgbClr val="ffffff"/>
                </a:solidFill>
                <a:uFillTx/>
                <a:latin typeface="Consolas"/>
              </a:rPr>
              <a:t>CO₂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32" name="object 16"/>
          <p:cNvGrpSpPr/>
          <p:nvPr/>
        </p:nvGrpSpPr>
        <p:grpSpPr>
          <a:xfrm>
            <a:off x="7219080" y="1665720"/>
            <a:ext cx="4484880" cy="1374120"/>
            <a:chOff x="7219080" y="1665720"/>
            <a:chExt cx="4484880" cy="1374120"/>
          </a:xfrm>
        </p:grpSpPr>
        <p:pic>
          <p:nvPicPr>
            <p:cNvPr id="333" name="object 17" descr=""/>
            <p:cNvPicPr/>
            <p:nvPr/>
          </p:nvPicPr>
          <p:blipFill>
            <a:blip r:embed="rId3"/>
            <a:stretch/>
          </p:blipFill>
          <p:spPr>
            <a:xfrm>
              <a:off x="7219080" y="1665720"/>
              <a:ext cx="4484880" cy="1374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4" name="object 18"/>
            <p:cNvSpPr/>
            <p:nvPr/>
          </p:nvSpPr>
          <p:spPr>
            <a:xfrm>
              <a:off x="7269480" y="1691640"/>
              <a:ext cx="4388760" cy="1279800"/>
            </a:xfrm>
            <a:custGeom>
              <a:avLst/>
              <a:gdLst>
                <a:gd name="textAreaLeft" fmla="*/ 0 w 4388760"/>
                <a:gd name="textAreaRight" fmla="*/ 4389120 w 4388760"/>
                <a:gd name="textAreaTop" fmla="*/ 0 h 1279800"/>
                <a:gd name="textAreaBottom" fmla="*/ 1280160 h 1279800"/>
              </a:gdLst>
              <a:ahLst/>
              <a:rect l="textAreaLeft" t="textAreaTop" r="textAreaRight" b="textAreaBottom"/>
              <a:pathLst>
                <a:path w="4389120" h="1280160">
                  <a:moveTo>
                    <a:pt x="4175760" y="0"/>
                  </a:moveTo>
                  <a:lnTo>
                    <a:pt x="213360" y="0"/>
                  </a:lnTo>
                  <a:lnTo>
                    <a:pt x="164432" y="5633"/>
                  </a:lnTo>
                  <a:lnTo>
                    <a:pt x="119520" y="21682"/>
                  </a:lnTo>
                  <a:lnTo>
                    <a:pt x="79905" y="46866"/>
                  </a:lnTo>
                  <a:lnTo>
                    <a:pt x="46866" y="79905"/>
                  </a:lnTo>
                  <a:lnTo>
                    <a:pt x="21682" y="119520"/>
                  </a:lnTo>
                  <a:lnTo>
                    <a:pt x="5633" y="164432"/>
                  </a:lnTo>
                  <a:lnTo>
                    <a:pt x="0" y="213360"/>
                  </a:lnTo>
                  <a:lnTo>
                    <a:pt x="0" y="1066800"/>
                  </a:lnTo>
                  <a:lnTo>
                    <a:pt x="5633" y="1115727"/>
                  </a:lnTo>
                  <a:lnTo>
                    <a:pt x="21682" y="1160639"/>
                  </a:lnTo>
                  <a:lnTo>
                    <a:pt x="46866" y="1200254"/>
                  </a:lnTo>
                  <a:lnTo>
                    <a:pt x="79905" y="1233293"/>
                  </a:lnTo>
                  <a:lnTo>
                    <a:pt x="119520" y="1258477"/>
                  </a:lnTo>
                  <a:lnTo>
                    <a:pt x="164432" y="1274526"/>
                  </a:lnTo>
                  <a:lnTo>
                    <a:pt x="213360" y="1280160"/>
                  </a:lnTo>
                  <a:lnTo>
                    <a:pt x="4175760" y="1280160"/>
                  </a:lnTo>
                  <a:lnTo>
                    <a:pt x="4224687" y="1274526"/>
                  </a:lnTo>
                  <a:lnTo>
                    <a:pt x="4269599" y="1258477"/>
                  </a:lnTo>
                  <a:lnTo>
                    <a:pt x="4309214" y="1233293"/>
                  </a:lnTo>
                  <a:lnTo>
                    <a:pt x="4342253" y="1200254"/>
                  </a:lnTo>
                  <a:lnTo>
                    <a:pt x="4367437" y="1160639"/>
                  </a:lnTo>
                  <a:lnTo>
                    <a:pt x="4383486" y="1115727"/>
                  </a:lnTo>
                  <a:lnTo>
                    <a:pt x="4389120" y="1066800"/>
                  </a:lnTo>
                  <a:lnTo>
                    <a:pt x="4389120" y="213360"/>
                  </a:lnTo>
                  <a:lnTo>
                    <a:pt x="4383486" y="164432"/>
                  </a:lnTo>
                  <a:lnTo>
                    <a:pt x="4367437" y="119520"/>
                  </a:lnTo>
                  <a:lnTo>
                    <a:pt x="4342253" y="79905"/>
                  </a:lnTo>
                  <a:lnTo>
                    <a:pt x="4309214" y="46866"/>
                  </a:lnTo>
                  <a:lnTo>
                    <a:pt x="4269599" y="21682"/>
                  </a:lnTo>
                  <a:lnTo>
                    <a:pt x="4224687" y="5633"/>
                  </a:lnTo>
                  <a:lnTo>
                    <a:pt x="417576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5" name="object 19"/>
            <p:cNvSpPr/>
            <p:nvPr/>
          </p:nvSpPr>
          <p:spPr>
            <a:xfrm>
              <a:off x="7269480" y="1691640"/>
              <a:ext cx="4388760" cy="1279800"/>
            </a:xfrm>
            <a:custGeom>
              <a:avLst/>
              <a:gdLst>
                <a:gd name="textAreaLeft" fmla="*/ 0 w 4388760"/>
                <a:gd name="textAreaRight" fmla="*/ 4389120 w 4388760"/>
                <a:gd name="textAreaTop" fmla="*/ 0 h 1279800"/>
                <a:gd name="textAreaBottom" fmla="*/ 1280160 h 1279800"/>
              </a:gdLst>
              <a:ahLst/>
              <a:rect l="textAreaLeft" t="textAreaTop" r="textAreaRight" b="textAreaBottom"/>
              <a:pathLst>
                <a:path w="4389120" h="1280160">
                  <a:moveTo>
                    <a:pt x="0" y="213360"/>
                  </a:moveTo>
                  <a:lnTo>
                    <a:pt x="5633" y="164432"/>
                  </a:lnTo>
                  <a:lnTo>
                    <a:pt x="21682" y="119520"/>
                  </a:lnTo>
                  <a:lnTo>
                    <a:pt x="46866" y="79905"/>
                  </a:lnTo>
                  <a:lnTo>
                    <a:pt x="79905" y="46866"/>
                  </a:lnTo>
                  <a:lnTo>
                    <a:pt x="119520" y="21682"/>
                  </a:lnTo>
                  <a:lnTo>
                    <a:pt x="164432" y="5633"/>
                  </a:lnTo>
                  <a:lnTo>
                    <a:pt x="213360" y="0"/>
                  </a:lnTo>
                  <a:lnTo>
                    <a:pt x="4175760" y="0"/>
                  </a:lnTo>
                  <a:lnTo>
                    <a:pt x="4224687" y="5633"/>
                  </a:lnTo>
                  <a:lnTo>
                    <a:pt x="4269599" y="21682"/>
                  </a:lnTo>
                  <a:lnTo>
                    <a:pt x="4309214" y="46866"/>
                  </a:lnTo>
                  <a:lnTo>
                    <a:pt x="4342253" y="79905"/>
                  </a:lnTo>
                  <a:lnTo>
                    <a:pt x="4367437" y="119520"/>
                  </a:lnTo>
                  <a:lnTo>
                    <a:pt x="4383486" y="164432"/>
                  </a:lnTo>
                  <a:lnTo>
                    <a:pt x="4389120" y="213360"/>
                  </a:lnTo>
                  <a:lnTo>
                    <a:pt x="4389120" y="1066800"/>
                  </a:lnTo>
                  <a:lnTo>
                    <a:pt x="4383486" y="1115727"/>
                  </a:lnTo>
                  <a:lnTo>
                    <a:pt x="4367437" y="1160639"/>
                  </a:lnTo>
                  <a:lnTo>
                    <a:pt x="4342253" y="1200254"/>
                  </a:lnTo>
                  <a:lnTo>
                    <a:pt x="4309214" y="1233293"/>
                  </a:lnTo>
                  <a:lnTo>
                    <a:pt x="4269599" y="1258477"/>
                  </a:lnTo>
                  <a:lnTo>
                    <a:pt x="4224687" y="1274526"/>
                  </a:lnTo>
                  <a:lnTo>
                    <a:pt x="4175760" y="1280160"/>
                  </a:lnTo>
                  <a:lnTo>
                    <a:pt x="213360" y="1280160"/>
                  </a:lnTo>
                  <a:lnTo>
                    <a:pt x="164432" y="1274526"/>
                  </a:lnTo>
                  <a:lnTo>
                    <a:pt x="119520" y="1258477"/>
                  </a:lnTo>
                  <a:lnTo>
                    <a:pt x="79905" y="1233293"/>
                  </a:lnTo>
                  <a:lnTo>
                    <a:pt x="46866" y="1200254"/>
                  </a:lnTo>
                  <a:lnTo>
                    <a:pt x="21682" y="1160639"/>
                  </a:lnTo>
                  <a:lnTo>
                    <a:pt x="5633" y="1115727"/>
                  </a:lnTo>
                  <a:lnTo>
                    <a:pt x="0" y="1066800"/>
                  </a:lnTo>
                  <a:lnTo>
                    <a:pt x="0" y="21336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36" name="object 20"/>
          <p:cNvSpPr/>
          <p:nvPr/>
        </p:nvSpPr>
        <p:spPr>
          <a:xfrm>
            <a:off x="7521480" y="1965960"/>
            <a:ext cx="391500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49400">
              <a:lnSpc>
                <a:spcPct val="100000"/>
              </a:lnSpc>
              <a:spcBef>
                <a:spcPts val="105"/>
              </a:spcBef>
            </a:pPr>
            <a:r>
              <a:rPr b="1" lang="en-US" sz="1400" spc="-34" strike="noStrike" u="none">
                <a:solidFill>
                  <a:srgbClr val="173e6c"/>
                </a:solidFill>
                <a:uFillTx/>
                <a:latin typeface="Trebuchet MS"/>
              </a:rPr>
              <a:t>Prototype</a:t>
            </a:r>
            <a:r>
              <a:rPr b="1" lang="en-US" sz="1400" spc="-13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26" strike="noStrike" u="none">
                <a:solidFill>
                  <a:srgbClr val="173e6c"/>
                </a:solidFill>
                <a:uFillTx/>
                <a:latin typeface="Trebuchet MS"/>
              </a:rPr>
              <a:t>evidence</a:t>
            </a:r>
            <a:r>
              <a:rPr b="1" lang="en-US" sz="1400" spc="-13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26" strike="noStrike" u="none">
                <a:solidFill>
                  <a:srgbClr val="173e6c"/>
                </a:solidFill>
                <a:uFillTx/>
                <a:latin typeface="Trebuchet MS"/>
              </a:rPr>
              <a:t>already</a:t>
            </a:r>
            <a:r>
              <a:rPr b="1" lang="en-US" sz="1400" spc="-13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20" strike="noStrike" u="none">
                <a:solidFill>
                  <a:srgbClr val="173e6c"/>
                </a:solidFill>
                <a:uFillTx/>
                <a:latin typeface="Trebuchet MS"/>
              </a:rPr>
              <a:t>present</a:t>
            </a:r>
            <a:r>
              <a:rPr b="1" lang="en-US" sz="1400" spc="-111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34" strike="noStrike" u="none">
                <a:solidFill>
                  <a:srgbClr val="173e6c"/>
                </a:solidFill>
                <a:uFillTx/>
                <a:latin typeface="Trebuchet MS"/>
              </a:rPr>
              <a:t>in</a:t>
            </a:r>
            <a:r>
              <a:rPr b="1" lang="en-US" sz="1400" spc="-85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11" strike="noStrike" u="none">
                <a:solidFill>
                  <a:srgbClr val="173e6c"/>
                </a:solidFill>
                <a:uFillTx/>
                <a:latin typeface="Trebuchet MS"/>
              </a:rPr>
              <a:t>source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r>
              <a:rPr b="0" lang="en-US" sz="1100" spc="-45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100" spc="-8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original</a:t>
            </a:r>
            <a:r>
              <a:rPr b="0" lang="en-US" sz="11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deck</a:t>
            </a:r>
            <a:r>
              <a:rPr b="0" lang="en-US" sz="11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includes</a:t>
            </a:r>
            <a:r>
              <a:rPr b="0" lang="en-US" sz="110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a</a:t>
            </a:r>
            <a:r>
              <a:rPr b="0" lang="en-US" sz="1100" spc="-7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shipment-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management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dashboard/CRUD</a:t>
            </a:r>
            <a:r>
              <a:rPr b="0" lang="en-US" sz="1100" spc="-13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visual</a:t>
            </a:r>
            <a:r>
              <a:rPr b="0" lang="en-US" sz="11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and</a:t>
            </a:r>
            <a:r>
              <a:rPr b="0" lang="en-US" sz="11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programmatic</a:t>
            </a:r>
            <a:r>
              <a:rPr b="0" lang="en-US" sz="1100" spc="-13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flow</a:t>
            </a:r>
            <a:r>
              <a:rPr b="0" lang="en-US" sz="11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diagrams</a:t>
            </a:r>
            <a:r>
              <a:rPr b="0" lang="en-US" sz="1100" spc="-1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26" strike="noStrike" u="none">
                <a:solidFill>
                  <a:srgbClr val="1c2837"/>
                </a:solidFill>
                <a:uFillTx/>
                <a:latin typeface="Tahoma"/>
              </a:rPr>
              <a:t>for</a:t>
            </a:r>
            <a:r>
              <a:rPr b="0" lang="en-US" sz="11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26" strike="noStrike" u="none">
                <a:solidFill>
                  <a:srgbClr val="1c2837"/>
                </a:solidFill>
                <a:uFillTx/>
                <a:latin typeface="Tahoma"/>
              </a:rPr>
              <a:t>the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three</a:t>
            </a:r>
            <a:r>
              <a:rPr b="0" lang="en-US" sz="1100" spc="-1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modules.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37" name="object 21"/>
          <p:cNvGrpSpPr/>
          <p:nvPr/>
        </p:nvGrpSpPr>
        <p:grpSpPr>
          <a:xfrm>
            <a:off x="7226640" y="1671840"/>
            <a:ext cx="162720" cy="1360440"/>
            <a:chOff x="7226640" y="1671840"/>
            <a:chExt cx="162720" cy="1360440"/>
          </a:xfrm>
        </p:grpSpPr>
        <p:pic>
          <p:nvPicPr>
            <p:cNvPr id="338" name="object 22" descr=""/>
            <p:cNvPicPr/>
            <p:nvPr/>
          </p:nvPicPr>
          <p:blipFill>
            <a:blip r:embed="rId4"/>
            <a:stretch/>
          </p:blipFill>
          <p:spPr>
            <a:xfrm>
              <a:off x="7226640" y="1671840"/>
              <a:ext cx="162720" cy="1360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9" name="object 23"/>
            <p:cNvSpPr/>
            <p:nvPr/>
          </p:nvSpPr>
          <p:spPr>
            <a:xfrm>
              <a:off x="7269480" y="1691640"/>
              <a:ext cx="82080" cy="12798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279800"/>
                <a:gd name="textAreaBottom" fmla="*/ 1280160 h 1279800"/>
              </a:gdLst>
              <a:ahLst/>
              <a:rect l="textAreaLeft" t="textAreaTop" r="textAreaRight" b="textAreaBottom"/>
              <a:pathLst>
                <a:path w="82550" h="1280160">
                  <a:moveTo>
                    <a:pt x="82296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82296" y="128016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308e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340" name="object 24"/>
          <p:cNvGrpSpPr/>
          <p:nvPr/>
        </p:nvGrpSpPr>
        <p:grpSpPr>
          <a:xfrm>
            <a:off x="7219080" y="3128760"/>
            <a:ext cx="4484880" cy="1374120"/>
            <a:chOff x="7219080" y="3128760"/>
            <a:chExt cx="4484880" cy="1374120"/>
          </a:xfrm>
        </p:grpSpPr>
        <p:pic>
          <p:nvPicPr>
            <p:cNvPr id="341" name="object 25" descr=""/>
            <p:cNvPicPr/>
            <p:nvPr/>
          </p:nvPicPr>
          <p:blipFill>
            <a:blip r:embed="rId5"/>
            <a:stretch/>
          </p:blipFill>
          <p:spPr>
            <a:xfrm>
              <a:off x="7219080" y="3128760"/>
              <a:ext cx="4484880" cy="1374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2" name="object 26"/>
            <p:cNvSpPr/>
            <p:nvPr/>
          </p:nvSpPr>
          <p:spPr>
            <a:xfrm>
              <a:off x="7269480" y="3154680"/>
              <a:ext cx="4388760" cy="1279800"/>
            </a:xfrm>
            <a:custGeom>
              <a:avLst/>
              <a:gdLst>
                <a:gd name="textAreaLeft" fmla="*/ 0 w 4388760"/>
                <a:gd name="textAreaRight" fmla="*/ 4389120 w 4388760"/>
                <a:gd name="textAreaTop" fmla="*/ 0 h 1279800"/>
                <a:gd name="textAreaBottom" fmla="*/ 1280160 h 1279800"/>
              </a:gdLst>
              <a:ahLst/>
              <a:rect l="textAreaLeft" t="textAreaTop" r="textAreaRight" b="textAreaBottom"/>
              <a:pathLst>
                <a:path w="4389120" h="1280160">
                  <a:moveTo>
                    <a:pt x="4175760" y="0"/>
                  </a:moveTo>
                  <a:lnTo>
                    <a:pt x="213360" y="0"/>
                  </a:lnTo>
                  <a:lnTo>
                    <a:pt x="164432" y="5633"/>
                  </a:lnTo>
                  <a:lnTo>
                    <a:pt x="119520" y="21682"/>
                  </a:lnTo>
                  <a:lnTo>
                    <a:pt x="79905" y="46866"/>
                  </a:lnTo>
                  <a:lnTo>
                    <a:pt x="46866" y="79905"/>
                  </a:lnTo>
                  <a:lnTo>
                    <a:pt x="21682" y="119520"/>
                  </a:lnTo>
                  <a:lnTo>
                    <a:pt x="5633" y="164432"/>
                  </a:lnTo>
                  <a:lnTo>
                    <a:pt x="0" y="213360"/>
                  </a:lnTo>
                  <a:lnTo>
                    <a:pt x="0" y="1066800"/>
                  </a:lnTo>
                  <a:lnTo>
                    <a:pt x="5633" y="1115727"/>
                  </a:lnTo>
                  <a:lnTo>
                    <a:pt x="21682" y="1160639"/>
                  </a:lnTo>
                  <a:lnTo>
                    <a:pt x="46866" y="1200254"/>
                  </a:lnTo>
                  <a:lnTo>
                    <a:pt x="79905" y="1233293"/>
                  </a:lnTo>
                  <a:lnTo>
                    <a:pt x="119520" y="1258477"/>
                  </a:lnTo>
                  <a:lnTo>
                    <a:pt x="164432" y="1274526"/>
                  </a:lnTo>
                  <a:lnTo>
                    <a:pt x="213360" y="1280160"/>
                  </a:lnTo>
                  <a:lnTo>
                    <a:pt x="4175760" y="1280160"/>
                  </a:lnTo>
                  <a:lnTo>
                    <a:pt x="4224687" y="1274526"/>
                  </a:lnTo>
                  <a:lnTo>
                    <a:pt x="4269599" y="1258477"/>
                  </a:lnTo>
                  <a:lnTo>
                    <a:pt x="4309214" y="1233293"/>
                  </a:lnTo>
                  <a:lnTo>
                    <a:pt x="4342253" y="1200254"/>
                  </a:lnTo>
                  <a:lnTo>
                    <a:pt x="4367437" y="1160639"/>
                  </a:lnTo>
                  <a:lnTo>
                    <a:pt x="4383486" y="1115727"/>
                  </a:lnTo>
                  <a:lnTo>
                    <a:pt x="4389120" y="1066800"/>
                  </a:lnTo>
                  <a:lnTo>
                    <a:pt x="4389120" y="213360"/>
                  </a:lnTo>
                  <a:lnTo>
                    <a:pt x="4383486" y="164432"/>
                  </a:lnTo>
                  <a:lnTo>
                    <a:pt x="4367437" y="119520"/>
                  </a:lnTo>
                  <a:lnTo>
                    <a:pt x="4342253" y="79905"/>
                  </a:lnTo>
                  <a:lnTo>
                    <a:pt x="4309214" y="46866"/>
                  </a:lnTo>
                  <a:lnTo>
                    <a:pt x="4269599" y="21682"/>
                  </a:lnTo>
                  <a:lnTo>
                    <a:pt x="4224687" y="5633"/>
                  </a:lnTo>
                  <a:lnTo>
                    <a:pt x="417576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3" name="object 27"/>
            <p:cNvSpPr/>
            <p:nvPr/>
          </p:nvSpPr>
          <p:spPr>
            <a:xfrm>
              <a:off x="7269480" y="3154680"/>
              <a:ext cx="4388760" cy="1279800"/>
            </a:xfrm>
            <a:custGeom>
              <a:avLst/>
              <a:gdLst>
                <a:gd name="textAreaLeft" fmla="*/ 0 w 4388760"/>
                <a:gd name="textAreaRight" fmla="*/ 4389120 w 4388760"/>
                <a:gd name="textAreaTop" fmla="*/ 0 h 1279800"/>
                <a:gd name="textAreaBottom" fmla="*/ 1280160 h 1279800"/>
              </a:gdLst>
              <a:ahLst/>
              <a:rect l="textAreaLeft" t="textAreaTop" r="textAreaRight" b="textAreaBottom"/>
              <a:pathLst>
                <a:path w="4389120" h="1280160">
                  <a:moveTo>
                    <a:pt x="0" y="213360"/>
                  </a:moveTo>
                  <a:lnTo>
                    <a:pt x="5633" y="164432"/>
                  </a:lnTo>
                  <a:lnTo>
                    <a:pt x="21682" y="119520"/>
                  </a:lnTo>
                  <a:lnTo>
                    <a:pt x="46866" y="79905"/>
                  </a:lnTo>
                  <a:lnTo>
                    <a:pt x="79905" y="46866"/>
                  </a:lnTo>
                  <a:lnTo>
                    <a:pt x="119520" y="21682"/>
                  </a:lnTo>
                  <a:lnTo>
                    <a:pt x="164432" y="5633"/>
                  </a:lnTo>
                  <a:lnTo>
                    <a:pt x="213360" y="0"/>
                  </a:lnTo>
                  <a:lnTo>
                    <a:pt x="4175760" y="0"/>
                  </a:lnTo>
                  <a:lnTo>
                    <a:pt x="4224687" y="5633"/>
                  </a:lnTo>
                  <a:lnTo>
                    <a:pt x="4269599" y="21682"/>
                  </a:lnTo>
                  <a:lnTo>
                    <a:pt x="4309214" y="46866"/>
                  </a:lnTo>
                  <a:lnTo>
                    <a:pt x="4342253" y="79905"/>
                  </a:lnTo>
                  <a:lnTo>
                    <a:pt x="4367437" y="119520"/>
                  </a:lnTo>
                  <a:lnTo>
                    <a:pt x="4383486" y="164432"/>
                  </a:lnTo>
                  <a:lnTo>
                    <a:pt x="4389120" y="213360"/>
                  </a:lnTo>
                  <a:lnTo>
                    <a:pt x="4389120" y="1066800"/>
                  </a:lnTo>
                  <a:lnTo>
                    <a:pt x="4383486" y="1115727"/>
                  </a:lnTo>
                  <a:lnTo>
                    <a:pt x="4367437" y="1160639"/>
                  </a:lnTo>
                  <a:lnTo>
                    <a:pt x="4342253" y="1200254"/>
                  </a:lnTo>
                  <a:lnTo>
                    <a:pt x="4309214" y="1233293"/>
                  </a:lnTo>
                  <a:lnTo>
                    <a:pt x="4269599" y="1258477"/>
                  </a:lnTo>
                  <a:lnTo>
                    <a:pt x="4224687" y="1274526"/>
                  </a:lnTo>
                  <a:lnTo>
                    <a:pt x="4175760" y="1280160"/>
                  </a:lnTo>
                  <a:lnTo>
                    <a:pt x="213360" y="1280160"/>
                  </a:lnTo>
                  <a:lnTo>
                    <a:pt x="164432" y="1274526"/>
                  </a:lnTo>
                  <a:lnTo>
                    <a:pt x="119520" y="1258477"/>
                  </a:lnTo>
                  <a:lnTo>
                    <a:pt x="79905" y="1233293"/>
                  </a:lnTo>
                  <a:lnTo>
                    <a:pt x="46866" y="1200254"/>
                  </a:lnTo>
                  <a:lnTo>
                    <a:pt x="21682" y="1160639"/>
                  </a:lnTo>
                  <a:lnTo>
                    <a:pt x="5633" y="1115727"/>
                  </a:lnTo>
                  <a:lnTo>
                    <a:pt x="0" y="1066800"/>
                  </a:lnTo>
                  <a:lnTo>
                    <a:pt x="0" y="213360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44" name="object 28"/>
          <p:cNvSpPr/>
          <p:nvPr/>
        </p:nvSpPr>
        <p:spPr>
          <a:xfrm>
            <a:off x="7521480" y="3513240"/>
            <a:ext cx="372024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222120" algn="ctr">
              <a:lnSpc>
                <a:spcPct val="100000"/>
              </a:lnSpc>
              <a:spcBef>
                <a:spcPts val="105"/>
              </a:spcBef>
            </a:pPr>
            <a:r>
              <a:rPr b="1" lang="en-US" sz="1400" strike="noStrike" u="none">
                <a:solidFill>
                  <a:srgbClr val="173e6c"/>
                </a:solidFill>
                <a:uFillTx/>
                <a:latin typeface="Trebuchet MS"/>
              </a:rPr>
              <a:t>Demo</a:t>
            </a:r>
            <a:r>
              <a:rPr b="1" lang="en-US" sz="1400" spc="-51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11" strike="noStrike" u="none">
                <a:solidFill>
                  <a:srgbClr val="173e6c"/>
                </a:solidFill>
                <a:uFillTx/>
                <a:latin typeface="Trebuchet MS"/>
              </a:rPr>
              <a:t>sequence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</a:pP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Login</a:t>
            </a:r>
            <a:r>
              <a:rPr b="0" lang="en-US" sz="1100" spc="-10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439" strike="noStrike" u="none">
                <a:solidFill>
                  <a:srgbClr val="1c2837"/>
                </a:solidFill>
                <a:uFillTx/>
                <a:latin typeface="Tahoma"/>
              </a:rPr>
              <a:t>→</a:t>
            </a:r>
            <a:r>
              <a:rPr b="0" lang="en-US" sz="11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role</a:t>
            </a:r>
            <a:r>
              <a:rPr b="0" lang="en-US" sz="1100" spc="-1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validation</a:t>
            </a:r>
            <a:r>
              <a:rPr b="0" lang="en-US" sz="1100" spc="-12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439" strike="noStrike" u="none">
                <a:solidFill>
                  <a:srgbClr val="1c2837"/>
                </a:solidFill>
                <a:uFillTx/>
                <a:latin typeface="Tahoma"/>
              </a:rPr>
              <a:t>→</a:t>
            </a:r>
            <a:r>
              <a:rPr b="0" lang="en-US" sz="11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shipment</a:t>
            </a:r>
            <a:r>
              <a:rPr b="0" lang="en-US" sz="1100" spc="-1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CRUD</a:t>
            </a:r>
            <a:r>
              <a:rPr b="0" lang="en-US" sz="1100" spc="-11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439" strike="noStrike" u="none">
                <a:solidFill>
                  <a:srgbClr val="1c2837"/>
                </a:solidFill>
                <a:uFillTx/>
                <a:latin typeface="Tahoma"/>
              </a:rPr>
              <a:t>→</a:t>
            </a:r>
            <a:r>
              <a:rPr b="0" lang="en-US" sz="1100" spc="-9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persist</a:t>
            </a:r>
            <a:r>
              <a:rPr b="0" lang="en-US" sz="1100" spc="-13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data</a:t>
            </a:r>
            <a:r>
              <a:rPr b="0" lang="en-US" sz="1100" spc="-113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439" strike="noStrike" u="none">
                <a:solidFill>
                  <a:srgbClr val="1c2837"/>
                </a:solidFill>
                <a:uFillTx/>
                <a:latin typeface="Tahoma"/>
              </a:rPr>
              <a:t>→</a:t>
            </a:r>
            <a:r>
              <a:rPr b="0" lang="en-US" sz="1100" spc="-9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20" strike="noStrike" u="none">
                <a:solidFill>
                  <a:srgbClr val="1c2837"/>
                </a:solidFill>
                <a:uFillTx/>
                <a:latin typeface="Tahoma"/>
              </a:rPr>
              <a:t>load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route/emission</a:t>
            </a:r>
            <a:r>
              <a:rPr b="0" lang="en-US" sz="1100" spc="-113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data</a:t>
            </a:r>
            <a:r>
              <a:rPr b="0" lang="en-US" sz="1100" spc="-11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439" strike="noStrike" u="none">
                <a:solidFill>
                  <a:srgbClr val="1c2837"/>
                </a:solidFill>
                <a:uFillTx/>
                <a:latin typeface="Tahoma"/>
              </a:rPr>
              <a:t>→</a:t>
            </a:r>
            <a:r>
              <a:rPr b="0" lang="en-US" sz="11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optimize</a:t>
            </a:r>
            <a:r>
              <a:rPr b="0" lang="en-US" sz="1100" spc="-12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439" strike="noStrike" u="none">
                <a:solidFill>
                  <a:srgbClr val="1c2837"/>
                </a:solidFill>
                <a:uFillTx/>
                <a:latin typeface="Tahoma"/>
              </a:rPr>
              <a:t>→</a:t>
            </a:r>
            <a:r>
              <a:rPr b="0" lang="en-US" sz="1100" spc="-9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trike="noStrike" u="none">
                <a:solidFill>
                  <a:srgbClr val="1c2837"/>
                </a:solidFill>
                <a:uFillTx/>
                <a:latin typeface="Tahoma"/>
              </a:rPr>
              <a:t>display</a:t>
            </a:r>
            <a:r>
              <a:rPr b="0" lang="en-US" sz="1100" spc="-13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31" strike="noStrike" u="none">
                <a:solidFill>
                  <a:srgbClr val="1c2837"/>
                </a:solidFill>
                <a:uFillTx/>
                <a:latin typeface="Tahoma"/>
              </a:rPr>
              <a:t>green-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route</a:t>
            </a:r>
            <a:r>
              <a:rPr b="0" lang="en-US" sz="1100" spc="-139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100" spc="-11" strike="noStrike" u="none">
                <a:solidFill>
                  <a:srgbClr val="1c2837"/>
                </a:solidFill>
                <a:uFillTx/>
                <a:latin typeface="Tahoma"/>
              </a:rPr>
              <a:t>result.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45" name="object 29"/>
          <p:cNvGrpSpPr/>
          <p:nvPr/>
        </p:nvGrpSpPr>
        <p:grpSpPr>
          <a:xfrm>
            <a:off x="7226640" y="3134880"/>
            <a:ext cx="162720" cy="1360440"/>
            <a:chOff x="7226640" y="3134880"/>
            <a:chExt cx="162720" cy="1360440"/>
          </a:xfrm>
        </p:grpSpPr>
        <p:pic>
          <p:nvPicPr>
            <p:cNvPr id="346" name="object 30" descr=""/>
            <p:cNvPicPr/>
            <p:nvPr/>
          </p:nvPicPr>
          <p:blipFill>
            <a:blip r:embed="rId6"/>
            <a:stretch/>
          </p:blipFill>
          <p:spPr>
            <a:xfrm>
              <a:off x="7226640" y="3134880"/>
              <a:ext cx="162720" cy="1360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7" name="object 31"/>
            <p:cNvSpPr/>
            <p:nvPr/>
          </p:nvSpPr>
          <p:spPr>
            <a:xfrm>
              <a:off x="7269480" y="3154680"/>
              <a:ext cx="82080" cy="12798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279800"/>
                <a:gd name="textAreaBottom" fmla="*/ 1280160 h 1279800"/>
              </a:gdLst>
              <a:ahLst/>
              <a:rect l="textAreaLeft" t="textAreaTop" r="textAreaRight" b="textAreaBottom"/>
              <a:pathLst>
                <a:path w="82550" h="1280160">
                  <a:moveTo>
                    <a:pt x="82296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82296" y="128016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2c5c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348" name="object 32"/>
          <p:cNvGrpSpPr/>
          <p:nvPr/>
        </p:nvGrpSpPr>
        <p:grpSpPr>
          <a:xfrm>
            <a:off x="7219080" y="4591800"/>
            <a:ext cx="4484880" cy="1419840"/>
            <a:chOff x="7219080" y="4591800"/>
            <a:chExt cx="4484880" cy="1419840"/>
          </a:xfrm>
        </p:grpSpPr>
        <p:pic>
          <p:nvPicPr>
            <p:cNvPr id="349" name="object 33" descr=""/>
            <p:cNvPicPr/>
            <p:nvPr/>
          </p:nvPicPr>
          <p:blipFill>
            <a:blip r:embed="rId7"/>
            <a:stretch/>
          </p:blipFill>
          <p:spPr>
            <a:xfrm>
              <a:off x="7219080" y="4591800"/>
              <a:ext cx="4484880" cy="1419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0" name="object 34"/>
            <p:cNvSpPr/>
            <p:nvPr/>
          </p:nvSpPr>
          <p:spPr>
            <a:xfrm>
              <a:off x="7269480" y="4617720"/>
              <a:ext cx="4388760" cy="1325520"/>
            </a:xfrm>
            <a:custGeom>
              <a:avLst/>
              <a:gdLst>
                <a:gd name="textAreaLeft" fmla="*/ 0 w 4388760"/>
                <a:gd name="textAreaRight" fmla="*/ 4389120 w 4388760"/>
                <a:gd name="textAreaTop" fmla="*/ 0 h 1325520"/>
                <a:gd name="textAreaBottom" fmla="*/ 1325880 h 1325520"/>
              </a:gdLst>
              <a:ahLst/>
              <a:rect l="textAreaLeft" t="textAreaTop" r="textAreaRight" b="textAreaBottom"/>
              <a:pathLst>
                <a:path w="4389120" h="1325879">
                  <a:moveTo>
                    <a:pt x="4168140" y="0"/>
                  </a:moveTo>
                  <a:lnTo>
                    <a:pt x="220979" y="0"/>
                  </a:lnTo>
                  <a:lnTo>
                    <a:pt x="176443" y="4489"/>
                  </a:lnTo>
                  <a:lnTo>
                    <a:pt x="134963" y="17365"/>
                  </a:lnTo>
                  <a:lnTo>
                    <a:pt x="97426" y="37739"/>
                  </a:lnTo>
                  <a:lnTo>
                    <a:pt x="64722" y="64722"/>
                  </a:lnTo>
                  <a:lnTo>
                    <a:pt x="37739" y="97426"/>
                  </a:lnTo>
                  <a:lnTo>
                    <a:pt x="17365" y="134963"/>
                  </a:lnTo>
                  <a:lnTo>
                    <a:pt x="4489" y="176443"/>
                  </a:lnTo>
                  <a:lnTo>
                    <a:pt x="0" y="220979"/>
                  </a:lnTo>
                  <a:lnTo>
                    <a:pt x="0" y="1104899"/>
                  </a:lnTo>
                  <a:lnTo>
                    <a:pt x="4489" y="1149436"/>
                  </a:lnTo>
                  <a:lnTo>
                    <a:pt x="17365" y="1190916"/>
                  </a:lnTo>
                  <a:lnTo>
                    <a:pt x="37739" y="1228453"/>
                  </a:lnTo>
                  <a:lnTo>
                    <a:pt x="64722" y="1261157"/>
                  </a:lnTo>
                  <a:lnTo>
                    <a:pt x="97426" y="1288140"/>
                  </a:lnTo>
                  <a:lnTo>
                    <a:pt x="134963" y="1308514"/>
                  </a:lnTo>
                  <a:lnTo>
                    <a:pt x="176443" y="1321390"/>
                  </a:lnTo>
                  <a:lnTo>
                    <a:pt x="220979" y="1325879"/>
                  </a:lnTo>
                  <a:lnTo>
                    <a:pt x="4168140" y="1325879"/>
                  </a:lnTo>
                  <a:lnTo>
                    <a:pt x="4212676" y="1321390"/>
                  </a:lnTo>
                  <a:lnTo>
                    <a:pt x="4254156" y="1308514"/>
                  </a:lnTo>
                  <a:lnTo>
                    <a:pt x="4291693" y="1288140"/>
                  </a:lnTo>
                  <a:lnTo>
                    <a:pt x="4324397" y="1261157"/>
                  </a:lnTo>
                  <a:lnTo>
                    <a:pt x="4351380" y="1228453"/>
                  </a:lnTo>
                  <a:lnTo>
                    <a:pt x="4371754" y="1190916"/>
                  </a:lnTo>
                  <a:lnTo>
                    <a:pt x="4384630" y="1149436"/>
                  </a:lnTo>
                  <a:lnTo>
                    <a:pt x="4389120" y="1104899"/>
                  </a:lnTo>
                  <a:lnTo>
                    <a:pt x="4389120" y="220979"/>
                  </a:lnTo>
                  <a:lnTo>
                    <a:pt x="4384630" y="176443"/>
                  </a:lnTo>
                  <a:lnTo>
                    <a:pt x="4371754" y="134963"/>
                  </a:lnTo>
                  <a:lnTo>
                    <a:pt x="4351380" y="97426"/>
                  </a:lnTo>
                  <a:lnTo>
                    <a:pt x="4324397" y="64722"/>
                  </a:lnTo>
                  <a:lnTo>
                    <a:pt x="4291693" y="37739"/>
                  </a:lnTo>
                  <a:lnTo>
                    <a:pt x="4254156" y="17365"/>
                  </a:lnTo>
                  <a:lnTo>
                    <a:pt x="4212676" y="4489"/>
                  </a:lnTo>
                  <a:lnTo>
                    <a:pt x="4168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51" name="object 35"/>
            <p:cNvSpPr/>
            <p:nvPr/>
          </p:nvSpPr>
          <p:spPr>
            <a:xfrm>
              <a:off x="7269480" y="4617720"/>
              <a:ext cx="4388760" cy="1325520"/>
            </a:xfrm>
            <a:custGeom>
              <a:avLst/>
              <a:gdLst>
                <a:gd name="textAreaLeft" fmla="*/ 0 w 4388760"/>
                <a:gd name="textAreaRight" fmla="*/ 4389120 w 4388760"/>
                <a:gd name="textAreaTop" fmla="*/ 0 h 1325520"/>
                <a:gd name="textAreaBottom" fmla="*/ 1325880 h 1325520"/>
              </a:gdLst>
              <a:ahLst/>
              <a:rect l="textAreaLeft" t="textAreaTop" r="textAreaRight" b="textAreaBottom"/>
              <a:pathLst>
                <a:path w="4389120" h="1325879">
                  <a:moveTo>
                    <a:pt x="0" y="220979"/>
                  </a:moveTo>
                  <a:lnTo>
                    <a:pt x="4489" y="176443"/>
                  </a:lnTo>
                  <a:lnTo>
                    <a:pt x="17365" y="134963"/>
                  </a:lnTo>
                  <a:lnTo>
                    <a:pt x="37739" y="97426"/>
                  </a:lnTo>
                  <a:lnTo>
                    <a:pt x="64722" y="64722"/>
                  </a:lnTo>
                  <a:lnTo>
                    <a:pt x="97426" y="37739"/>
                  </a:lnTo>
                  <a:lnTo>
                    <a:pt x="134963" y="17365"/>
                  </a:lnTo>
                  <a:lnTo>
                    <a:pt x="176443" y="4489"/>
                  </a:lnTo>
                  <a:lnTo>
                    <a:pt x="220979" y="0"/>
                  </a:lnTo>
                  <a:lnTo>
                    <a:pt x="4168140" y="0"/>
                  </a:lnTo>
                  <a:lnTo>
                    <a:pt x="4212676" y="4489"/>
                  </a:lnTo>
                  <a:lnTo>
                    <a:pt x="4254156" y="17365"/>
                  </a:lnTo>
                  <a:lnTo>
                    <a:pt x="4291693" y="37739"/>
                  </a:lnTo>
                  <a:lnTo>
                    <a:pt x="4324397" y="64722"/>
                  </a:lnTo>
                  <a:lnTo>
                    <a:pt x="4351380" y="97426"/>
                  </a:lnTo>
                  <a:lnTo>
                    <a:pt x="4371754" y="134963"/>
                  </a:lnTo>
                  <a:lnTo>
                    <a:pt x="4384630" y="176443"/>
                  </a:lnTo>
                  <a:lnTo>
                    <a:pt x="4389120" y="220979"/>
                  </a:lnTo>
                  <a:lnTo>
                    <a:pt x="4389120" y="1104899"/>
                  </a:lnTo>
                  <a:lnTo>
                    <a:pt x="4384630" y="1149436"/>
                  </a:lnTo>
                  <a:lnTo>
                    <a:pt x="4371754" y="1190916"/>
                  </a:lnTo>
                  <a:lnTo>
                    <a:pt x="4351380" y="1228453"/>
                  </a:lnTo>
                  <a:lnTo>
                    <a:pt x="4324397" y="1261157"/>
                  </a:lnTo>
                  <a:lnTo>
                    <a:pt x="4291693" y="1288140"/>
                  </a:lnTo>
                  <a:lnTo>
                    <a:pt x="4254156" y="1308514"/>
                  </a:lnTo>
                  <a:lnTo>
                    <a:pt x="4212676" y="1321390"/>
                  </a:lnTo>
                  <a:lnTo>
                    <a:pt x="4168140" y="1325879"/>
                  </a:lnTo>
                  <a:lnTo>
                    <a:pt x="220979" y="1325879"/>
                  </a:lnTo>
                  <a:lnTo>
                    <a:pt x="176443" y="1321390"/>
                  </a:lnTo>
                  <a:lnTo>
                    <a:pt x="134963" y="1308514"/>
                  </a:lnTo>
                  <a:lnTo>
                    <a:pt x="97426" y="1288140"/>
                  </a:lnTo>
                  <a:lnTo>
                    <a:pt x="64722" y="1261157"/>
                  </a:lnTo>
                  <a:lnTo>
                    <a:pt x="37739" y="1228453"/>
                  </a:lnTo>
                  <a:lnTo>
                    <a:pt x="17365" y="1190916"/>
                  </a:lnTo>
                  <a:lnTo>
                    <a:pt x="4489" y="1149436"/>
                  </a:lnTo>
                  <a:lnTo>
                    <a:pt x="0" y="1104899"/>
                  </a:lnTo>
                  <a:lnTo>
                    <a:pt x="0" y="220979"/>
                  </a:lnTo>
                  <a:close/>
                </a:path>
              </a:pathLst>
            </a:custGeom>
            <a:noFill/>
            <a:ln w="13970">
              <a:solidFill>
                <a:srgbClr val="c3d2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52" name="object 36"/>
          <p:cNvSpPr/>
          <p:nvPr/>
        </p:nvSpPr>
        <p:spPr>
          <a:xfrm>
            <a:off x="7523640" y="4920120"/>
            <a:ext cx="3498480" cy="7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18440">
              <a:lnSpc>
                <a:spcPct val="100000"/>
              </a:lnSpc>
              <a:spcBef>
                <a:spcPts val="99"/>
              </a:spcBef>
            </a:pPr>
            <a:r>
              <a:rPr b="1" lang="en-US" sz="1400" spc="-20" strike="noStrike" u="none">
                <a:solidFill>
                  <a:srgbClr val="173e6c"/>
                </a:solidFill>
                <a:uFillTx/>
                <a:latin typeface="Trebuchet MS"/>
              </a:rPr>
              <a:t>Important</a:t>
            </a:r>
            <a:r>
              <a:rPr b="1" lang="en-US" sz="1400" spc="-96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20" strike="noStrike" u="none">
                <a:solidFill>
                  <a:srgbClr val="173e6c"/>
                </a:solidFill>
                <a:uFillTx/>
                <a:latin typeface="Trebuchet MS"/>
              </a:rPr>
              <a:t>honesty</a:t>
            </a:r>
            <a:r>
              <a:rPr b="1" lang="en-US" sz="1400" spc="-91" strike="noStrike" u="none">
                <a:solidFill>
                  <a:srgbClr val="173e6c"/>
                </a:solidFill>
                <a:uFillTx/>
                <a:latin typeface="Trebuchet MS"/>
              </a:rPr>
              <a:t> </a:t>
            </a:r>
            <a:r>
              <a:rPr b="1" lang="en-US" sz="1400" spc="-20" strike="noStrike" u="none">
                <a:solidFill>
                  <a:srgbClr val="173e6c"/>
                </a:solidFill>
                <a:uFillTx/>
                <a:latin typeface="Trebuchet MS"/>
              </a:rPr>
              <a:t>note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14"/>
              </a:spcBef>
            </a:pPr>
            <a:r>
              <a:rPr b="0" lang="en-US" sz="1050" spc="-11" strike="noStrike" u="none">
                <a:solidFill>
                  <a:srgbClr val="1c2837"/>
                </a:solidFill>
                <a:uFillTx/>
                <a:latin typeface="Tahoma"/>
              </a:rPr>
              <a:t>This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slide describes</a:t>
            </a:r>
            <a:r>
              <a:rPr b="0" lang="en-US" sz="1050" spc="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a</a:t>
            </a:r>
            <a:r>
              <a:rPr b="0" lang="en-US" sz="1050" spc="-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demonstrable</a:t>
            </a:r>
            <a:r>
              <a:rPr b="0" lang="en-US" sz="1050" spc="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prototype</a:t>
            </a:r>
            <a:r>
              <a:rPr b="0" lang="en-US" sz="1050" spc="-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flow.</a:t>
            </a:r>
            <a:r>
              <a:rPr b="0" lang="en-US" sz="1050" spc="-1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Do</a:t>
            </a:r>
            <a:r>
              <a:rPr b="0" lang="en-US" sz="105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-26" strike="noStrike" u="none">
                <a:solidFill>
                  <a:srgbClr val="1c2837"/>
                </a:solidFill>
                <a:uFillTx/>
                <a:latin typeface="Tahoma"/>
              </a:rPr>
              <a:t>not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present</a:t>
            </a:r>
            <a:r>
              <a:rPr b="0" lang="en-US" sz="1050" spc="-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050" spc="-45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mock</a:t>
            </a:r>
            <a:r>
              <a:rPr b="0" lang="en-US" sz="105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console</a:t>
            </a:r>
            <a:r>
              <a:rPr b="0" lang="en-US" sz="1050" spc="-6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as</a:t>
            </a:r>
            <a:r>
              <a:rPr b="0" lang="en-US" sz="105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a</a:t>
            </a:r>
            <a:r>
              <a:rPr b="0" lang="en-US" sz="1050" spc="-6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screenshot</a:t>
            </a:r>
            <a:r>
              <a:rPr b="0" lang="en-US" sz="1050" spc="-2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of</a:t>
            </a:r>
            <a:r>
              <a:rPr b="0" lang="en-US" sz="1050" spc="-7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11" strike="noStrike" u="none">
                <a:solidFill>
                  <a:srgbClr val="1c2837"/>
                </a:solidFill>
                <a:uFillTx/>
                <a:latin typeface="Tahoma"/>
              </a:rPr>
              <a:t>a</a:t>
            </a:r>
            <a:r>
              <a:rPr b="0" lang="en-US" sz="1050" spc="-5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-11" strike="noStrike" u="none">
                <a:solidFill>
                  <a:srgbClr val="1c2837"/>
                </a:solidFill>
                <a:uFillTx/>
                <a:latin typeface="Tahoma"/>
              </a:rPr>
              <a:t>finished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executable unless</a:t>
            </a:r>
            <a:r>
              <a:rPr b="0" lang="en-US" sz="105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the</a:t>
            </a:r>
            <a:r>
              <a:rPr b="0" lang="en-US" sz="1050" spc="-14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team</a:t>
            </a:r>
            <a:r>
              <a:rPr b="0" lang="en-US" sz="1050" spc="-6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has</a:t>
            </a:r>
            <a:r>
              <a:rPr b="0" lang="en-US" sz="1050" spc="-31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trike="noStrike" u="none">
                <a:solidFill>
                  <a:srgbClr val="1c2837"/>
                </a:solidFill>
                <a:uFillTx/>
                <a:latin typeface="Tahoma"/>
              </a:rPr>
              <a:t>that</a:t>
            </a:r>
            <a:r>
              <a:rPr b="0" lang="en-US" sz="1050" spc="-20" strike="noStrike" u="none">
                <a:solidFill>
                  <a:srgbClr val="1c2837"/>
                </a:solidFill>
                <a:uFillTx/>
                <a:latin typeface="Tahoma"/>
              </a:rPr>
              <a:t> </a:t>
            </a:r>
            <a:r>
              <a:rPr b="0" lang="en-US" sz="1050" spc="-11" strike="noStrike" u="none">
                <a:solidFill>
                  <a:srgbClr val="1c2837"/>
                </a:solidFill>
                <a:uFillTx/>
                <a:latin typeface="Tahoma"/>
              </a:rPr>
              <a:t>evidence.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53" name="object 37"/>
          <p:cNvGrpSpPr/>
          <p:nvPr/>
        </p:nvGrpSpPr>
        <p:grpSpPr>
          <a:xfrm>
            <a:off x="7226640" y="4597920"/>
            <a:ext cx="162720" cy="1406160"/>
            <a:chOff x="7226640" y="4597920"/>
            <a:chExt cx="162720" cy="1406160"/>
          </a:xfrm>
        </p:grpSpPr>
        <p:pic>
          <p:nvPicPr>
            <p:cNvPr id="354" name="object 38" descr=""/>
            <p:cNvPicPr/>
            <p:nvPr/>
          </p:nvPicPr>
          <p:blipFill>
            <a:blip r:embed="rId8"/>
            <a:stretch/>
          </p:blipFill>
          <p:spPr>
            <a:xfrm>
              <a:off x="7226640" y="4597920"/>
              <a:ext cx="162720" cy="1406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5" name="object 39"/>
            <p:cNvSpPr/>
            <p:nvPr/>
          </p:nvSpPr>
          <p:spPr>
            <a:xfrm>
              <a:off x="7269480" y="4617720"/>
              <a:ext cx="82080" cy="13255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325520"/>
                <a:gd name="textAreaBottom" fmla="*/ 1325880 h 1325520"/>
              </a:gdLst>
              <a:ahLst/>
              <a:rect l="textAreaLeft" t="textAreaTop" r="textAreaRight" b="textAreaBottom"/>
              <a:pathLst>
                <a:path w="82550" h="1325879">
                  <a:moveTo>
                    <a:pt x="82296" y="0"/>
                  </a:moveTo>
                  <a:lnTo>
                    <a:pt x="0" y="0"/>
                  </a:lnTo>
                  <a:lnTo>
                    <a:pt x="0" y="1325879"/>
                  </a:lnTo>
                  <a:lnTo>
                    <a:pt x="82296" y="132587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aa6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56" name="object 40"/>
          <p:cNvGrpSpPr/>
          <p:nvPr/>
        </p:nvGrpSpPr>
        <p:grpSpPr>
          <a:xfrm>
            <a:off x="368640" y="6454080"/>
            <a:ext cx="11418840" cy="98640"/>
            <a:chOff x="368640" y="6454080"/>
            <a:chExt cx="11418840" cy="98640"/>
          </a:xfrm>
        </p:grpSpPr>
        <p:pic>
          <p:nvPicPr>
            <p:cNvPr id="357" name="object 41" descr=""/>
            <p:cNvPicPr/>
            <p:nvPr/>
          </p:nvPicPr>
          <p:blipFill>
            <a:blip r:embed="rId9"/>
            <a:stretch/>
          </p:blipFill>
          <p:spPr>
            <a:xfrm>
              <a:off x="368640" y="6454080"/>
              <a:ext cx="11418840" cy="98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8" name="object 42"/>
            <p:cNvSpPr/>
            <p:nvPr/>
          </p:nvSpPr>
          <p:spPr>
            <a:xfrm>
              <a:off x="411480" y="6473880"/>
              <a:ext cx="11338200" cy="18000"/>
            </a:xfrm>
            <a:custGeom>
              <a:avLst/>
              <a:gdLst>
                <a:gd name="textAreaLeft" fmla="*/ 0 w 11338200"/>
                <a:gd name="textAreaRight" fmla="*/ 11338560 w 11338200"/>
                <a:gd name="textAreaTop" fmla="*/ 0 h 18000"/>
                <a:gd name="textAreaBottom" fmla="*/ 18360 h 18000"/>
              </a:gdLst>
              <a:ahLst/>
              <a:rect l="textAreaLeft" t="textAreaTop" r="textAreaRight" b="textAreaBottom"/>
              <a:pathLst>
                <a:path w="11338560" h="18414">
                  <a:moveTo>
                    <a:pt x="1133856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1338560" y="18288"/>
                  </a:lnTo>
                  <a:lnTo>
                    <a:pt x="11338560" y="0"/>
                  </a:lnTo>
                  <a:close/>
                </a:path>
              </a:pathLst>
            </a:custGeom>
            <a:solidFill>
              <a:srgbClr val="c3d2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object 2" descr=""/>
          <p:cNvPicPr/>
          <p:nvPr/>
        </p:nvPicPr>
        <p:blipFill>
          <a:blip r:embed="rId1"/>
          <a:stretch/>
        </p:blipFill>
        <p:spPr>
          <a:xfrm>
            <a:off x="571680" y="178560"/>
            <a:ext cx="11239200" cy="620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2"/>
          <p:cNvSpPr/>
          <p:nvPr/>
        </p:nvSpPr>
        <p:spPr>
          <a:xfrm>
            <a:off x="0" y="2133720"/>
            <a:ext cx="12344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https://github.com/VirendarSingh-07/C--Capstone-project-LOGISTICS-CARBON-FOOTPRINT-TRACKING-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TextBox 4"/>
          <p:cNvSpPr/>
          <p:nvPr/>
        </p:nvSpPr>
        <p:spPr>
          <a:xfrm>
            <a:off x="-1828800" y="609480"/>
            <a:ext cx="163065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4800" strike="noStrike" u="none">
                <a:solidFill>
                  <a:schemeClr val="dk2">
                    <a:lumMod val="75000"/>
                  </a:schemeClr>
                </a:solidFill>
                <a:uFillTx/>
                <a:latin typeface="Arial"/>
              </a:rPr>
              <a:t>GITHUB REPOSITORY</a:t>
            </a:r>
            <a:r>
              <a:rPr b="0" lang="en-IN" sz="48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1" lang="en-IN" sz="4800" strike="noStrike" u="none">
                <a:solidFill>
                  <a:schemeClr val="dk2">
                    <a:lumMod val="75000"/>
                  </a:schemeClr>
                </a:solidFill>
                <a:uFillTx/>
                <a:latin typeface="Arial"/>
              </a:rPr>
              <a:t>LINK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object 2" descr=""/>
          <p:cNvPicPr/>
          <p:nvPr/>
        </p:nvPicPr>
        <p:blipFill>
          <a:blip r:embed="rId1"/>
          <a:stretch/>
        </p:blipFill>
        <p:spPr>
          <a:xfrm>
            <a:off x="514800" y="0"/>
            <a:ext cx="11535120" cy="650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Application>LibreOfficeDev/24.8.7.2.0$Android_AARCH64 LibreOffice_project/</Application>
  <AppVersion>15.0000</AppVersion>
  <Words>1203</Words>
  <Paragraphs>274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2026-08-26T12:26:28Z</dcterms:created>
  <dc:creator>SIMATS Engineering student team</dc:creator>
  <dc:description/>
  <dc:language>en-US</dc:language>
  <cp:lastModifiedBy/>
  <dcterms:modified xsi:type="dcterms:W3CDTF">2026-09-03T22:55:30Z</dcterms:modified>
  <cp:revision>10</cp:revision>
  <dc:subject>C++17 OOP capstone with rubric-aligned additions</dc:subject>
  <dc:title>Logistics and Supply Chain Carbon Footprint Tracking System — Corrected Capstone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2026-08-13T00:00:00Z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2026-08-26T00:00:00Z</vt:filetime>
  </property>
  <property fmtid="{D5CDD505-2E9C-101B-9397-08002B2CF9AE}" pid="6" name="PresentationFormat">
    <vt:lpwstr>Widescreen</vt:lpwstr>
  </property>
  <property fmtid="{D5CDD505-2E9C-101B-9397-08002B2CF9AE}" pid="7" name="Producer">
    <vt:lpwstr>Microsoft® PowerPoint® 2019</vt:lpwstr>
  </property>
  <property fmtid="{D5CDD505-2E9C-101B-9397-08002B2CF9AE}" pid="8" name="Slides">
    <vt:i4>29</vt:i4>
  </property>
</Properties>
</file>